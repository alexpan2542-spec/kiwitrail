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Greet the audience and introduce the team. Say: 'Hi everyone, we are Team [name] and today we will introduce Kiwi Trail — a web application that helps people plan outdoor activities in New Zealand.' Briefly mention each presenter and the section they will cover.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Explain that New Zealand has rich outdoor data, but it is spread across DOC, LINZ, NIWA, and council websites. Give an example: 'Imagine you want to go hiking this weekend — you might need 4 or 5 tabs to figure out which track, where it is, how hard it is, and what the weather will be.' This motivates building Kiwi Trail.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State the goal in one sentence: 'Make outdoor planning easier by combining NZ datasets into one web app.' Highlight three user groups — locals, visitors, and casual campers — and how each benefits.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Walk the audience through the two halves of the app: 'Discover' (how users find places) and 'Plan' (what they do once they've picked one). Emphasise that the 15 km nearby search and fuzzy search make discovery very fast.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Explain the three-tier architecture briefly. React talks to FastAPI, FastAPI talks to PostgreSQL, and we imported DOC, LINZ, regional, and NIWA data into the database. Mention why we chose this stack (fast, light, easy to deploy).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Walk the audience through the headline features at a high level — don't list every single one. Group them: 'discovery features' (search / filter / nearby), 'detail features' (page / weather / map link), and 'user features' (comments / favourites). Tell the audience they'll see these in action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Explain how the project is divided across the three layers. Mention what each team member worked on if relevant. Briefly call out the data pipeline at the bottom: collect → clean → import → expose → display.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[~45–60 sec] Open the demo with the home page. Walk through the search panel: pick a region (e.g. Waikato), choose difficulty, tick the item types you want, and optionally type a rough place name in fuzzy search. Point out that the map highlights the selected region's boundary so the user immediately sees the area they will explore.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[~60–75 sec] Pick a track on the map (e.g. Karioi Track or North-South Track). Show the detail panel: photo, description, difficulty, duration, type, and the 'View Official Details' link. Then open the 3D elevation view to show distance-vs-elevation. Finish by demonstrating the four action buttons: Directions (Google Maps), Weather (NIWA), Comments, and Favourites.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Don't read every card. Pick the most interesting one or two and tell a short story — e.g. 'integrating data from DOC and LINZ was tricky because formats and coordinate systems differed; we wrote import scripts that normalise everything before inserting into PostgreSQL.'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Summarise the project in 2–3 sentences. Mention 1–2 future directions that excite you. End with a warm 'thank you' and invite questions from the audience.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[Remaining time / discussion] Open the floor for questions. Be ready to answer about: tech stack choices, data sources, how nearby search works, scalability, and future plans. If you don't know an answer, say so honestly and offer to follow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4572000" cy="457200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114800"/>
            <a:ext cx="5486400" cy="5486400"/>
          </a:xfrm>
          <a:prstGeom prst="ellipse">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0" y="-914400"/>
            <a:ext cx="2286000" cy="2286000"/>
          </a:xfrm>
          <a:prstGeom prst="ellipse">
            <a:avLst/>
          </a:prstGeom>
          <a:solidFill>
            <a:srgbClr val="E6A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10058400" cy="365760"/>
          </a:xfrm>
          <a:prstGeom prst="rect">
            <a:avLst/>
          </a:prstGeom>
          <a:noFill/>
        </p:spPr>
        <p:txBody>
          <a:bodyPr wrap="none">
            <a:spAutoFit/>
          </a:bodyPr>
          <a:lstStyle/>
          <a:p>
            <a:r>
              <a:rPr sz="1800" b="1">
                <a:solidFill>
                  <a:srgbClr val="E6A817"/>
                </a:solidFill>
              </a:rPr>
              <a:t>570 Programming Project</a:t>
            </a:r>
          </a:p>
        </p:txBody>
      </p:sp>
      <p:sp>
        <p:nvSpPr>
          <p:cNvPr id="7" name="TextBox 6"/>
          <p:cNvSpPr txBox="1"/>
          <p:nvPr/>
        </p:nvSpPr>
        <p:spPr>
          <a:xfrm>
            <a:off x="731520" y="1645920"/>
            <a:ext cx="10698480" cy="1645920"/>
          </a:xfrm>
          <a:prstGeom prst="rect">
            <a:avLst/>
          </a:prstGeom>
          <a:noFill/>
        </p:spPr>
        <p:txBody>
          <a:bodyPr wrap="square">
            <a:spAutoFit/>
          </a:bodyPr>
          <a:lstStyle/>
          <a:p>
            <a:r>
              <a:rPr sz="9000" b="1">
                <a:solidFill>
                  <a:srgbClr val="FAFAFA"/>
                </a:solidFill>
              </a:rPr>
              <a:t>Kiwi Trail</a:t>
            </a:r>
          </a:p>
        </p:txBody>
      </p:sp>
      <p:sp>
        <p:nvSpPr>
          <p:cNvPr id="8" name="TextBox 7"/>
          <p:cNvSpPr txBox="1"/>
          <p:nvPr/>
        </p:nvSpPr>
        <p:spPr>
          <a:xfrm>
            <a:off x="777240" y="3200400"/>
            <a:ext cx="10515600" cy="914400"/>
          </a:xfrm>
          <a:prstGeom prst="rect">
            <a:avLst/>
          </a:prstGeom>
          <a:noFill/>
        </p:spPr>
        <p:txBody>
          <a:bodyPr wrap="square">
            <a:spAutoFit/>
          </a:bodyPr>
          <a:lstStyle/>
          <a:p>
            <a:r>
              <a:rPr sz="2200" i="1">
                <a:solidFill>
                  <a:srgbClr val="FAFAFA"/>
                </a:solidFill>
              </a:rPr>
              <a:t>A web application for planning outdoor activities in New Zealand</a:t>
            </a:r>
          </a:p>
        </p:txBody>
      </p:sp>
      <p:sp>
        <p:nvSpPr>
          <p:cNvPr id="9" name="Rectangle 8"/>
          <p:cNvSpPr/>
          <p:nvPr/>
        </p:nvSpPr>
        <p:spPr>
          <a:xfrm>
            <a:off x="777240" y="4023360"/>
            <a:ext cx="2286000" cy="73152"/>
          </a:xfrm>
          <a:prstGeom prst="rect">
            <a:avLst/>
          </a:prstGeom>
          <a:solidFill>
            <a:srgbClr val="E6A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297680"/>
            <a:ext cx="10515600" cy="1828800"/>
          </a:xfrm>
          <a:prstGeom prst="rect">
            <a:avLst/>
          </a:prstGeom>
          <a:noFill/>
        </p:spPr>
        <p:txBody>
          <a:bodyPr wrap="square">
            <a:spAutoFit/>
          </a:bodyPr>
          <a:lstStyle/>
          <a:p>
            <a:pPr algn="l">
              <a:spcAft>
                <a:spcPts val="600"/>
              </a:spcAft>
            </a:pPr>
            <a:r>
              <a:rPr sz="1800">
                <a:solidFill>
                  <a:srgbClr val="FAFAFA"/>
                </a:solidFill>
              </a:rPr>
              <a:t>Team: [Team name]</a:t>
            </a:r>
          </a:p>
          <a:p>
            <a:pPr algn="l">
              <a:spcAft>
                <a:spcPts val="600"/>
              </a:spcAft>
            </a:pPr>
            <a:r>
              <a:rPr sz="1800">
                <a:solidFill>
                  <a:srgbClr val="FAFAFA"/>
                </a:solidFill>
              </a:rPr>
              <a:t>Members: [Member 1]  •  [Member 2]  •  [Member 3]  •  [Member 4]</a:t>
            </a:r>
          </a:p>
          <a:p>
            <a:pPr algn="l">
              <a:spcAft>
                <a:spcPts val="600"/>
              </a:spcAft>
            </a:pPr>
            <a:r>
              <a:rPr sz="1800">
                <a:solidFill>
                  <a:srgbClr val="FAFAFA"/>
                </a:solidFill>
              </a:rPr>
              <a:t>Date: [Presentation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2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Problem &amp; Motivation</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Why Kiwi Trail?</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1]</a:t>
            </a:r>
          </a:p>
        </p:txBody>
      </p:sp>
      <p:sp>
        <p:nvSpPr>
          <p:cNvPr id="10" name="Rounded Rectangle 9"/>
          <p:cNvSpPr/>
          <p:nvPr/>
        </p:nvSpPr>
        <p:spPr>
          <a:xfrm>
            <a:off x="822960" y="1554480"/>
            <a:ext cx="5394960" cy="2194560"/>
          </a:xfrm>
          <a:prstGeom prst="roundRect">
            <a:avLst/>
          </a:prstGeom>
          <a:solidFill>
            <a:srgbClr val="FFFFFF"/>
          </a:solidFill>
          <a:ln w="15875">
            <a:solidFill>
              <a:srgbClr val="29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1554480"/>
            <a:ext cx="5394960" cy="45720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600">
                <a:solidFill>
                  <a:srgbClr val="FAFAFA"/>
                </a:solidFill>
              </a:rPr>
              <a:t>NZ outdoor data lives in many places</a:t>
            </a:r>
          </a:p>
        </p:txBody>
      </p:sp>
      <p:sp>
        <p:nvSpPr>
          <p:cNvPr id="12" name="TextBox 11"/>
          <p:cNvSpPr txBox="1"/>
          <p:nvPr/>
        </p:nvSpPr>
        <p:spPr>
          <a:xfrm>
            <a:off x="1005840" y="2148840"/>
            <a:ext cx="5029200" cy="1508760"/>
          </a:xfrm>
          <a:prstGeom prst="rect">
            <a:avLst/>
          </a:prstGeom>
          <a:noFill/>
        </p:spPr>
        <p:txBody>
          <a:bodyPr wrap="square">
            <a:spAutoFit/>
          </a:bodyPr>
          <a:lstStyle/>
          <a:p>
            <a:pPr algn="l">
              <a:spcAft>
                <a:spcPts val="400"/>
              </a:spcAft>
            </a:pPr>
            <a:r>
              <a:rPr sz="1400" b="1">
                <a:solidFill>
                  <a:srgbClr val="2979B5"/>
                </a:solidFill>
              </a:rPr>
              <a:t>•  </a:t>
            </a:r>
            <a:r>
              <a:rPr sz="1400">
                <a:solidFill>
                  <a:srgbClr val="212121"/>
                </a:solidFill>
              </a:rPr>
              <a:t>DOC: tracks, huts, campsites</a:t>
            </a:r>
          </a:p>
          <a:p>
            <a:pPr algn="l">
              <a:spcAft>
                <a:spcPts val="400"/>
              </a:spcAft>
            </a:pPr>
            <a:r>
              <a:rPr sz="1400" b="1">
                <a:solidFill>
                  <a:srgbClr val="2979B5"/>
                </a:solidFill>
              </a:rPr>
              <a:t>•  </a:t>
            </a:r>
            <a:r>
              <a:rPr sz="1400">
                <a:solidFill>
                  <a:srgbClr val="212121"/>
                </a:solidFill>
              </a:rPr>
              <a:t>LINZ: maps and place names</a:t>
            </a:r>
          </a:p>
          <a:p>
            <a:pPr algn="l">
              <a:spcAft>
                <a:spcPts val="400"/>
              </a:spcAft>
            </a:pPr>
            <a:r>
              <a:rPr sz="1400" b="1">
                <a:solidFill>
                  <a:srgbClr val="2979B5"/>
                </a:solidFill>
              </a:rPr>
              <a:t>•  </a:t>
            </a:r>
            <a:r>
              <a:rPr sz="1400">
                <a:solidFill>
                  <a:srgbClr val="212121"/>
                </a:solidFill>
              </a:rPr>
              <a:t>NIWA: weather forecasts</a:t>
            </a:r>
          </a:p>
          <a:p>
            <a:pPr algn="l">
              <a:spcAft>
                <a:spcPts val="400"/>
              </a:spcAft>
            </a:pPr>
            <a:r>
              <a:rPr sz="1400" b="1">
                <a:solidFill>
                  <a:srgbClr val="2979B5"/>
                </a:solidFill>
              </a:rPr>
              <a:t>•  </a:t>
            </a:r>
            <a:r>
              <a:rPr sz="1400">
                <a:solidFill>
                  <a:srgbClr val="212121"/>
                </a:solidFill>
              </a:rPr>
              <a:t>Council sites: regional parks</a:t>
            </a:r>
          </a:p>
        </p:txBody>
      </p:sp>
      <p:sp>
        <p:nvSpPr>
          <p:cNvPr id="13" name="Rounded Rectangle 12"/>
          <p:cNvSpPr/>
          <p:nvPr/>
        </p:nvSpPr>
        <p:spPr>
          <a:xfrm>
            <a:off x="6400800" y="1554480"/>
            <a:ext cx="4937760" cy="2194560"/>
          </a:xfrm>
          <a:prstGeom prst="roundRect">
            <a:avLst/>
          </a:prstGeom>
          <a:solidFill>
            <a:srgbClr val="FFFFFF"/>
          </a:solidFill>
          <a:ln w="15875">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554480"/>
            <a:ext cx="4937760"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600">
                <a:solidFill>
                  <a:srgbClr val="FAFAFA"/>
                </a:solidFill>
              </a:rPr>
              <a:t>What users actually want</a:t>
            </a:r>
          </a:p>
        </p:txBody>
      </p:sp>
      <p:sp>
        <p:nvSpPr>
          <p:cNvPr id="15" name="TextBox 14"/>
          <p:cNvSpPr txBox="1"/>
          <p:nvPr/>
        </p:nvSpPr>
        <p:spPr>
          <a:xfrm>
            <a:off x="6583680" y="2148840"/>
            <a:ext cx="4572000" cy="1508760"/>
          </a:xfrm>
          <a:prstGeom prst="rect">
            <a:avLst/>
          </a:prstGeom>
          <a:noFill/>
        </p:spPr>
        <p:txBody>
          <a:bodyPr wrap="square">
            <a:spAutoFit/>
          </a:bodyPr>
          <a:lstStyle/>
          <a:p>
            <a:pPr algn="l">
              <a:spcAft>
                <a:spcPts val="400"/>
              </a:spcAft>
            </a:pPr>
            <a:r>
              <a:rPr sz="1400" b="1">
                <a:solidFill>
                  <a:srgbClr val="4CAF50"/>
                </a:solidFill>
              </a:rPr>
              <a:t>•  </a:t>
            </a:r>
            <a:r>
              <a:rPr sz="1400">
                <a:solidFill>
                  <a:srgbClr val="212121"/>
                </a:solidFill>
              </a:rPr>
              <a:t>Find places nearby quickly</a:t>
            </a:r>
          </a:p>
          <a:p>
            <a:pPr algn="l">
              <a:spcAft>
                <a:spcPts val="400"/>
              </a:spcAft>
            </a:pPr>
            <a:r>
              <a:rPr sz="1400" b="1">
                <a:solidFill>
                  <a:srgbClr val="4CAF50"/>
                </a:solidFill>
              </a:rPr>
              <a:t>•  </a:t>
            </a:r>
            <a:r>
              <a:rPr sz="1400">
                <a:solidFill>
                  <a:srgbClr val="212121"/>
                </a:solidFill>
              </a:rPr>
              <a:t>Filter by region &amp; difficulty</a:t>
            </a:r>
          </a:p>
          <a:p>
            <a:pPr algn="l">
              <a:spcAft>
                <a:spcPts val="400"/>
              </a:spcAft>
            </a:pPr>
            <a:r>
              <a:rPr sz="1400" b="1">
                <a:solidFill>
                  <a:srgbClr val="4CAF50"/>
                </a:solidFill>
              </a:rPr>
              <a:t>•  </a:t>
            </a:r>
            <a:r>
              <a:rPr sz="1400">
                <a:solidFill>
                  <a:srgbClr val="212121"/>
                </a:solidFill>
              </a:rPr>
              <a:t>See details, map, and weather</a:t>
            </a:r>
          </a:p>
          <a:p>
            <a:pPr algn="l">
              <a:spcAft>
                <a:spcPts val="400"/>
              </a:spcAft>
            </a:pPr>
            <a:r>
              <a:rPr sz="1400" b="1">
                <a:solidFill>
                  <a:srgbClr val="4CAF50"/>
                </a:solidFill>
              </a:rPr>
              <a:t>•  </a:t>
            </a:r>
            <a:r>
              <a:rPr sz="1400">
                <a:solidFill>
                  <a:srgbClr val="212121"/>
                </a:solidFill>
              </a:rPr>
              <a:t>Plan trips in one place</a:t>
            </a:r>
          </a:p>
        </p:txBody>
      </p:sp>
      <p:sp>
        <p:nvSpPr>
          <p:cNvPr id="16" name="Rounded Rectangle 15"/>
          <p:cNvSpPr/>
          <p:nvPr/>
        </p:nvSpPr>
        <p:spPr>
          <a:xfrm>
            <a:off x="822960" y="4023360"/>
            <a:ext cx="10515600" cy="2103120"/>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lIns="274320" tIns="182880" wrap="square"/>
          <a:lstStyle/>
          <a:p>
            <a:pPr algn="ctr"/>
            <a:r>
              <a:rPr b="1" sz="2000">
                <a:solidFill>
                  <a:srgbClr val="E6A817"/>
                </a:solidFill>
              </a:rPr>
              <a:t>The Problem</a:t>
            </a:r>
          </a:p>
          <a:p>
            <a:pPr>
              <a:spcBef>
                <a:spcPts val="800"/>
              </a:spcBef>
            </a:pPr>
            <a:r>
              <a:rPr sz="1800">
                <a:solidFill>
                  <a:srgbClr val="FAFAFA"/>
                </a:solidFill>
              </a:rPr>
              <a:t>Outdoor activity information is scattered across many sources. Users have to switch between websites to find tracks, check maps, and view the weather — making trip planning slow and frustrating.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3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Objective &amp; Target Users</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One platform for outdoor planning</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1]</a:t>
            </a:r>
          </a:p>
        </p:txBody>
      </p:sp>
      <p:sp>
        <p:nvSpPr>
          <p:cNvPr id="10" name="TextBox 9"/>
          <p:cNvSpPr txBox="1"/>
          <p:nvPr/>
        </p:nvSpPr>
        <p:spPr>
          <a:xfrm>
            <a:off x="822960" y="1463040"/>
            <a:ext cx="6858000" cy="4572000"/>
          </a:xfrm>
          <a:prstGeom prst="rect">
            <a:avLst/>
          </a:prstGeom>
          <a:noFill/>
        </p:spPr>
        <p:txBody>
          <a:bodyPr wrap="square" lIns="45720" rIns="45720">
            <a:spAutoFit/>
          </a:bodyPr>
          <a:lstStyle/>
          <a:p>
            <a:pPr algn="l">
              <a:spcAft>
                <a:spcPts val="400"/>
              </a:spcAft>
            </a:pPr>
            <a:r>
              <a:rPr sz="1800" b="1">
                <a:solidFill>
                  <a:srgbClr val="4CAF50"/>
                </a:solidFill>
              </a:rPr>
              <a:t>●  </a:t>
            </a:r>
            <a:r>
              <a:rPr sz="1800" b="1">
                <a:solidFill>
                  <a:srgbClr val="212121"/>
                </a:solidFill>
              </a:rPr>
              <a:t>Combine NZ outdoor datasets in one app</a:t>
            </a:r>
          </a:p>
          <a:p>
            <a:pPr algn="l" lvl="1">
              <a:spcAft>
                <a:spcPts val="400"/>
              </a:spcAft>
            </a:pPr>
            <a:r>
              <a:rPr sz="1400">
                <a:solidFill>
                  <a:srgbClr val="555555"/>
                </a:solidFill>
              </a:rPr>
              <a:t>      Tracks, huts, campsites, weather, maps</a:t>
            </a:r>
          </a:p>
          <a:p>
            <a:pPr algn="l">
              <a:spcAft>
                <a:spcPts val="400"/>
              </a:spcAft>
            </a:pPr>
            <a:r>
              <a:rPr sz="1800" b="1">
                <a:solidFill>
                  <a:srgbClr val="4CAF50"/>
                </a:solidFill>
              </a:rPr>
              <a:t>●  </a:t>
            </a:r>
            <a:r>
              <a:rPr sz="1800" b="1">
                <a:solidFill>
                  <a:srgbClr val="212121"/>
                </a:solidFill>
              </a:rPr>
              <a:t>Help users plan trips faster</a:t>
            </a:r>
          </a:p>
          <a:p>
            <a:pPr algn="l" lvl="1">
              <a:spcAft>
                <a:spcPts val="400"/>
              </a:spcAft>
            </a:pPr>
            <a:r>
              <a:rPr sz="1400">
                <a:solidFill>
                  <a:srgbClr val="555555"/>
                </a:solidFill>
              </a:rPr>
              <a:t>      Search, filter, view details, navigate</a:t>
            </a:r>
          </a:p>
          <a:p>
            <a:pPr algn="l">
              <a:spcAft>
                <a:spcPts val="400"/>
              </a:spcAft>
            </a:pPr>
            <a:r>
              <a:rPr sz="1800" b="1">
                <a:solidFill>
                  <a:srgbClr val="4CAF50"/>
                </a:solidFill>
              </a:rPr>
              <a:t>●  </a:t>
            </a:r>
            <a:r>
              <a:rPr sz="1800" b="1">
                <a:solidFill>
                  <a:srgbClr val="212121"/>
                </a:solidFill>
              </a:rPr>
              <a:t>Provide a clean and modern map-based UI</a:t>
            </a:r>
          </a:p>
          <a:p>
            <a:pPr algn="l" lvl="1">
              <a:spcAft>
                <a:spcPts val="400"/>
              </a:spcAft>
            </a:pPr>
            <a:r>
              <a:rPr sz="1400">
                <a:solidFill>
                  <a:srgbClr val="555555"/>
                </a:solidFill>
              </a:rPr>
              <a:t>      Built for both desktop and mobile browsers</a:t>
            </a:r>
          </a:p>
        </p:txBody>
      </p:sp>
      <p:sp>
        <p:nvSpPr>
          <p:cNvPr id="11" name="Rounded Rectangle 10"/>
          <p:cNvSpPr/>
          <p:nvPr/>
        </p:nvSpPr>
        <p:spPr>
          <a:xfrm>
            <a:off x="7955279" y="1463040"/>
            <a:ext cx="3566160" cy="1463040"/>
          </a:xfrm>
          <a:prstGeom prst="roundRect">
            <a:avLst/>
          </a:prstGeom>
          <a:solidFill>
            <a:srgbClr val="FFFFFF"/>
          </a:solidFill>
          <a:ln w="15875">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55279" y="1463040"/>
            <a:ext cx="3566160"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500">
                <a:solidFill>
                  <a:srgbClr val="FAFAFA"/>
                </a:solidFill>
              </a:rPr>
              <a:t>Local Kiwis</a:t>
            </a:r>
          </a:p>
        </p:txBody>
      </p:sp>
      <p:sp>
        <p:nvSpPr>
          <p:cNvPr id="13" name="TextBox 12"/>
          <p:cNvSpPr txBox="1"/>
          <p:nvPr/>
        </p:nvSpPr>
        <p:spPr>
          <a:xfrm>
            <a:off x="8138159" y="2057400"/>
            <a:ext cx="3200400" cy="777240"/>
          </a:xfrm>
          <a:prstGeom prst="rect">
            <a:avLst/>
          </a:prstGeom>
          <a:noFill/>
        </p:spPr>
        <p:txBody>
          <a:bodyPr wrap="square">
            <a:spAutoFit/>
          </a:bodyPr>
          <a:lstStyle/>
          <a:p>
            <a:pPr algn="l">
              <a:spcAft>
                <a:spcPts val="400"/>
              </a:spcAft>
            </a:pPr>
            <a:r>
              <a:rPr sz="1300" b="1">
                <a:solidFill>
                  <a:srgbClr val="4CAF50"/>
                </a:solidFill>
              </a:rPr>
              <a:t>•  </a:t>
            </a:r>
            <a:r>
              <a:rPr sz="1300">
                <a:solidFill>
                  <a:srgbClr val="212121"/>
                </a:solidFill>
              </a:rPr>
              <a:t>Plan weekend hikes</a:t>
            </a:r>
          </a:p>
          <a:p>
            <a:pPr algn="l">
              <a:spcAft>
                <a:spcPts val="400"/>
              </a:spcAft>
            </a:pPr>
            <a:r>
              <a:rPr sz="1300" b="1">
                <a:solidFill>
                  <a:srgbClr val="4CAF50"/>
                </a:solidFill>
              </a:rPr>
              <a:t>•  </a:t>
            </a:r>
            <a:r>
              <a:rPr sz="1300">
                <a:solidFill>
                  <a:srgbClr val="212121"/>
                </a:solidFill>
              </a:rPr>
              <a:t>Discover new tracks</a:t>
            </a:r>
          </a:p>
        </p:txBody>
      </p:sp>
      <p:sp>
        <p:nvSpPr>
          <p:cNvPr id="14" name="Rounded Rectangle 13"/>
          <p:cNvSpPr/>
          <p:nvPr/>
        </p:nvSpPr>
        <p:spPr>
          <a:xfrm>
            <a:off x="7955279" y="3017520"/>
            <a:ext cx="3566160" cy="1463040"/>
          </a:xfrm>
          <a:prstGeom prst="roundRect">
            <a:avLst/>
          </a:prstGeom>
          <a:solidFill>
            <a:srgbClr val="FFFFFF"/>
          </a:solidFill>
          <a:ln w="15875">
            <a:solidFill>
              <a:srgbClr val="29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3017520"/>
            <a:ext cx="3566160" cy="45720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500">
                <a:solidFill>
                  <a:srgbClr val="FAFAFA"/>
                </a:solidFill>
              </a:rPr>
              <a:t>Visitors / Tourists</a:t>
            </a:r>
          </a:p>
        </p:txBody>
      </p:sp>
      <p:sp>
        <p:nvSpPr>
          <p:cNvPr id="16" name="TextBox 15"/>
          <p:cNvSpPr txBox="1"/>
          <p:nvPr/>
        </p:nvSpPr>
        <p:spPr>
          <a:xfrm>
            <a:off x="8138159" y="3611880"/>
            <a:ext cx="3200400" cy="777240"/>
          </a:xfrm>
          <a:prstGeom prst="rect">
            <a:avLst/>
          </a:prstGeom>
          <a:noFill/>
        </p:spPr>
        <p:txBody>
          <a:bodyPr wrap="square">
            <a:spAutoFit/>
          </a:bodyPr>
          <a:lstStyle/>
          <a:p>
            <a:pPr algn="l">
              <a:spcAft>
                <a:spcPts val="400"/>
              </a:spcAft>
            </a:pPr>
            <a:r>
              <a:rPr sz="1300" b="1">
                <a:solidFill>
                  <a:srgbClr val="2979B5"/>
                </a:solidFill>
              </a:rPr>
              <a:t>•  </a:t>
            </a:r>
            <a:r>
              <a:rPr sz="1300">
                <a:solidFill>
                  <a:srgbClr val="212121"/>
                </a:solidFill>
              </a:rPr>
              <a:t>Explore NZ outdoors</a:t>
            </a:r>
          </a:p>
          <a:p>
            <a:pPr algn="l">
              <a:spcAft>
                <a:spcPts val="400"/>
              </a:spcAft>
            </a:pPr>
            <a:r>
              <a:rPr sz="1300" b="1">
                <a:solidFill>
                  <a:srgbClr val="2979B5"/>
                </a:solidFill>
              </a:rPr>
              <a:t>•  </a:t>
            </a:r>
            <a:r>
              <a:rPr sz="1300">
                <a:solidFill>
                  <a:srgbClr val="212121"/>
                </a:solidFill>
              </a:rPr>
              <a:t>Quick &amp; easy planning</a:t>
            </a:r>
          </a:p>
        </p:txBody>
      </p:sp>
      <p:sp>
        <p:nvSpPr>
          <p:cNvPr id="17" name="Rounded Rectangle 16"/>
          <p:cNvSpPr/>
          <p:nvPr/>
        </p:nvSpPr>
        <p:spPr>
          <a:xfrm>
            <a:off x="7955279" y="4572000"/>
            <a:ext cx="3566160" cy="1463040"/>
          </a:xfrm>
          <a:prstGeom prst="roundRect">
            <a:avLst/>
          </a:prstGeom>
          <a:solidFill>
            <a:srgbClr val="FFFFFF"/>
          </a:solidFill>
          <a:ln w="15875">
            <a:solidFill>
              <a:srgbClr val="5D40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55279" y="4572000"/>
            <a:ext cx="3566160" cy="45720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500">
                <a:solidFill>
                  <a:srgbClr val="FAFAFA"/>
                </a:solidFill>
              </a:rPr>
              <a:t>Casual Campers</a:t>
            </a:r>
          </a:p>
        </p:txBody>
      </p:sp>
      <p:sp>
        <p:nvSpPr>
          <p:cNvPr id="19" name="TextBox 18"/>
          <p:cNvSpPr txBox="1"/>
          <p:nvPr/>
        </p:nvSpPr>
        <p:spPr>
          <a:xfrm>
            <a:off x="8138159" y="5166360"/>
            <a:ext cx="3200400" cy="777240"/>
          </a:xfrm>
          <a:prstGeom prst="rect">
            <a:avLst/>
          </a:prstGeom>
          <a:noFill/>
        </p:spPr>
        <p:txBody>
          <a:bodyPr wrap="square">
            <a:spAutoFit/>
          </a:bodyPr>
          <a:lstStyle/>
          <a:p>
            <a:pPr algn="l">
              <a:spcAft>
                <a:spcPts val="400"/>
              </a:spcAft>
            </a:pPr>
            <a:r>
              <a:rPr sz="1300" b="1">
                <a:solidFill>
                  <a:srgbClr val="5D4037"/>
                </a:solidFill>
              </a:rPr>
              <a:t>•  </a:t>
            </a:r>
            <a:r>
              <a:rPr sz="1300">
                <a:solidFill>
                  <a:srgbClr val="212121"/>
                </a:solidFill>
              </a:rPr>
              <a:t>Find nearby campsites</a:t>
            </a:r>
          </a:p>
          <a:p>
            <a:pPr algn="l">
              <a:spcAft>
                <a:spcPts val="400"/>
              </a:spcAft>
            </a:pPr>
            <a:r>
              <a:rPr sz="1300" b="1">
                <a:solidFill>
                  <a:srgbClr val="5D4037"/>
                </a:solidFill>
              </a:rPr>
              <a:t>•  </a:t>
            </a:r>
            <a:r>
              <a:rPr sz="1300">
                <a:solidFill>
                  <a:srgbClr val="212121"/>
                </a:solidFill>
              </a:rPr>
              <a:t>Check weather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4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Proposed Solution</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A map-based web app with planning tools</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2]</a:t>
            </a:r>
          </a:p>
        </p:txBody>
      </p:sp>
      <p:sp>
        <p:nvSpPr>
          <p:cNvPr id="10" name="Rounded Rectangle 9"/>
          <p:cNvSpPr/>
          <p:nvPr/>
        </p:nvSpPr>
        <p:spPr>
          <a:xfrm>
            <a:off x="822960" y="1463040"/>
            <a:ext cx="5943600" cy="4663440"/>
          </a:xfrm>
          <a:prstGeom prst="roundRect">
            <a:avLst/>
          </a:prstGeom>
          <a:solidFill>
            <a:srgbClr val="FFFFFF"/>
          </a:solidFill>
          <a:ln w="15875">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omepage.png"/>
          <p:cNvPicPr>
            <a:picLocks noChangeAspect="1"/>
          </p:cNvPicPr>
          <p:nvPr/>
        </p:nvPicPr>
        <p:blipFill>
          <a:blip r:embed="rId2"/>
          <a:stretch>
            <a:fillRect/>
          </a:stretch>
        </p:blipFill>
        <p:spPr>
          <a:xfrm>
            <a:off x="914400" y="1554480"/>
            <a:ext cx="5760720" cy="3611880"/>
          </a:xfrm>
          <a:prstGeom prst="rect">
            <a:avLst/>
          </a:prstGeom>
        </p:spPr>
      </p:pic>
      <p:sp>
        <p:nvSpPr>
          <p:cNvPr id="12" name="TextBox 11"/>
          <p:cNvSpPr txBox="1"/>
          <p:nvPr/>
        </p:nvSpPr>
        <p:spPr>
          <a:xfrm>
            <a:off x="960120" y="5257800"/>
            <a:ext cx="5669280" cy="777240"/>
          </a:xfrm>
          <a:prstGeom prst="rect">
            <a:avLst/>
          </a:prstGeom>
          <a:noFill/>
        </p:spPr>
        <p:txBody>
          <a:bodyPr wrap="square" tIns="18288">
            <a:spAutoFit/>
          </a:bodyPr>
          <a:lstStyle/>
          <a:p>
            <a:pPr algn="l"/>
            <a:r>
              <a:rPr b="1" sz="1100">
                <a:solidFill>
                  <a:srgbClr val="1B5E20"/>
                </a:solidFill>
              </a:rPr>
              <a:t>Preview. </a:t>
            </a:r>
            <a:r>
              <a:rPr sz="1100">
                <a:solidFill>
                  <a:srgbClr val="555555"/>
                </a:solidFill>
              </a:rPr>
              <a:t>KiwiTrail home page — search panel on the left, interactive map of New Zealand on the right.</a:t>
            </a:r>
          </a:p>
        </p:txBody>
      </p:sp>
      <p:sp>
        <p:nvSpPr>
          <p:cNvPr id="13" name="Rounded Rectangle 12"/>
          <p:cNvSpPr/>
          <p:nvPr/>
        </p:nvSpPr>
        <p:spPr>
          <a:xfrm>
            <a:off x="6949440" y="1463040"/>
            <a:ext cx="4572000" cy="2240280"/>
          </a:xfrm>
          <a:prstGeom prst="roundRect">
            <a:avLst/>
          </a:prstGeom>
          <a:solidFill>
            <a:srgbClr val="FFFFFF"/>
          </a:solidFill>
          <a:ln w="15875">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0" y="1463040"/>
            <a:ext cx="4572000" cy="4114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500">
                <a:solidFill>
                  <a:srgbClr val="FAFAFA"/>
                </a:solidFill>
              </a:rPr>
              <a:t>Discover places</a:t>
            </a:r>
          </a:p>
        </p:txBody>
      </p:sp>
      <p:sp>
        <p:nvSpPr>
          <p:cNvPr id="15" name="TextBox 14"/>
          <p:cNvSpPr txBox="1"/>
          <p:nvPr/>
        </p:nvSpPr>
        <p:spPr>
          <a:xfrm>
            <a:off x="7086600" y="1965960"/>
            <a:ext cx="4297680" cy="1645920"/>
          </a:xfrm>
          <a:prstGeom prst="rect">
            <a:avLst/>
          </a:prstGeom>
          <a:noFill/>
        </p:spPr>
        <p:txBody>
          <a:bodyPr wrap="square" lIns="45720" rIns="45720">
            <a:spAutoFit/>
          </a:bodyPr>
          <a:lstStyle/>
          <a:p>
            <a:pPr algn="l">
              <a:spcAft>
                <a:spcPts val="400"/>
              </a:spcAft>
            </a:pPr>
            <a:r>
              <a:rPr sz="1300" b="1">
                <a:solidFill>
                  <a:srgbClr val="4CAF50"/>
                </a:solidFill>
              </a:rPr>
              <a:t>●  </a:t>
            </a:r>
            <a:r>
              <a:rPr sz="1300" b="1">
                <a:solidFill>
                  <a:srgbClr val="212121"/>
                </a:solidFill>
              </a:rPr>
              <a:t>Select region &amp; difficulty</a:t>
            </a:r>
          </a:p>
          <a:p>
            <a:pPr algn="l">
              <a:spcAft>
                <a:spcPts val="400"/>
              </a:spcAft>
            </a:pPr>
            <a:r>
              <a:rPr sz="1300" b="1">
                <a:solidFill>
                  <a:srgbClr val="4CAF50"/>
                </a:solidFill>
              </a:rPr>
              <a:t>●  </a:t>
            </a:r>
            <a:r>
              <a:rPr sz="1300" b="1">
                <a:solidFill>
                  <a:srgbClr val="212121"/>
                </a:solidFill>
              </a:rPr>
              <a:t>Filter track / hut / campsite</a:t>
            </a:r>
          </a:p>
          <a:p>
            <a:pPr algn="l">
              <a:spcAft>
                <a:spcPts val="400"/>
              </a:spcAft>
            </a:pPr>
            <a:r>
              <a:rPr sz="1300" b="1">
                <a:solidFill>
                  <a:srgbClr val="4CAF50"/>
                </a:solidFill>
              </a:rPr>
              <a:t>●  </a:t>
            </a:r>
            <a:r>
              <a:rPr sz="1300" b="1">
                <a:solidFill>
                  <a:srgbClr val="212121"/>
                </a:solidFill>
              </a:rPr>
              <a:t>Fuzzy place-name search</a:t>
            </a:r>
          </a:p>
          <a:p>
            <a:pPr algn="l">
              <a:spcAft>
                <a:spcPts val="400"/>
              </a:spcAft>
            </a:pPr>
            <a:r>
              <a:rPr sz="1300" b="1">
                <a:solidFill>
                  <a:srgbClr val="4CAF50"/>
                </a:solidFill>
              </a:rPr>
              <a:t>●  </a:t>
            </a:r>
            <a:r>
              <a:rPr sz="1300" b="1">
                <a:solidFill>
                  <a:srgbClr val="212121"/>
                </a:solidFill>
              </a:rPr>
              <a:t>Nearby within 15 km</a:t>
            </a:r>
          </a:p>
        </p:txBody>
      </p:sp>
      <p:sp>
        <p:nvSpPr>
          <p:cNvPr id="16" name="Rounded Rectangle 15"/>
          <p:cNvSpPr/>
          <p:nvPr/>
        </p:nvSpPr>
        <p:spPr>
          <a:xfrm>
            <a:off x="6949440" y="3886200"/>
            <a:ext cx="4572000" cy="2240280"/>
          </a:xfrm>
          <a:prstGeom prst="roundRect">
            <a:avLst/>
          </a:prstGeom>
          <a:solidFill>
            <a:srgbClr val="FFFFFF"/>
          </a:solidFill>
          <a:ln w="15875">
            <a:solidFill>
              <a:srgbClr val="297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0" y="3886200"/>
            <a:ext cx="4572000" cy="41148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500">
                <a:solidFill>
                  <a:srgbClr val="FAFAFA"/>
                </a:solidFill>
              </a:rPr>
              <a:t>Plan your trip</a:t>
            </a:r>
          </a:p>
        </p:txBody>
      </p:sp>
      <p:sp>
        <p:nvSpPr>
          <p:cNvPr id="18" name="TextBox 17"/>
          <p:cNvSpPr txBox="1"/>
          <p:nvPr/>
        </p:nvSpPr>
        <p:spPr>
          <a:xfrm>
            <a:off x="7086600" y="4389120"/>
            <a:ext cx="4297680" cy="1645920"/>
          </a:xfrm>
          <a:prstGeom prst="rect">
            <a:avLst/>
          </a:prstGeom>
          <a:noFill/>
        </p:spPr>
        <p:txBody>
          <a:bodyPr wrap="square" lIns="45720" rIns="45720">
            <a:spAutoFit/>
          </a:bodyPr>
          <a:lstStyle/>
          <a:p>
            <a:pPr algn="l">
              <a:spcAft>
                <a:spcPts val="400"/>
              </a:spcAft>
            </a:pPr>
            <a:r>
              <a:rPr sz="1300" b="1">
                <a:solidFill>
                  <a:srgbClr val="4CAF50"/>
                </a:solidFill>
              </a:rPr>
              <a:t>●  </a:t>
            </a:r>
            <a:r>
              <a:rPr sz="1300" b="1">
                <a:solidFill>
                  <a:srgbClr val="212121"/>
                </a:solidFill>
              </a:rPr>
              <a:t>View item details</a:t>
            </a:r>
          </a:p>
          <a:p>
            <a:pPr algn="l">
              <a:spcAft>
                <a:spcPts val="400"/>
              </a:spcAft>
            </a:pPr>
            <a:r>
              <a:rPr sz="1300" b="1">
                <a:solidFill>
                  <a:srgbClr val="4CAF50"/>
                </a:solidFill>
              </a:rPr>
              <a:t>●  </a:t>
            </a:r>
            <a:r>
              <a:rPr sz="1300" b="1">
                <a:solidFill>
                  <a:srgbClr val="212121"/>
                </a:solidFill>
              </a:rPr>
              <a:t>Open Google Maps directions</a:t>
            </a:r>
          </a:p>
          <a:p>
            <a:pPr algn="l">
              <a:spcAft>
                <a:spcPts val="400"/>
              </a:spcAft>
            </a:pPr>
            <a:r>
              <a:rPr sz="1300" b="1">
                <a:solidFill>
                  <a:srgbClr val="4CAF50"/>
                </a:solidFill>
              </a:rPr>
              <a:t>●  </a:t>
            </a:r>
            <a:r>
              <a:rPr sz="1300" b="1">
                <a:solidFill>
                  <a:srgbClr val="212121"/>
                </a:solidFill>
              </a:rPr>
              <a:t>View NIWA weather</a:t>
            </a:r>
          </a:p>
          <a:p>
            <a:pPr algn="l">
              <a:spcAft>
                <a:spcPts val="400"/>
              </a:spcAft>
            </a:pPr>
            <a:r>
              <a:rPr sz="1300" b="1">
                <a:solidFill>
                  <a:srgbClr val="4CAF50"/>
                </a:solidFill>
              </a:rPr>
              <a:t>●  </a:t>
            </a:r>
            <a:r>
              <a:rPr sz="1300" b="1">
                <a:solidFill>
                  <a:srgbClr val="212121"/>
                </a:solidFill>
              </a:rPr>
              <a:t>Save favourites &amp; comments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5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System Architecture</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React • FastAPI • PostgreSQL</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2]</a:t>
            </a:r>
          </a:p>
        </p:txBody>
      </p:sp>
      <p:sp>
        <p:nvSpPr>
          <p:cNvPr id="10" name="Rounded Rectangle 9"/>
          <p:cNvSpPr/>
          <p:nvPr/>
        </p:nvSpPr>
        <p:spPr>
          <a:xfrm>
            <a:off x="822960" y="1463040"/>
            <a:ext cx="5120640" cy="2194560"/>
          </a:xfrm>
          <a:prstGeom prst="roundRect">
            <a:avLst/>
          </a:prstGeom>
          <a:solidFill>
            <a:srgbClr val="FFFFFF"/>
          </a:solidFill>
          <a:ln w="15875">
            <a:solidFill>
              <a:srgbClr val="1B5E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1463040"/>
            <a:ext cx="5120640" cy="4572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800">
                <a:solidFill>
                  <a:srgbClr val="FAFAFA"/>
                </a:solidFill>
              </a:rPr>
              <a:t>Technology Stack</a:t>
            </a:r>
          </a:p>
        </p:txBody>
      </p:sp>
      <p:sp>
        <p:nvSpPr>
          <p:cNvPr id="12" name="TextBox 11"/>
          <p:cNvSpPr txBox="1"/>
          <p:nvPr/>
        </p:nvSpPr>
        <p:spPr>
          <a:xfrm>
            <a:off x="1005840" y="2057400"/>
            <a:ext cx="4754880" cy="1508760"/>
          </a:xfrm>
          <a:prstGeom prst="rect">
            <a:avLst/>
          </a:prstGeom>
          <a:noFill/>
        </p:spPr>
        <p:txBody>
          <a:bodyPr wrap="square">
            <a:spAutoFit/>
          </a:bodyPr>
          <a:lstStyle/>
          <a:p>
            <a:pPr algn="l">
              <a:spcAft>
                <a:spcPts val="400"/>
              </a:spcAft>
            </a:pPr>
            <a:r>
              <a:rPr sz="1500" b="1">
                <a:solidFill>
                  <a:srgbClr val="1B5E20"/>
                </a:solidFill>
              </a:rPr>
              <a:t>•  </a:t>
            </a:r>
            <a:r>
              <a:rPr sz="1500">
                <a:solidFill>
                  <a:srgbClr val="212121"/>
                </a:solidFill>
              </a:rPr>
              <a:t>Frontend: React</a:t>
            </a:r>
          </a:p>
          <a:p>
            <a:pPr algn="l">
              <a:spcAft>
                <a:spcPts val="400"/>
              </a:spcAft>
            </a:pPr>
            <a:r>
              <a:rPr sz="1500" b="1">
                <a:solidFill>
                  <a:srgbClr val="1B5E20"/>
                </a:solidFill>
              </a:rPr>
              <a:t>•  </a:t>
            </a:r>
            <a:r>
              <a:rPr sz="1500">
                <a:solidFill>
                  <a:srgbClr val="212121"/>
                </a:solidFill>
              </a:rPr>
              <a:t>Backend: FastAPI (Python)</a:t>
            </a:r>
          </a:p>
          <a:p>
            <a:pPr algn="l">
              <a:spcAft>
                <a:spcPts val="400"/>
              </a:spcAft>
            </a:pPr>
            <a:r>
              <a:rPr sz="1500" b="1">
                <a:solidFill>
                  <a:srgbClr val="1B5E20"/>
                </a:solidFill>
              </a:rPr>
              <a:t>•  </a:t>
            </a:r>
            <a:r>
              <a:rPr sz="1500">
                <a:solidFill>
                  <a:srgbClr val="212121"/>
                </a:solidFill>
              </a:rPr>
              <a:t>Database: PostgreSQL</a:t>
            </a:r>
          </a:p>
        </p:txBody>
      </p:sp>
      <p:sp>
        <p:nvSpPr>
          <p:cNvPr id="13" name="Rounded Rectangle 12"/>
          <p:cNvSpPr/>
          <p:nvPr/>
        </p:nvSpPr>
        <p:spPr>
          <a:xfrm>
            <a:off x="822960" y="3840480"/>
            <a:ext cx="5120640" cy="2286000"/>
          </a:xfrm>
          <a:prstGeom prst="roundRect">
            <a:avLst/>
          </a:prstGeom>
          <a:solidFill>
            <a:srgbClr val="FFFFFF"/>
          </a:solidFill>
          <a:ln w="15875">
            <a:solidFill>
              <a:srgbClr val="5D40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3840480"/>
            <a:ext cx="5120640" cy="45720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800">
                <a:solidFill>
                  <a:srgbClr val="FAFAFA"/>
                </a:solidFill>
              </a:rPr>
              <a:t>Data Sources</a:t>
            </a:r>
          </a:p>
        </p:txBody>
      </p:sp>
      <p:sp>
        <p:nvSpPr>
          <p:cNvPr id="15" name="TextBox 14"/>
          <p:cNvSpPr txBox="1"/>
          <p:nvPr/>
        </p:nvSpPr>
        <p:spPr>
          <a:xfrm>
            <a:off x="1005840" y="4434840"/>
            <a:ext cx="4754880" cy="1600200"/>
          </a:xfrm>
          <a:prstGeom prst="rect">
            <a:avLst/>
          </a:prstGeom>
          <a:noFill/>
        </p:spPr>
        <p:txBody>
          <a:bodyPr wrap="square">
            <a:spAutoFit/>
          </a:bodyPr>
          <a:lstStyle/>
          <a:p>
            <a:pPr algn="l">
              <a:spcAft>
                <a:spcPts val="400"/>
              </a:spcAft>
            </a:pPr>
            <a:r>
              <a:rPr sz="1500" b="1">
                <a:solidFill>
                  <a:srgbClr val="5D4037"/>
                </a:solidFill>
              </a:rPr>
              <a:t>•  </a:t>
            </a:r>
            <a:r>
              <a:rPr sz="1500">
                <a:solidFill>
                  <a:srgbClr val="212121"/>
                </a:solidFill>
              </a:rPr>
              <a:t>DOC: tracks, huts, campsites</a:t>
            </a:r>
          </a:p>
          <a:p>
            <a:pPr algn="l">
              <a:spcAft>
                <a:spcPts val="400"/>
              </a:spcAft>
            </a:pPr>
            <a:r>
              <a:rPr sz="1500" b="1">
                <a:solidFill>
                  <a:srgbClr val="5D4037"/>
                </a:solidFill>
              </a:rPr>
              <a:t>•  </a:t>
            </a:r>
            <a:r>
              <a:rPr sz="1500">
                <a:solidFill>
                  <a:srgbClr val="212121"/>
                </a:solidFill>
              </a:rPr>
              <a:t>LINZ: map tiles + gazetteer</a:t>
            </a:r>
          </a:p>
          <a:p>
            <a:pPr algn="l">
              <a:spcAft>
                <a:spcPts val="400"/>
              </a:spcAft>
            </a:pPr>
            <a:r>
              <a:rPr sz="1500" b="1">
                <a:solidFill>
                  <a:srgbClr val="5D4037"/>
                </a:solidFill>
              </a:rPr>
              <a:t>•  </a:t>
            </a:r>
            <a:r>
              <a:rPr sz="1500">
                <a:solidFill>
                  <a:srgbClr val="212121"/>
                </a:solidFill>
              </a:rPr>
              <a:t>Region boundary data</a:t>
            </a:r>
          </a:p>
          <a:p>
            <a:pPr algn="l">
              <a:spcAft>
                <a:spcPts val="400"/>
              </a:spcAft>
            </a:pPr>
            <a:r>
              <a:rPr sz="1500" b="1">
                <a:solidFill>
                  <a:srgbClr val="5D4037"/>
                </a:solidFill>
              </a:rPr>
              <a:t>•  </a:t>
            </a:r>
            <a:r>
              <a:rPr sz="1500">
                <a:solidFill>
                  <a:srgbClr val="212121"/>
                </a:solidFill>
              </a:rPr>
              <a:t>NIWA weather widget</a:t>
            </a:r>
          </a:p>
        </p:txBody>
      </p:sp>
      <p:sp>
        <p:nvSpPr>
          <p:cNvPr id="16" name="Rounded Rectangle 15"/>
          <p:cNvSpPr/>
          <p:nvPr/>
        </p:nvSpPr>
        <p:spPr>
          <a:xfrm>
            <a:off x="6400800" y="1417320"/>
            <a:ext cx="4937760" cy="640080"/>
          </a:xfrm>
          <a:prstGeom prst="roundRect">
            <a:avLst/>
          </a:prstGeom>
          <a:solidFill>
            <a:srgbClr val="E6A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FAFAFA"/>
                </a:solidFill>
              </a:rPr>
              <a:t>User (browser)</a:t>
            </a:r>
          </a:p>
        </p:txBody>
      </p:sp>
      <p:sp>
        <p:nvSpPr>
          <p:cNvPr id="17" name="Rounded Rectangle 16"/>
          <p:cNvSpPr/>
          <p:nvPr/>
        </p:nvSpPr>
        <p:spPr>
          <a:xfrm>
            <a:off x="6400800" y="2240280"/>
            <a:ext cx="4937760" cy="6400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FAFAFA"/>
                </a:solidFill>
              </a:rPr>
              <a:t>React Frontend  —  UI / map / search</a:t>
            </a:r>
          </a:p>
        </p:txBody>
      </p:sp>
      <p:sp>
        <p:nvSpPr>
          <p:cNvPr id="18" name="Down Arrow 17"/>
          <p:cNvSpPr/>
          <p:nvPr/>
        </p:nvSpPr>
        <p:spPr>
          <a:xfrm>
            <a:off x="8759952" y="2057400"/>
            <a:ext cx="219456" cy="182880"/>
          </a:xfrm>
          <a:prstGeom prst="downArrow">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063240"/>
            <a:ext cx="4937760" cy="640080"/>
          </a:xfrm>
          <a:prstGeom prst="round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FAFAFA"/>
                </a:solidFill>
              </a:rPr>
              <a:t>FastAPI Backend  —  REST APIs</a:t>
            </a:r>
          </a:p>
        </p:txBody>
      </p:sp>
      <p:sp>
        <p:nvSpPr>
          <p:cNvPr id="20" name="Down Arrow 19"/>
          <p:cNvSpPr/>
          <p:nvPr/>
        </p:nvSpPr>
        <p:spPr>
          <a:xfrm>
            <a:off x="8759952" y="2880360"/>
            <a:ext cx="219456" cy="182880"/>
          </a:xfrm>
          <a:prstGeom prst="downArrow">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0" y="3886200"/>
            <a:ext cx="4937760" cy="640080"/>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FAFAFA"/>
                </a:solidFill>
              </a:rPr>
              <a:t>PostgreSQL  —  app database</a:t>
            </a:r>
          </a:p>
        </p:txBody>
      </p:sp>
      <p:sp>
        <p:nvSpPr>
          <p:cNvPr id="22" name="Down Arrow 21"/>
          <p:cNvSpPr/>
          <p:nvPr/>
        </p:nvSpPr>
        <p:spPr>
          <a:xfrm>
            <a:off x="8759952" y="3703320"/>
            <a:ext cx="219456" cy="182880"/>
          </a:xfrm>
          <a:prstGeom prst="downArrow">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4709160"/>
            <a:ext cx="4937760" cy="640080"/>
          </a:xfrm>
          <a:prstGeom prst="round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FAFAFA"/>
                </a:solidFill>
              </a:rPr>
              <a:t>DOC / LINZ / Region / Weather sources</a:t>
            </a:r>
          </a:p>
        </p:txBody>
      </p:sp>
      <p:sp>
        <p:nvSpPr>
          <p:cNvPr id="24" name="Down Arrow 23"/>
          <p:cNvSpPr/>
          <p:nvPr/>
        </p:nvSpPr>
        <p:spPr>
          <a:xfrm>
            <a:off x="8759952" y="4526280"/>
            <a:ext cx="219456" cy="182880"/>
          </a:xfrm>
          <a:prstGeom prst="downArrow">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6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Key Features</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What users can do</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3]</a:t>
            </a:r>
          </a:p>
        </p:txBody>
      </p:sp>
      <p:sp>
        <p:nvSpPr>
          <p:cNvPr id="10" name="Rounded Rectangle 9"/>
          <p:cNvSpPr/>
          <p:nvPr/>
        </p:nvSpPr>
        <p:spPr>
          <a:xfrm>
            <a:off x="822960" y="1463040"/>
            <a:ext cx="3566160" cy="960120"/>
          </a:xfrm>
          <a:prstGeom prst="roundRect">
            <a:avLst/>
          </a:prstGeom>
          <a:solidFill>
            <a:srgbClr val="FFFFFF"/>
          </a:solid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Region selection</a:t>
            </a:r>
          </a:p>
        </p:txBody>
      </p:sp>
      <p:sp>
        <p:nvSpPr>
          <p:cNvPr id="11" name="Rectangle 10"/>
          <p:cNvSpPr/>
          <p:nvPr/>
        </p:nvSpPr>
        <p:spPr>
          <a:xfrm>
            <a:off x="822960" y="1463040"/>
            <a:ext cx="16459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17720" y="1463040"/>
            <a:ext cx="3566160" cy="960120"/>
          </a:xfrm>
          <a:prstGeom prst="roundRect">
            <a:avLst/>
          </a:prstGeom>
          <a:solidFill>
            <a:srgbClr val="FFFFFF"/>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Difficulty filter</a:t>
            </a:r>
          </a:p>
        </p:txBody>
      </p:sp>
      <p:sp>
        <p:nvSpPr>
          <p:cNvPr id="13" name="Rectangle 12"/>
          <p:cNvSpPr/>
          <p:nvPr/>
        </p:nvSpPr>
        <p:spPr>
          <a:xfrm>
            <a:off x="4617720" y="1463040"/>
            <a:ext cx="164592" cy="96012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80" y="1463040"/>
            <a:ext cx="3566160" cy="960120"/>
          </a:xfrm>
          <a:prstGeom prst="roundRect">
            <a:avLst/>
          </a:prstGeom>
          <a:solidFill>
            <a:srgbClr val="FFFFFF"/>
          </a:solidFill>
          <a:ln w="19050">
            <a:solidFill>
              <a:srgbClr val="2979B5"/>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Type filter (track / hut / camp)</a:t>
            </a:r>
          </a:p>
        </p:txBody>
      </p:sp>
      <p:sp>
        <p:nvSpPr>
          <p:cNvPr id="15" name="Rectangle 14"/>
          <p:cNvSpPr/>
          <p:nvPr/>
        </p:nvSpPr>
        <p:spPr>
          <a:xfrm>
            <a:off x="8412480" y="1463040"/>
            <a:ext cx="164592" cy="96012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2624328"/>
            <a:ext cx="3566160" cy="960120"/>
          </a:xfrm>
          <a:prstGeom prst="roundRect">
            <a:avLst/>
          </a:prstGeom>
          <a:solidFill>
            <a:srgbClr val="FFFFFF"/>
          </a:solidFill>
          <a:ln w="19050">
            <a:solidFill>
              <a:srgbClr val="5D4037"/>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Fuzzy search</a:t>
            </a:r>
          </a:p>
        </p:txBody>
      </p:sp>
      <p:sp>
        <p:nvSpPr>
          <p:cNvPr id="17" name="Rectangle 16"/>
          <p:cNvSpPr/>
          <p:nvPr/>
        </p:nvSpPr>
        <p:spPr>
          <a:xfrm>
            <a:off x="822960" y="2624328"/>
            <a:ext cx="164592" cy="96012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17720" y="2624328"/>
            <a:ext cx="3566160" cy="960120"/>
          </a:xfrm>
          <a:prstGeom prst="roundRect">
            <a:avLst/>
          </a:prstGeom>
          <a:solidFill>
            <a:srgbClr val="FFFFFF"/>
          </a:solidFill>
          <a:ln w="19050">
            <a:solidFill>
              <a:srgbClr val="E6A817"/>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Nearby within 15 km</a:t>
            </a:r>
          </a:p>
        </p:txBody>
      </p:sp>
      <p:sp>
        <p:nvSpPr>
          <p:cNvPr id="19" name="Rectangle 18"/>
          <p:cNvSpPr/>
          <p:nvPr/>
        </p:nvSpPr>
        <p:spPr>
          <a:xfrm>
            <a:off x="4617720" y="2624328"/>
            <a:ext cx="164592" cy="960120"/>
          </a:xfrm>
          <a:prstGeom prst="rect">
            <a:avLst/>
          </a:prstGeom>
          <a:solidFill>
            <a:srgbClr val="E6A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0" y="2624328"/>
            <a:ext cx="3566160" cy="960120"/>
          </a:xfrm>
          <a:prstGeom prst="roundRect">
            <a:avLst/>
          </a:prstGeom>
          <a:solidFill>
            <a:srgbClr val="FFFFFF"/>
          </a:solid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Interactive map</a:t>
            </a:r>
          </a:p>
        </p:txBody>
      </p:sp>
      <p:sp>
        <p:nvSpPr>
          <p:cNvPr id="21" name="Rectangle 20"/>
          <p:cNvSpPr/>
          <p:nvPr/>
        </p:nvSpPr>
        <p:spPr>
          <a:xfrm>
            <a:off x="8412480" y="2624328"/>
            <a:ext cx="16459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2960" y="3785616"/>
            <a:ext cx="3566160" cy="960120"/>
          </a:xfrm>
          <a:prstGeom prst="roundRect">
            <a:avLst/>
          </a:prstGeom>
          <a:solidFill>
            <a:srgbClr val="FFFFFF"/>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Detail pages</a:t>
            </a:r>
          </a:p>
        </p:txBody>
      </p:sp>
      <p:sp>
        <p:nvSpPr>
          <p:cNvPr id="23" name="Rectangle 22"/>
          <p:cNvSpPr/>
          <p:nvPr/>
        </p:nvSpPr>
        <p:spPr>
          <a:xfrm>
            <a:off x="822960" y="3785616"/>
            <a:ext cx="164592" cy="96012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617720" y="3785616"/>
            <a:ext cx="3566160" cy="960120"/>
          </a:xfrm>
          <a:prstGeom prst="roundRect">
            <a:avLst/>
          </a:prstGeom>
          <a:solidFill>
            <a:srgbClr val="FFFFFF"/>
          </a:solidFill>
          <a:ln w="19050">
            <a:solidFill>
              <a:srgbClr val="2979B5"/>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Google Maps directions</a:t>
            </a:r>
          </a:p>
        </p:txBody>
      </p:sp>
      <p:sp>
        <p:nvSpPr>
          <p:cNvPr id="25" name="Rectangle 24"/>
          <p:cNvSpPr/>
          <p:nvPr/>
        </p:nvSpPr>
        <p:spPr>
          <a:xfrm>
            <a:off x="4617720" y="3785616"/>
            <a:ext cx="164592" cy="96012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412480" y="3785616"/>
            <a:ext cx="3566160" cy="960120"/>
          </a:xfrm>
          <a:prstGeom prst="roundRect">
            <a:avLst/>
          </a:prstGeom>
          <a:solidFill>
            <a:srgbClr val="FFFFFF"/>
          </a:solidFill>
          <a:ln w="19050">
            <a:solidFill>
              <a:srgbClr val="5D4037"/>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Weather forecast</a:t>
            </a:r>
          </a:p>
        </p:txBody>
      </p:sp>
      <p:sp>
        <p:nvSpPr>
          <p:cNvPr id="27" name="Rectangle 26"/>
          <p:cNvSpPr/>
          <p:nvPr/>
        </p:nvSpPr>
        <p:spPr>
          <a:xfrm>
            <a:off x="8412480" y="3785616"/>
            <a:ext cx="164592" cy="96012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2960" y="4946904"/>
            <a:ext cx="3566160" cy="960120"/>
          </a:xfrm>
          <a:prstGeom prst="roundRect">
            <a:avLst/>
          </a:prstGeom>
          <a:solidFill>
            <a:srgbClr val="FFFFFF"/>
          </a:solidFill>
          <a:ln w="19050">
            <a:solidFill>
              <a:srgbClr val="E6A817"/>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User comments</a:t>
            </a:r>
          </a:p>
        </p:txBody>
      </p:sp>
      <p:sp>
        <p:nvSpPr>
          <p:cNvPr id="29" name="Rectangle 28"/>
          <p:cNvSpPr/>
          <p:nvPr/>
        </p:nvSpPr>
        <p:spPr>
          <a:xfrm>
            <a:off x="822960" y="4946904"/>
            <a:ext cx="164592" cy="960120"/>
          </a:xfrm>
          <a:prstGeom prst="rect">
            <a:avLst/>
          </a:prstGeom>
          <a:solidFill>
            <a:srgbClr val="E6A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617720" y="4946904"/>
            <a:ext cx="3566160" cy="960120"/>
          </a:xfrm>
          <a:prstGeom prst="roundRect">
            <a:avLst/>
          </a:prstGeom>
          <a:solidFill>
            <a:srgbClr val="FFFFFF"/>
          </a:solid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Favourites list</a:t>
            </a:r>
          </a:p>
        </p:txBody>
      </p:sp>
      <p:sp>
        <p:nvSpPr>
          <p:cNvPr id="31" name="Rectangle 30"/>
          <p:cNvSpPr/>
          <p:nvPr/>
        </p:nvSpPr>
        <p:spPr>
          <a:xfrm>
            <a:off x="4617720" y="4946904"/>
            <a:ext cx="16459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412480" y="4946904"/>
            <a:ext cx="3566160" cy="960120"/>
          </a:xfrm>
          <a:prstGeom prst="roundRect">
            <a:avLst/>
          </a:prstGeom>
          <a:solidFill>
            <a:srgbClr val="FFFFFF"/>
          </a:solidFill>
          <a:ln w="19050">
            <a:solidFill>
              <a:srgbClr val="2979B5"/>
            </a:solidFill>
          </a:ln>
        </p:spPr>
        <p:style>
          <a:lnRef idx="1">
            <a:schemeClr val="accent1"/>
          </a:lnRef>
          <a:fillRef idx="3">
            <a:schemeClr val="accent1"/>
          </a:fillRef>
          <a:effectRef idx="2">
            <a:schemeClr val="accent1"/>
          </a:effectRef>
          <a:fontRef idx="minor">
            <a:schemeClr val="lt1"/>
          </a:fontRef>
        </p:style>
        <p:txBody>
          <a:bodyPr rtlCol="0" anchor="ctr" lIns="274320" wrap="square"/>
          <a:lstStyle/>
          <a:p>
            <a:pPr algn="l"/>
            <a:r>
              <a:rPr b="1" sz="1500">
                <a:solidFill>
                  <a:srgbClr val="212121"/>
                </a:solidFill>
              </a:rPr>
              <a:t>Mobile-friendly UI</a:t>
            </a:r>
          </a:p>
        </p:txBody>
      </p:sp>
      <p:sp>
        <p:nvSpPr>
          <p:cNvPr id="33" name="Rectangle 32"/>
          <p:cNvSpPr/>
          <p:nvPr/>
        </p:nvSpPr>
        <p:spPr>
          <a:xfrm>
            <a:off x="8412480" y="4946904"/>
            <a:ext cx="164592" cy="96012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7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Implementation</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Frontend • Backend • Database</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3]</a:t>
            </a:r>
          </a:p>
        </p:txBody>
      </p:sp>
      <p:sp>
        <p:nvSpPr>
          <p:cNvPr id="10" name="Rounded Rectangle 9"/>
          <p:cNvSpPr/>
          <p:nvPr/>
        </p:nvSpPr>
        <p:spPr>
          <a:xfrm>
            <a:off x="822960" y="1554480"/>
            <a:ext cx="3657600" cy="4389120"/>
          </a:xfrm>
          <a:prstGeom prst="roundRect">
            <a:avLst/>
          </a:prstGeom>
          <a:solidFill>
            <a:srgbClr val="FFFFFF"/>
          </a:solidFill>
          <a:ln w="15875">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1554480"/>
            <a:ext cx="3657600"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700">
                <a:solidFill>
                  <a:srgbClr val="FAFAFA"/>
                </a:solidFill>
              </a:rPr>
              <a:t>Frontend (React)</a:t>
            </a:r>
          </a:p>
        </p:txBody>
      </p:sp>
      <p:sp>
        <p:nvSpPr>
          <p:cNvPr id="12" name="TextBox 11"/>
          <p:cNvSpPr txBox="1"/>
          <p:nvPr/>
        </p:nvSpPr>
        <p:spPr>
          <a:xfrm>
            <a:off x="1005840" y="2148840"/>
            <a:ext cx="3291840" cy="3703320"/>
          </a:xfrm>
          <a:prstGeom prst="rect">
            <a:avLst/>
          </a:prstGeom>
          <a:noFill/>
        </p:spPr>
        <p:txBody>
          <a:bodyPr wrap="square">
            <a:spAutoFit/>
          </a:bodyPr>
          <a:lstStyle/>
          <a:p>
            <a:pPr algn="l">
              <a:spcAft>
                <a:spcPts val="400"/>
              </a:spcAft>
            </a:pPr>
            <a:r>
              <a:rPr sz="1400" b="1">
                <a:solidFill>
                  <a:srgbClr val="4CAF50"/>
                </a:solidFill>
              </a:rPr>
              <a:t>•  </a:t>
            </a:r>
            <a:r>
              <a:rPr sz="1400">
                <a:solidFill>
                  <a:srgbClr val="212121"/>
                </a:solidFill>
              </a:rPr>
              <a:t>Interactive map view</a:t>
            </a:r>
          </a:p>
          <a:p>
            <a:pPr algn="l">
              <a:spcAft>
                <a:spcPts val="400"/>
              </a:spcAft>
            </a:pPr>
            <a:r>
              <a:rPr sz="1400" b="1">
                <a:solidFill>
                  <a:srgbClr val="4CAF50"/>
                </a:solidFill>
              </a:rPr>
              <a:t>•  </a:t>
            </a:r>
            <a:r>
              <a:rPr sz="1400">
                <a:solidFill>
                  <a:srgbClr val="212121"/>
                </a:solidFill>
              </a:rPr>
              <a:t>Search &amp; filter panel</a:t>
            </a:r>
          </a:p>
          <a:p>
            <a:pPr algn="l">
              <a:spcAft>
                <a:spcPts val="400"/>
              </a:spcAft>
            </a:pPr>
            <a:r>
              <a:rPr sz="1400" b="1">
                <a:solidFill>
                  <a:srgbClr val="4CAF50"/>
                </a:solidFill>
              </a:rPr>
              <a:t>•  </a:t>
            </a:r>
            <a:r>
              <a:rPr sz="1400">
                <a:solidFill>
                  <a:srgbClr val="212121"/>
                </a:solidFill>
              </a:rPr>
              <a:t>Item detail pages</a:t>
            </a:r>
          </a:p>
          <a:p>
            <a:pPr algn="l">
              <a:spcAft>
                <a:spcPts val="400"/>
              </a:spcAft>
            </a:pPr>
            <a:r>
              <a:rPr sz="1400" b="1">
                <a:solidFill>
                  <a:srgbClr val="4CAF50"/>
                </a:solidFill>
              </a:rPr>
              <a:t>•  </a:t>
            </a:r>
            <a:r>
              <a:rPr sz="1400">
                <a:solidFill>
                  <a:srgbClr val="212121"/>
                </a:solidFill>
              </a:rPr>
              <a:t>Comments section</a:t>
            </a:r>
          </a:p>
          <a:p>
            <a:pPr algn="l">
              <a:spcAft>
                <a:spcPts val="400"/>
              </a:spcAft>
            </a:pPr>
            <a:r>
              <a:rPr sz="1400" b="1">
                <a:solidFill>
                  <a:srgbClr val="4CAF50"/>
                </a:solidFill>
              </a:rPr>
              <a:t>•  </a:t>
            </a:r>
            <a:r>
              <a:rPr sz="1400">
                <a:solidFill>
                  <a:srgbClr val="212121"/>
                </a:solidFill>
              </a:rPr>
              <a:t>Favourites list</a:t>
            </a:r>
          </a:p>
        </p:txBody>
      </p:sp>
      <p:sp>
        <p:nvSpPr>
          <p:cNvPr id="13" name="Rounded Rectangle 12"/>
          <p:cNvSpPr/>
          <p:nvPr/>
        </p:nvSpPr>
        <p:spPr>
          <a:xfrm>
            <a:off x="4663440" y="1554480"/>
            <a:ext cx="3657600" cy="4389120"/>
          </a:xfrm>
          <a:prstGeom prst="roundRect">
            <a:avLst/>
          </a:prstGeom>
          <a:solidFill>
            <a:srgbClr val="FFFFFF"/>
          </a:solidFill>
          <a:ln w="15875">
            <a:solidFill>
              <a:srgbClr val="29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63440" y="1554480"/>
            <a:ext cx="3657600" cy="45720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700">
                <a:solidFill>
                  <a:srgbClr val="FAFAFA"/>
                </a:solidFill>
              </a:rPr>
              <a:t>Backend (FastAPI)</a:t>
            </a:r>
          </a:p>
        </p:txBody>
      </p:sp>
      <p:sp>
        <p:nvSpPr>
          <p:cNvPr id="15" name="TextBox 14"/>
          <p:cNvSpPr txBox="1"/>
          <p:nvPr/>
        </p:nvSpPr>
        <p:spPr>
          <a:xfrm>
            <a:off x="4846320" y="2148840"/>
            <a:ext cx="3291840" cy="3703320"/>
          </a:xfrm>
          <a:prstGeom prst="rect">
            <a:avLst/>
          </a:prstGeom>
          <a:noFill/>
        </p:spPr>
        <p:txBody>
          <a:bodyPr wrap="square">
            <a:spAutoFit/>
          </a:bodyPr>
          <a:lstStyle/>
          <a:p>
            <a:pPr algn="l">
              <a:spcAft>
                <a:spcPts val="400"/>
              </a:spcAft>
            </a:pPr>
            <a:r>
              <a:rPr sz="1400" b="1">
                <a:solidFill>
                  <a:srgbClr val="2979B5"/>
                </a:solidFill>
              </a:rPr>
              <a:t>•  </a:t>
            </a:r>
            <a:r>
              <a:rPr sz="1400">
                <a:solidFill>
                  <a:srgbClr val="212121"/>
                </a:solidFill>
              </a:rPr>
              <a:t>REST API endpoints</a:t>
            </a:r>
          </a:p>
          <a:p>
            <a:pPr algn="l">
              <a:spcAft>
                <a:spcPts val="400"/>
              </a:spcAft>
            </a:pPr>
            <a:r>
              <a:rPr sz="1400" b="1">
                <a:solidFill>
                  <a:srgbClr val="2979B5"/>
                </a:solidFill>
              </a:rPr>
              <a:t>•  </a:t>
            </a:r>
            <a:r>
              <a:rPr sz="1400">
                <a:solidFill>
                  <a:srgbClr val="212121"/>
                </a:solidFill>
              </a:rPr>
              <a:t>Region / difficulty filters</a:t>
            </a:r>
          </a:p>
          <a:p>
            <a:pPr algn="l">
              <a:spcAft>
                <a:spcPts val="400"/>
              </a:spcAft>
            </a:pPr>
            <a:r>
              <a:rPr sz="1400" b="1">
                <a:solidFill>
                  <a:srgbClr val="2979B5"/>
                </a:solidFill>
              </a:rPr>
              <a:t>•  </a:t>
            </a:r>
            <a:r>
              <a:rPr sz="1400">
                <a:solidFill>
                  <a:srgbClr val="212121"/>
                </a:solidFill>
              </a:rPr>
              <a:t>Nearby (15 km) search</a:t>
            </a:r>
          </a:p>
          <a:p>
            <a:pPr algn="l">
              <a:spcAft>
                <a:spcPts val="400"/>
              </a:spcAft>
            </a:pPr>
            <a:r>
              <a:rPr sz="1400" b="1">
                <a:solidFill>
                  <a:srgbClr val="2979B5"/>
                </a:solidFill>
              </a:rPr>
              <a:t>•  </a:t>
            </a:r>
            <a:r>
              <a:rPr sz="1400">
                <a:solidFill>
                  <a:srgbClr val="212121"/>
                </a:solidFill>
              </a:rPr>
              <a:t>Fuzzy search logic</a:t>
            </a:r>
          </a:p>
          <a:p>
            <a:pPr algn="l">
              <a:spcAft>
                <a:spcPts val="400"/>
              </a:spcAft>
            </a:pPr>
            <a:r>
              <a:rPr sz="1400" b="1">
                <a:solidFill>
                  <a:srgbClr val="2979B5"/>
                </a:solidFill>
              </a:rPr>
              <a:t>•  </a:t>
            </a:r>
            <a:r>
              <a:rPr sz="1400">
                <a:solidFill>
                  <a:srgbClr val="212121"/>
                </a:solidFill>
              </a:rPr>
              <a:t>Comments &amp; favourites</a:t>
            </a:r>
          </a:p>
        </p:txBody>
      </p:sp>
      <p:sp>
        <p:nvSpPr>
          <p:cNvPr id="16" name="Rounded Rectangle 15"/>
          <p:cNvSpPr/>
          <p:nvPr/>
        </p:nvSpPr>
        <p:spPr>
          <a:xfrm>
            <a:off x="8503920" y="1554480"/>
            <a:ext cx="3657600" cy="4389120"/>
          </a:xfrm>
          <a:prstGeom prst="roundRect">
            <a:avLst/>
          </a:prstGeom>
          <a:solidFill>
            <a:srgbClr val="FFFFFF"/>
          </a:solidFill>
          <a:ln w="15875">
            <a:solidFill>
              <a:srgbClr val="5D40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03920" y="1554480"/>
            <a:ext cx="3657600" cy="45720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700">
                <a:solidFill>
                  <a:srgbClr val="FAFAFA"/>
                </a:solidFill>
              </a:rPr>
              <a:t>Database (PostgreSQL)</a:t>
            </a:r>
          </a:p>
        </p:txBody>
      </p:sp>
      <p:sp>
        <p:nvSpPr>
          <p:cNvPr id="18" name="TextBox 17"/>
          <p:cNvSpPr txBox="1"/>
          <p:nvPr/>
        </p:nvSpPr>
        <p:spPr>
          <a:xfrm>
            <a:off x="8686800" y="2148840"/>
            <a:ext cx="3291840" cy="3703320"/>
          </a:xfrm>
          <a:prstGeom prst="rect">
            <a:avLst/>
          </a:prstGeom>
          <a:noFill/>
        </p:spPr>
        <p:txBody>
          <a:bodyPr wrap="square">
            <a:spAutoFit/>
          </a:bodyPr>
          <a:lstStyle/>
          <a:p>
            <a:pPr algn="l">
              <a:spcAft>
                <a:spcPts val="400"/>
              </a:spcAft>
            </a:pPr>
            <a:r>
              <a:rPr sz="1400" b="1">
                <a:solidFill>
                  <a:srgbClr val="5D4037"/>
                </a:solidFill>
              </a:rPr>
              <a:t>•  </a:t>
            </a:r>
            <a:r>
              <a:rPr sz="1400">
                <a:solidFill>
                  <a:srgbClr val="212121"/>
                </a:solidFill>
              </a:rPr>
              <a:t>tracks, huts, campsites</a:t>
            </a:r>
          </a:p>
          <a:p>
            <a:pPr algn="l">
              <a:spcAft>
                <a:spcPts val="400"/>
              </a:spcAft>
            </a:pPr>
            <a:r>
              <a:rPr sz="1400" b="1">
                <a:solidFill>
                  <a:srgbClr val="5D4037"/>
                </a:solidFill>
              </a:rPr>
              <a:t>•  </a:t>
            </a:r>
            <a:r>
              <a:rPr sz="1400">
                <a:solidFill>
                  <a:srgbClr val="212121"/>
                </a:solidFill>
              </a:rPr>
              <a:t>regions</a:t>
            </a:r>
          </a:p>
          <a:p>
            <a:pPr algn="l">
              <a:spcAft>
                <a:spcPts val="400"/>
              </a:spcAft>
            </a:pPr>
            <a:r>
              <a:rPr sz="1400" b="1">
                <a:solidFill>
                  <a:srgbClr val="5D4037"/>
                </a:solidFill>
              </a:rPr>
              <a:t>•  </a:t>
            </a:r>
            <a:r>
              <a:rPr sz="1400">
                <a:solidFill>
                  <a:srgbClr val="212121"/>
                </a:solidFill>
              </a:rPr>
              <a:t>users</a:t>
            </a:r>
          </a:p>
          <a:p>
            <a:pPr algn="l">
              <a:spcAft>
                <a:spcPts val="400"/>
              </a:spcAft>
            </a:pPr>
            <a:r>
              <a:rPr sz="1400" b="1">
                <a:solidFill>
                  <a:srgbClr val="5D4037"/>
                </a:solidFill>
              </a:rPr>
              <a:t>•  </a:t>
            </a:r>
            <a:r>
              <a:rPr sz="1400">
                <a:solidFill>
                  <a:srgbClr val="212121"/>
                </a:solidFill>
              </a:rPr>
              <a:t>comments</a:t>
            </a:r>
          </a:p>
          <a:p>
            <a:pPr algn="l">
              <a:spcAft>
                <a:spcPts val="400"/>
              </a:spcAft>
            </a:pPr>
            <a:r>
              <a:rPr sz="1400" b="1">
                <a:solidFill>
                  <a:srgbClr val="5D4037"/>
                </a:solidFill>
              </a:rPr>
              <a:t>•  </a:t>
            </a:r>
            <a:r>
              <a:rPr sz="1400">
                <a:solidFill>
                  <a:srgbClr val="212121"/>
                </a:solidFill>
              </a:rPr>
              <a:t>favourites</a:t>
            </a:r>
          </a:p>
        </p:txBody>
      </p:sp>
      <p:sp>
        <p:nvSpPr>
          <p:cNvPr id="19" name="Pentagon 18"/>
          <p:cNvSpPr/>
          <p:nvPr/>
        </p:nvSpPr>
        <p:spPr>
          <a:xfrm>
            <a:off x="822960" y="6080760"/>
            <a:ext cx="2651760" cy="502920"/>
          </a:xfrm>
          <a:prstGeom prst="homePlate">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AFAFA"/>
                </a:solidFill>
              </a:rPr>
              <a:t>1. Collect data</a:t>
            </a:r>
          </a:p>
        </p:txBody>
      </p:sp>
      <p:sp>
        <p:nvSpPr>
          <p:cNvPr id="20" name="Pentagon 19"/>
          <p:cNvSpPr/>
          <p:nvPr/>
        </p:nvSpPr>
        <p:spPr>
          <a:xfrm>
            <a:off x="3566160" y="6080760"/>
            <a:ext cx="2651760" cy="502920"/>
          </a:xfrm>
          <a:prstGeom prst="homePlat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AFAFA"/>
                </a:solidFill>
              </a:rPr>
              <a:t>2. Clean &amp; import</a:t>
            </a:r>
          </a:p>
        </p:txBody>
      </p:sp>
      <p:sp>
        <p:nvSpPr>
          <p:cNvPr id="21" name="Pentagon 20"/>
          <p:cNvSpPr/>
          <p:nvPr/>
        </p:nvSpPr>
        <p:spPr>
          <a:xfrm>
            <a:off x="6309360" y="6080760"/>
            <a:ext cx="2651760" cy="502920"/>
          </a:xfrm>
          <a:prstGeom prst="homePlate">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AFAFA"/>
                </a:solidFill>
              </a:rPr>
              <a:t>3. Expose APIs</a:t>
            </a:r>
          </a:p>
        </p:txBody>
      </p:sp>
      <p:sp>
        <p:nvSpPr>
          <p:cNvPr id="22" name="Pentagon 21"/>
          <p:cNvSpPr/>
          <p:nvPr/>
        </p:nvSpPr>
        <p:spPr>
          <a:xfrm>
            <a:off x="9052560" y="6080760"/>
            <a:ext cx="2651760" cy="502920"/>
          </a:xfrm>
          <a:prstGeom prst="homePlate">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AFAFA"/>
                </a:solidFill>
              </a:rPr>
              <a:t>4. Show on 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8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Demo — Home Page</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Search panel + region map</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4]</a:t>
            </a:r>
          </a:p>
        </p:txBody>
      </p:sp>
      <p:sp>
        <p:nvSpPr>
          <p:cNvPr id="10" name="Rounded Rectangle 9"/>
          <p:cNvSpPr/>
          <p:nvPr/>
        </p:nvSpPr>
        <p:spPr>
          <a:xfrm>
            <a:off x="822960" y="1463040"/>
            <a:ext cx="7315200" cy="4663440"/>
          </a:xfrm>
          <a:prstGeom prst="roundRect">
            <a:avLst/>
          </a:prstGeom>
          <a:solidFill>
            <a:srgbClr val="FFFFFF"/>
          </a:solidFill>
          <a:ln w="15875">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earch-waikato.png"/>
          <p:cNvPicPr>
            <a:picLocks noChangeAspect="1"/>
          </p:cNvPicPr>
          <p:nvPr/>
        </p:nvPicPr>
        <p:blipFill>
          <a:blip r:embed="rId2"/>
          <a:stretch>
            <a:fillRect/>
          </a:stretch>
        </p:blipFill>
        <p:spPr>
          <a:xfrm>
            <a:off x="914400" y="1554480"/>
            <a:ext cx="7132320" cy="3611880"/>
          </a:xfrm>
          <a:prstGeom prst="rect">
            <a:avLst/>
          </a:prstGeom>
        </p:spPr>
      </p:pic>
      <p:sp>
        <p:nvSpPr>
          <p:cNvPr id="12" name="TextBox 11"/>
          <p:cNvSpPr txBox="1"/>
          <p:nvPr/>
        </p:nvSpPr>
        <p:spPr>
          <a:xfrm>
            <a:off x="960120" y="5257800"/>
            <a:ext cx="7040880" cy="777240"/>
          </a:xfrm>
          <a:prstGeom prst="rect">
            <a:avLst/>
          </a:prstGeom>
          <a:noFill/>
        </p:spPr>
        <p:txBody>
          <a:bodyPr wrap="square" tIns="18288">
            <a:spAutoFit/>
          </a:bodyPr>
          <a:lstStyle/>
          <a:p>
            <a:pPr algn="l"/>
            <a:r>
              <a:rPr b="1" sz="1100">
                <a:solidFill>
                  <a:srgbClr val="1B5E20"/>
                </a:solidFill>
              </a:rPr>
              <a:t>Figure 1. </a:t>
            </a:r>
            <a:r>
              <a:rPr sz="1100">
                <a:solidFill>
                  <a:srgbClr val="555555"/>
                </a:solidFill>
              </a:rPr>
              <a:t>The KiwiTrail home page and search panel. Users choose a region, set the track difficulty, pick the item types (tracks, huts, campsites, weather stations) and optionally use a fuzzy search.</a:t>
            </a:r>
          </a:p>
        </p:txBody>
      </p:sp>
      <p:sp>
        <p:nvSpPr>
          <p:cNvPr id="13" name="Rounded Rectangle 12"/>
          <p:cNvSpPr/>
          <p:nvPr/>
        </p:nvSpPr>
        <p:spPr>
          <a:xfrm>
            <a:off x="8321040" y="1463040"/>
            <a:ext cx="3017520" cy="4663440"/>
          </a:xfrm>
          <a:prstGeom prst="roundRect">
            <a:avLst/>
          </a:prstGeom>
          <a:solidFill>
            <a:srgbClr val="FFFFFF"/>
          </a:solidFill>
          <a:ln w="15875">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1463040"/>
            <a:ext cx="3017520"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600">
                <a:solidFill>
                  <a:srgbClr val="FAFAFA"/>
                </a:solidFill>
              </a:rPr>
              <a:t>Search panel features</a:t>
            </a:r>
          </a:p>
        </p:txBody>
      </p:sp>
      <p:sp>
        <p:nvSpPr>
          <p:cNvPr id="15" name="TextBox 14"/>
          <p:cNvSpPr txBox="1"/>
          <p:nvPr/>
        </p:nvSpPr>
        <p:spPr>
          <a:xfrm>
            <a:off x="8503920" y="2057400"/>
            <a:ext cx="2651760" cy="3977640"/>
          </a:xfrm>
          <a:prstGeom prst="rect">
            <a:avLst/>
          </a:prstGeom>
          <a:noFill/>
        </p:spPr>
        <p:txBody>
          <a:bodyPr wrap="square">
            <a:spAutoFit/>
          </a:bodyPr>
          <a:lstStyle/>
          <a:p>
            <a:pPr algn="l">
              <a:spcAft>
                <a:spcPts val="400"/>
              </a:spcAft>
            </a:pPr>
            <a:r>
              <a:rPr sz="1300" b="1">
                <a:solidFill>
                  <a:srgbClr val="4CAF50"/>
                </a:solidFill>
              </a:rPr>
              <a:t>•  </a:t>
            </a:r>
            <a:r>
              <a:rPr sz="1300">
                <a:solidFill>
                  <a:srgbClr val="212121"/>
                </a:solidFill>
              </a:rPr>
              <a:t>Region selector</a:t>
            </a:r>
          </a:p>
          <a:p>
            <a:pPr algn="l">
              <a:spcAft>
                <a:spcPts val="400"/>
              </a:spcAft>
            </a:pPr>
            <a:r>
              <a:rPr sz="1300" b="1">
                <a:solidFill>
                  <a:srgbClr val="4CAF50"/>
                </a:solidFill>
              </a:rPr>
              <a:t>•  </a:t>
            </a:r>
            <a:r>
              <a:rPr sz="1300">
                <a:solidFill>
                  <a:srgbClr val="212121"/>
                </a:solidFill>
              </a:rPr>
              <a:t>Track difficulty filter</a:t>
            </a:r>
          </a:p>
          <a:p>
            <a:pPr algn="l">
              <a:spcAft>
                <a:spcPts val="400"/>
              </a:spcAft>
            </a:pPr>
            <a:r>
              <a:rPr sz="1300" b="1">
                <a:solidFill>
                  <a:srgbClr val="4CAF50"/>
                </a:solidFill>
              </a:rPr>
              <a:t>•  </a:t>
            </a:r>
            <a:r>
              <a:rPr sz="1300">
                <a:solidFill>
                  <a:srgbClr val="212121"/>
                </a:solidFill>
              </a:rPr>
              <a:t>Type filter — tracks, huts, campsites, weather stations</a:t>
            </a:r>
          </a:p>
          <a:p>
            <a:pPr algn="l">
              <a:spcAft>
                <a:spcPts val="400"/>
              </a:spcAft>
            </a:pPr>
            <a:r>
              <a:rPr sz="1300" b="1">
                <a:solidFill>
                  <a:srgbClr val="4CAF50"/>
                </a:solidFill>
              </a:rPr>
              <a:t>•  </a:t>
            </a:r>
            <a:r>
              <a:rPr sz="1300">
                <a:solidFill>
                  <a:srgbClr val="212121"/>
                </a:solidFill>
              </a:rPr>
              <a:t>Fuzzy place-name search</a:t>
            </a:r>
          </a:p>
          <a:p>
            <a:pPr algn="l">
              <a:spcAft>
                <a:spcPts val="400"/>
              </a:spcAft>
            </a:pPr>
            <a:r>
              <a:rPr sz="1300" b="1">
                <a:solidFill>
                  <a:srgbClr val="4CAF50"/>
                </a:solidFill>
              </a:rPr>
              <a:t>•  </a:t>
            </a:r>
            <a:r>
              <a:rPr sz="1300">
                <a:solidFill>
                  <a:srgbClr val="212121"/>
                </a:solidFill>
              </a:rPr>
              <a:t>Region boundary drawn on the map</a:t>
            </a:r>
          </a:p>
          <a:p>
            <a:pPr algn="l">
              <a:spcAft>
                <a:spcPts val="400"/>
              </a:spcAft>
            </a:pPr>
            <a:r>
              <a:rPr sz="1300" b="1">
                <a:solidFill>
                  <a:srgbClr val="4CAF50"/>
                </a:solidFill>
              </a:rPr>
              <a:t>•  </a:t>
            </a:r>
            <a:r>
              <a:rPr sz="1300">
                <a:solidFill>
                  <a:srgbClr val="212121"/>
                </a:solidFill>
              </a:rPr>
              <a:t>Live latitude / longitude readout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9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Demo — Search Result</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Track on map, detail panel, 3D elevation</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4]</a:t>
            </a:r>
          </a:p>
        </p:txBody>
      </p:sp>
      <p:sp>
        <p:nvSpPr>
          <p:cNvPr id="10" name="Rounded Rectangle 9"/>
          <p:cNvSpPr/>
          <p:nvPr/>
        </p:nvSpPr>
        <p:spPr>
          <a:xfrm>
            <a:off x="822960" y="1417320"/>
            <a:ext cx="5486400" cy="3291840"/>
          </a:xfrm>
          <a:prstGeom prst="roundRect">
            <a:avLst/>
          </a:prstGeom>
          <a:solidFill>
            <a:srgbClr val="FFFFFF"/>
          </a:solidFill>
          <a:ln w="15875">
            <a:solidFill>
              <a:srgbClr val="297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earch.png"/>
          <p:cNvPicPr>
            <a:picLocks noChangeAspect="1"/>
          </p:cNvPicPr>
          <p:nvPr/>
        </p:nvPicPr>
        <p:blipFill>
          <a:blip r:embed="rId2"/>
          <a:stretch>
            <a:fillRect/>
          </a:stretch>
        </p:blipFill>
        <p:spPr>
          <a:xfrm>
            <a:off x="914400" y="1508760"/>
            <a:ext cx="5303520" cy="2240280"/>
          </a:xfrm>
          <a:prstGeom prst="rect">
            <a:avLst/>
          </a:prstGeom>
        </p:spPr>
      </p:pic>
      <p:sp>
        <p:nvSpPr>
          <p:cNvPr id="12" name="TextBox 11"/>
          <p:cNvSpPr txBox="1"/>
          <p:nvPr/>
        </p:nvSpPr>
        <p:spPr>
          <a:xfrm>
            <a:off x="960120" y="3840480"/>
            <a:ext cx="5212080" cy="777240"/>
          </a:xfrm>
          <a:prstGeom prst="rect">
            <a:avLst/>
          </a:prstGeom>
          <a:noFill/>
        </p:spPr>
        <p:txBody>
          <a:bodyPr wrap="square" tIns="18288">
            <a:spAutoFit/>
          </a:bodyPr>
          <a:lstStyle/>
          <a:p>
            <a:pPr algn="l"/>
            <a:r>
              <a:rPr b="1" sz="1100">
                <a:solidFill>
                  <a:srgbClr val="1B5E20"/>
                </a:solidFill>
              </a:rPr>
              <a:t>Figure 2a. </a:t>
            </a:r>
            <a:r>
              <a:rPr sz="1100">
                <a:solidFill>
                  <a:srgbClr val="555555"/>
                </a:solidFill>
              </a:rPr>
              <a:t>Track shown on the 2D map with the detail panel: photo, description, difficulty, duration, type, and 'Track Details' link.</a:t>
            </a:r>
          </a:p>
        </p:txBody>
      </p:sp>
      <p:sp>
        <p:nvSpPr>
          <p:cNvPr id="13" name="Rounded Rectangle 12"/>
          <p:cNvSpPr/>
          <p:nvPr/>
        </p:nvSpPr>
        <p:spPr>
          <a:xfrm>
            <a:off x="6492240" y="1417320"/>
            <a:ext cx="4846320" cy="3291840"/>
          </a:xfrm>
          <a:prstGeom prst="roundRect">
            <a:avLst/>
          </a:prstGeom>
          <a:solidFill>
            <a:srgbClr val="FFFFFF"/>
          </a:solidFill>
          <a:ln w="15875">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ute-elevation.png"/>
          <p:cNvPicPr>
            <a:picLocks noChangeAspect="1"/>
          </p:cNvPicPr>
          <p:nvPr/>
        </p:nvPicPr>
        <p:blipFill>
          <a:blip r:embed="rId3"/>
          <a:stretch>
            <a:fillRect/>
          </a:stretch>
        </p:blipFill>
        <p:spPr>
          <a:xfrm>
            <a:off x="6583680" y="1508760"/>
            <a:ext cx="4663440" cy="2240280"/>
          </a:xfrm>
          <a:prstGeom prst="rect">
            <a:avLst/>
          </a:prstGeom>
        </p:spPr>
      </p:pic>
      <p:sp>
        <p:nvSpPr>
          <p:cNvPr id="15" name="TextBox 14"/>
          <p:cNvSpPr txBox="1"/>
          <p:nvPr/>
        </p:nvSpPr>
        <p:spPr>
          <a:xfrm>
            <a:off x="6629400" y="3840480"/>
            <a:ext cx="4572000" cy="777240"/>
          </a:xfrm>
          <a:prstGeom prst="rect">
            <a:avLst/>
          </a:prstGeom>
          <a:noFill/>
        </p:spPr>
        <p:txBody>
          <a:bodyPr wrap="square" tIns="18288">
            <a:spAutoFit/>
          </a:bodyPr>
          <a:lstStyle/>
          <a:p>
            <a:pPr algn="l"/>
            <a:r>
              <a:rPr b="1" sz="1100">
                <a:solidFill>
                  <a:srgbClr val="1B5E20"/>
                </a:solidFill>
              </a:rPr>
              <a:t>Figure 2b. </a:t>
            </a:r>
            <a:r>
              <a:rPr sz="1100">
                <a:solidFill>
                  <a:srgbClr val="555555"/>
                </a:solidFill>
              </a:rPr>
              <a:t>Route view with elevation profile — distance vs. elevation for the selected track (route 9 / 12, length 9329 m).</a:t>
            </a:r>
          </a:p>
        </p:txBody>
      </p:sp>
      <p:sp>
        <p:nvSpPr>
          <p:cNvPr id="16" name="Rounded Rectangle 15"/>
          <p:cNvSpPr/>
          <p:nvPr/>
        </p:nvSpPr>
        <p:spPr>
          <a:xfrm>
            <a:off x="822960" y="4846320"/>
            <a:ext cx="2606040" cy="1280160"/>
          </a:xfrm>
          <a:prstGeom prst="roundRect">
            <a:avLst/>
          </a:prstGeom>
          <a:solidFill>
            <a:srgbClr val="FFFFFF"/>
          </a:solidFill>
          <a:ln w="19050">
            <a:solidFill>
              <a:srgbClr val="297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846320"/>
            <a:ext cx="2606040" cy="36576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b="1" sz="1400">
                <a:solidFill>
                  <a:srgbClr val="FAFAFA"/>
                </a:solidFill>
              </a:rPr>
              <a:t>Directions</a:t>
            </a:r>
          </a:p>
        </p:txBody>
      </p:sp>
      <p:sp>
        <p:nvSpPr>
          <p:cNvPr id="18" name="TextBox 17"/>
          <p:cNvSpPr txBox="1"/>
          <p:nvPr/>
        </p:nvSpPr>
        <p:spPr>
          <a:xfrm>
            <a:off x="960120" y="5303520"/>
            <a:ext cx="2331720" cy="777240"/>
          </a:xfrm>
          <a:prstGeom prst="rect">
            <a:avLst/>
          </a:prstGeom>
          <a:noFill/>
        </p:spPr>
        <p:txBody>
          <a:bodyPr wrap="square">
            <a:spAutoFit/>
          </a:bodyPr>
          <a:lstStyle/>
          <a:p>
            <a:r>
              <a:rPr sz="1200">
                <a:solidFill>
                  <a:srgbClr val="212121"/>
                </a:solidFill>
              </a:rPr>
              <a:t>Open in Google Maps</a:t>
            </a:r>
          </a:p>
        </p:txBody>
      </p:sp>
      <p:sp>
        <p:nvSpPr>
          <p:cNvPr id="19" name="Rounded Rectangle 18"/>
          <p:cNvSpPr/>
          <p:nvPr/>
        </p:nvSpPr>
        <p:spPr>
          <a:xfrm>
            <a:off x="3566160" y="4846320"/>
            <a:ext cx="2606040" cy="1280160"/>
          </a:xfrm>
          <a:prstGeom prst="roundRect">
            <a:avLst/>
          </a:prstGeom>
          <a:solidFill>
            <a:srgbClr val="FFFFFF"/>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566160" y="4846320"/>
            <a:ext cx="2606040" cy="36576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b="1" sz="1400">
                <a:solidFill>
                  <a:srgbClr val="FAFAFA"/>
                </a:solidFill>
              </a:rPr>
              <a:t>Weather</a:t>
            </a:r>
          </a:p>
        </p:txBody>
      </p:sp>
      <p:sp>
        <p:nvSpPr>
          <p:cNvPr id="21" name="TextBox 20"/>
          <p:cNvSpPr txBox="1"/>
          <p:nvPr/>
        </p:nvSpPr>
        <p:spPr>
          <a:xfrm>
            <a:off x="3703320" y="5303520"/>
            <a:ext cx="2331720" cy="777240"/>
          </a:xfrm>
          <a:prstGeom prst="rect">
            <a:avLst/>
          </a:prstGeom>
          <a:noFill/>
        </p:spPr>
        <p:txBody>
          <a:bodyPr wrap="square">
            <a:spAutoFit/>
          </a:bodyPr>
          <a:lstStyle/>
          <a:p>
            <a:r>
              <a:rPr sz="1200">
                <a:solidFill>
                  <a:srgbClr val="212121"/>
                </a:solidFill>
              </a:rPr>
              <a:t>NIWA forecast widget</a:t>
            </a:r>
          </a:p>
        </p:txBody>
      </p:sp>
      <p:sp>
        <p:nvSpPr>
          <p:cNvPr id="22" name="Rounded Rectangle 21"/>
          <p:cNvSpPr/>
          <p:nvPr/>
        </p:nvSpPr>
        <p:spPr>
          <a:xfrm>
            <a:off x="6309360" y="4846320"/>
            <a:ext cx="2606040" cy="1280160"/>
          </a:xfrm>
          <a:prstGeom prst="roundRect">
            <a:avLst/>
          </a:prstGeom>
          <a:solidFill>
            <a:srgbClr val="FFFFFF"/>
          </a:solidFill>
          <a:ln w="19050">
            <a:solidFill>
              <a:srgbClr val="5D4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4846320"/>
            <a:ext cx="2606040" cy="36576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b="1" sz="1400">
                <a:solidFill>
                  <a:srgbClr val="FAFAFA"/>
                </a:solidFill>
              </a:rPr>
              <a:t>Comments</a:t>
            </a:r>
          </a:p>
        </p:txBody>
      </p:sp>
      <p:sp>
        <p:nvSpPr>
          <p:cNvPr id="24" name="TextBox 23"/>
          <p:cNvSpPr txBox="1"/>
          <p:nvPr/>
        </p:nvSpPr>
        <p:spPr>
          <a:xfrm>
            <a:off x="6446520" y="5303520"/>
            <a:ext cx="2331720" cy="777240"/>
          </a:xfrm>
          <a:prstGeom prst="rect">
            <a:avLst/>
          </a:prstGeom>
          <a:noFill/>
        </p:spPr>
        <p:txBody>
          <a:bodyPr wrap="square">
            <a:spAutoFit/>
          </a:bodyPr>
          <a:lstStyle/>
          <a:p>
            <a:r>
              <a:rPr sz="1200">
                <a:solidFill>
                  <a:srgbClr val="212121"/>
                </a:solidFill>
              </a:rPr>
              <a:t>Read &amp; post comments</a:t>
            </a:r>
          </a:p>
        </p:txBody>
      </p:sp>
      <p:sp>
        <p:nvSpPr>
          <p:cNvPr id="25" name="Rounded Rectangle 24"/>
          <p:cNvSpPr/>
          <p:nvPr/>
        </p:nvSpPr>
        <p:spPr>
          <a:xfrm>
            <a:off x="9052560" y="4846320"/>
            <a:ext cx="2606040" cy="1280160"/>
          </a:xfrm>
          <a:prstGeom prst="roundRect">
            <a:avLst/>
          </a:prstGeom>
          <a:solidFill>
            <a:srgbClr val="FFFFFF"/>
          </a:solidFill>
          <a:ln w="19050">
            <a:solidFill>
              <a:srgbClr val="E6A8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0" y="4846320"/>
            <a:ext cx="2606040" cy="365760"/>
          </a:xfrm>
          <a:prstGeom prst="rect">
            <a:avLst/>
          </a:prstGeom>
          <a:solidFill>
            <a:srgbClr val="E6A817"/>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b="1" sz="1400">
                <a:solidFill>
                  <a:srgbClr val="FAFAFA"/>
                </a:solidFill>
              </a:rPr>
              <a:t>Favourites</a:t>
            </a:r>
          </a:p>
        </p:txBody>
      </p:sp>
      <p:sp>
        <p:nvSpPr>
          <p:cNvPr id="27" name="TextBox 26"/>
          <p:cNvSpPr txBox="1"/>
          <p:nvPr/>
        </p:nvSpPr>
        <p:spPr>
          <a:xfrm>
            <a:off x="9189720" y="5303520"/>
            <a:ext cx="2331720" cy="777240"/>
          </a:xfrm>
          <a:prstGeom prst="rect">
            <a:avLst/>
          </a:prstGeom>
          <a:noFill/>
        </p:spPr>
        <p:txBody>
          <a:bodyPr wrap="square">
            <a:spAutoFit/>
          </a:bodyPr>
          <a:lstStyle/>
          <a:p>
            <a:r>
              <a:rPr sz="1200">
                <a:solidFill>
                  <a:srgbClr val="212121"/>
                </a:solidFill>
              </a:rPr>
              <a:t>Save for later</a:t>
            </a:r>
          </a:p>
        </p:txBody>
      </p:sp>
      <p:sp>
        <p:nvSpPr>
          <p:cNvPr id="28" name="TextBox 27"/>
          <p:cNvSpPr txBox="1"/>
          <p:nvPr/>
        </p:nvSpPr>
        <p:spPr>
          <a:xfrm>
            <a:off x="822960" y="6172200"/>
            <a:ext cx="10515600" cy="274320"/>
          </a:xfrm>
          <a:prstGeom prst="rect">
            <a:avLst/>
          </a:prstGeom>
          <a:noFill/>
        </p:spPr>
        <p:txBody>
          <a:bodyPr wrap="none">
            <a:spAutoFit/>
          </a:bodyPr>
          <a:lstStyle/>
          <a:p>
            <a:r>
              <a:rPr sz="1100" i="1">
                <a:solidFill>
                  <a:srgbClr val="555555"/>
                </a:solidFill>
              </a:rPr>
              <a:t>Detail panel actions — Directions, Weather, Comments, and Favourites — for each selected track.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10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Challenges &amp; Solutions</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What we learned along the way</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4]</a:t>
            </a:r>
          </a:p>
        </p:txBody>
      </p:sp>
      <p:sp>
        <p:nvSpPr>
          <p:cNvPr id="10" name="Rounded Rectangle 9"/>
          <p:cNvSpPr/>
          <p:nvPr/>
        </p:nvSpPr>
        <p:spPr>
          <a:xfrm>
            <a:off x="822960" y="1463040"/>
            <a:ext cx="5349240" cy="2194560"/>
          </a:xfrm>
          <a:prstGeom prst="roundRect">
            <a:avLst/>
          </a:prstGeom>
          <a:solidFill>
            <a:srgbClr val="FFFFFF"/>
          </a:solid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1463040"/>
            <a:ext cx="5349240"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ctr"/>
            <a:r>
              <a:rPr b="1" sz="1400">
                <a:solidFill>
                  <a:srgbClr val="FAFAFA"/>
                </a:solidFill>
              </a:rPr>
              <a:t>Challenge 1:  Data from multiple sources</a:t>
            </a:r>
          </a:p>
        </p:txBody>
      </p:sp>
      <p:sp>
        <p:nvSpPr>
          <p:cNvPr id="12" name="TextBox 11"/>
          <p:cNvSpPr txBox="1"/>
          <p:nvPr/>
        </p:nvSpPr>
        <p:spPr>
          <a:xfrm>
            <a:off x="1005840" y="2103120"/>
            <a:ext cx="4983480" cy="1463040"/>
          </a:xfrm>
          <a:prstGeom prst="rect">
            <a:avLst/>
          </a:prstGeom>
          <a:noFill/>
        </p:spPr>
        <p:txBody>
          <a:bodyPr wrap="square">
            <a:spAutoFit/>
          </a:bodyPr>
          <a:lstStyle/>
          <a:p>
            <a:r>
              <a:rPr b="1" sz="1400">
                <a:solidFill>
                  <a:srgbClr val="1B5E20"/>
                </a:solidFill>
              </a:rPr>
              <a:t>Solution:  </a:t>
            </a:r>
            <a:r>
              <a:rPr sz="1400">
                <a:solidFill>
                  <a:srgbClr val="212121"/>
                </a:solidFill>
              </a:rPr>
              <a:t>Cleaned and unified DOC, LINZ and region data in PostgreSQL.</a:t>
            </a:r>
          </a:p>
        </p:txBody>
      </p:sp>
      <p:sp>
        <p:nvSpPr>
          <p:cNvPr id="13" name="Rounded Rectangle 12"/>
          <p:cNvSpPr/>
          <p:nvPr/>
        </p:nvSpPr>
        <p:spPr>
          <a:xfrm>
            <a:off x="6400800" y="1463040"/>
            <a:ext cx="5349240" cy="2194560"/>
          </a:xfrm>
          <a:prstGeom prst="roundRect">
            <a:avLst/>
          </a:prstGeom>
          <a:solidFill>
            <a:srgbClr val="FFFFFF"/>
          </a:solidFill>
          <a:ln w="19050">
            <a:solidFill>
              <a:srgbClr val="297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463040"/>
            <a:ext cx="5349240" cy="50292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ctr"/>
            <a:r>
              <a:rPr b="1" sz="1400">
                <a:solidFill>
                  <a:srgbClr val="FAFAFA"/>
                </a:solidFill>
              </a:rPr>
              <a:t>Challenge 2:  Showing geographic data on a map</a:t>
            </a:r>
          </a:p>
        </p:txBody>
      </p:sp>
      <p:sp>
        <p:nvSpPr>
          <p:cNvPr id="15" name="TextBox 14"/>
          <p:cNvSpPr txBox="1"/>
          <p:nvPr/>
        </p:nvSpPr>
        <p:spPr>
          <a:xfrm>
            <a:off x="6583680" y="2103120"/>
            <a:ext cx="4983480" cy="1463040"/>
          </a:xfrm>
          <a:prstGeom prst="rect">
            <a:avLst/>
          </a:prstGeom>
          <a:noFill/>
        </p:spPr>
        <p:txBody>
          <a:bodyPr wrap="square">
            <a:spAutoFit/>
          </a:bodyPr>
          <a:lstStyle/>
          <a:p>
            <a:r>
              <a:rPr b="1" sz="1400">
                <a:solidFill>
                  <a:srgbClr val="2979B5"/>
                </a:solidFill>
              </a:rPr>
              <a:t>Solution:  </a:t>
            </a:r>
            <a:r>
              <a:rPr sz="1400">
                <a:solidFill>
                  <a:srgbClr val="212121"/>
                </a:solidFill>
              </a:rPr>
              <a:t>Used LINZ map tiles and lat/long coordinates for visual display.</a:t>
            </a:r>
          </a:p>
        </p:txBody>
      </p:sp>
      <p:sp>
        <p:nvSpPr>
          <p:cNvPr id="16" name="Rounded Rectangle 15"/>
          <p:cNvSpPr/>
          <p:nvPr/>
        </p:nvSpPr>
        <p:spPr>
          <a:xfrm>
            <a:off x="822960" y="3886200"/>
            <a:ext cx="5349240" cy="2194560"/>
          </a:xfrm>
          <a:prstGeom prst="roundRect">
            <a:avLst/>
          </a:prstGeom>
          <a:solidFill>
            <a:srgbClr val="FFFFFF"/>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3886200"/>
            <a:ext cx="5349240" cy="50292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ctr"/>
            <a:r>
              <a:rPr b="1" sz="1400">
                <a:solidFill>
                  <a:srgbClr val="FAFAFA"/>
                </a:solidFill>
              </a:rPr>
              <a:t>Challenge 3:  Helping users find places fast</a:t>
            </a:r>
          </a:p>
        </p:txBody>
      </p:sp>
      <p:sp>
        <p:nvSpPr>
          <p:cNvPr id="18" name="TextBox 17"/>
          <p:cNvSpPr txBox="1"/>
          <p:nvPr/>
        </p:nvSpPr>
        <p:spPr>
          <a:xfrm>
            <a:off x="1005840" y="4526280"/>
            <a:ext cx="4983480" cy="1463040"/>
          </a:xfrm>
          <a:prstGeom prst="rect">
            <a:avLst/>
          </a:prstGeom>
          <a:noFill/>
        </p:spPr>
        <p:txBody>
          <a:bodyPr wrap="square">
            <a:spAutoFit/>
          </a:bodyPr>
          <a:lstStyle/>
          <a:p>
            <a:r>
              <a:rPr b="1" sz="1400">
                <a:solidFill>
                  <a:srgbClr val="4CAF50"/>
                </a:solidFill>
              </a:rPr>
              <a:t>Solution:  </a:t>
            </a:r>
            <a:r>
              <a:rPr sz="1400">
                <a:solidFill>
                  <a:srgbClr val="212121"/>
                </a:solidFill>
              </a:rPr>
              <a:t>Added fuzzy search, filters, and 15 km nearby search.</a:t>
            </a:r>
          </a:p>
        </p:txBody>
      </p:sp>
      <p:sp>
        <p:nvSpPr>
          <p:cNvPr id="19" name="Rounded Rectangle 18"/>
          <p:cNvSpPr/>
          <p:nvPr/>
        </p:nvSpPr>
        <p:spPr>
          <a:xfrm>
            <a:off x="6400800" y="3886200"/>
            <a:ext cx="5349240" cy="2194560"/>
          </a:xfrm>
          <a:prstGeom prst="roundRect">
            <a:avLst/>
          </a:prstGeom>
          <a:solidFill>
            <a:srgbClr val="FFFFFF"/>
          </a:solidFill>
          <a:ln w="19050">
            <a:solidFill>
              <a:srgbClr val="5D4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3886200"/>
            <a:ext cx="5349240" cy="50292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ctr"/>
            <a:r>
              <a:rPr b="1" sz="1400">
                <a:solidFill>
                  <a:srgbClr val="FAFAFA"/>
                </a:solidFill>
              </a:rPr>
              <a:t>Challenge 4:  Better trip-planning experience</a:t>
            </a:r>
          </a:p>
        </p:txBody>
      </p:sp>
      <p:sp>
        <p:nvSpPr>
          <p:cNvPr id="21" name="TextBox 20"/>
          <p:cNvSpPr txBox="1"/>
          <p:nvPr/>
        </p:nvSpPr>
        <p:spPr>
          <a:xfrm>
            <a:off x="6583680" y="4526280"/>
            <a:ext cx="4983480" cy="1463040"/>
          </a:xfrm>
          <a:prstGeom prst="rect">
            <a:avLst/>
          </a:prstGeom>
          <a:noFill/>
        </p:spPr>
        <p:txBody>
          <a:bodyPr wrap="square">
            <a:spAutoFit/>
          </a:bodyPr>
          <a:lstStyle/>
          <a:p>
            <a:r>
              <a:rPr b="1" sz="1400">
                <a:solidFill>
                  <a:srgbClr val="5D4037"/>
                </a:solidFill>
              </a:rPr>
              <a:t>Solution:  </a:t>
            </a:r>
            <a:r>
              <a:rPr sz="1400">
                <a:solidFill>
                  <a:srgbClr val="212121"/>
                </a:solidFill>
              </a:rPr>
              <a:t>Added weather, Google Maps links, comments and favourites.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lIns="0" rIns="0">
            <a:spAutoFit/>
          </a:bodyPr>
          <a:lstStyle/>
          <a:p>
            <a:pPr algn="l"/>
            <a:r>
              <a:rPr sz="1000" i="1">
                <a:solidFill>
                  <a:srgbClr val="1B5E20"/>
                </a:solidFill>
              </a:rPr>
              <a:t>Kiwi Trail  |  570 Programming Project</a:t>
            </a:r>
          </a:p>
        </p:txBody>
      </p:sp>
      <p:sp>
        <p:nvSpPr>
          <p:cNvPr id="5" name="TextBox 4"/>
          <p:cNvSpPr txBox="1"/>
          <p:nvPr/>
        </p:nvSpPr>
        <p:spPr>
          <a:xfrm>
            <a:off x="11064240" y="6446520"/>
            <a:ext cx="1005840" cy="320040"/>
          </a:xfrm>
          <a:prstGeom prst="rect">
            <a:avLst/>
          </a:prstGeom>
          <a:noFill/>
        </p:spPr>
        <p:txBody>
          <a:bodyPr wrap="none" lIns="0" rIns="0">
            <a:spAutoFit/>
          </a:bodyPr>
          <a:lstStyle/>
          <a:p>
            <a:pPr algn="r"/>
            <a:r>
              <a:rPr sz="1000" i="1">
                <a:solidFill>
                  <a:srgbClr val="555555"/>
                </a:solidFill>
              </a:rPr>
              <a:t>11 / 12</a:t>
            </a:r>
          </a:p>
        </p:txBody>
      </p:sp>
      <p:sp>
        <p:nvSpPr>
          <p:cNvPr id="6" name="TextBox 5"/>
          <p:cNvSpPr txBox="1"/>
          <p:nvPr/>
        </p:nvSpPr>
        <p:spPr>
          <a:xfrm>
            <a:off x="640080" y="365760"/>
            <a:ext cx="10972800" cy="822960"/>
          </a:xfrm>
          <a:prstGeom prst="rect">
            <a:avLst/>
          </a:prstGeom>
          <a:noFill/>
        </p:spPr>
        <p:txBody>
          <a:bodyPr wrap="none" lIns="0" rIns="0">
            <a:spAutoFit/>
          </a:bodyPr>
          <a:lstStyle/>
          <a:p>
            <a:pPr algn="l"/>
            <a:r>
              <a:rPr sz="3000" b="1">
                <a:solidFill>
                  <a:srgbClr val="1B5E20"/>
                </a:solidFill>
              </a:rPr>
              <a:t>Future Work &amp; Conclusion</a:t>
            </a:r>
          </a:p>
        </p:txBody>
      </p:sp>
      <p:sp>
        <p:nvSpPr>
          <p:cNvPr id="7" name="Rectangle 6"/>
          <p:cNvSpPr/>
          <p:nvPr/>
        </p:nvSpPr>
        <p:spPr>
          <a:xfrm>
            <a:off x="658368" y="1078992"/>
            <a:ext cx="914400"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66928"/>
            <a:ext cx="9601200" cy="457200"/>
          </a:xfrm>
          <a:prstGeom prst="rect">
            <a:avLst/>
          </a:prstGeom>
          <a:noFill/>
        </p:spPr>
        <p:txBody>
          <a:bodyPr wrap="none">
            <a:spAutoFit/>
          </a:bodyPr>
          <a:lstStyle/>
          <a:p>
            <a:pPr algn="l"/>
            <a:r>
              <a:rPr sz="1400" i="1">
                <a:solidFill>
                  <a:srgbClr val="555555"/>
                </a:solidFill>
              </a:rPr>
              <a:t>  •  Where Kiwi Trail can go next</a:t>
            </a:r>
          </a:p>
        </p:txBody>
      </p:sp>
      <p:sp>
        <p:nvSpPr>
          <p:cNvPr id="9" name="Rounded Rectangle 8"/>
          <p:cNvSpPr/>
          <p:nvPr/>
        </p:nvSpPr>
        <p:spPr>
          <a:xfrm>
            <a:off x="9692640" y="411480"/>
            <a:ext cx="2331720" cy="384048"/>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AFAFA"/>
                </a:solidFill>
              </a:rPr>
              <a:t>Presenter: [Member 4]</a:t>
            </a:r>
          </a:p>
        </p:txBody>
      </p:sp>
      <p:sp>
        <p:nvSpPr>
          <p:cNvPr id="10" name="Rounded Rectangle 9"/>
          <p:cNvSpPr/>
          <p:nvPr/>
        </p:nvSpPr>
        <p:spPr>
          <a:xfrm>
            <a:off x="822960" y="1463040"/>
            <a:ext cx="5486400" cy="4663440"/>
          </a:xfrm>
          <a:prstGeom prst="roundRect">
            <a:avLst/>
          </a:prstGeom>
          <a:solidFill>
            <a:srgbClr val="FFFFFF"/>
          </a:solidFill>
          <a:ln w="15875">
            <a:solidFill>
              <a:srgbClr val="29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1463040"/>
            <a:ext cx="5486400" cy="457200"/>
          </a:xfrm>
          <a:prstGeom prst="rect">
            <a:avLst/>
          </a:prstGeom>
          <a:solidFill>
            <a:srgbClr val="2979B5"/>
          </a:solidFill>
          <a:ln>
            <a:noFill/>
          </a:ln>
        </p:spPr>
        <p:style>
          <a:lnRef idx="1">
            <a:schemeClr val="accent1"/>
          </a:lnRef>
          <a:fillRef idx="3">
            <a:schemeClr val="accent1"/>
          </a:fillRef>
          <a:effectRef idx="2">
            <a:schemeClr val="accent1"/>
          </a:effectRef>
          <a:fontRef idx="minor">
            <a:schemeClr val="lt1"/>
          </a:fontRef>
        </p:style>
        <p:txBody>
          <a:bodyPr rtlCol="0" anchor="ctr" lIns="182880" tIns="64008"/>
          <a:lstStyle/>
          <a:p>
            <a:pPr algn="l"/>
            <a:r>
              <a:rPr b="1" sz="1800">
                <a:solidFill>
                  <a:srgbClr val="FAFAFA"/>
                </a:solidFill>
              </a:rPr>
              <a:t>Future Improvements</a:t>
            </a:r>
          </a:p>
        </p:txBody>
      </p:sp>
      <p:sp>
        <p:nvSpPr>
          <p:cNvPr id="12" name="TextBox 11"/>
          <p:cNvSpPr txBox="1"/>
          <p:nvPr/>
        </p:nvSpPr>
        <p:spPr>
          <a:xfrm>
            <a:off x="1005840" y="2057400"/>
            <a:ext cx="5120640" cy="3977640"/>
          </a:xfrm>
          <a:prstGeom prst="rect">
            <a:avLst/>
          </a:prstGeom>
          <a:noFill/>
        </p:spPr>
        <p:txBody>
          <a:bodyPr wrap="square">
            <a:spAutoFit/>
          </a:bodyPr>
          <a:lstStyle/>
          <a:p>
            <a:pPr algn="l">
              <a:spcAft>
                <a:spcPts val="400"/>
              </a:spcAft>
            </a:pPr>
            <a:r>
              <a:rPr sz="1500" b="1">
                <a:solidFill>
                  <a:srgbClr val="2979B5"/>
                </a:solidFill>
              </a:rPr>
              <a:t>•  </a:t>
            </a:r>
            <a:r>
              <a:rPr sz="1500">
                <a:solidFill>
                  <a:srgbClr val="212121"/>
                </a:solidFill>
              </a:rPr>
              <a:t>User login &amp; profiles</a:t>
            </a:r>
          </a:p>
          <a:p>
            <a:pPr algn="l">
              <a:spcAft>
                <a:spcPts val="400"/>
              </a:spcAft>
            </a:pPr>
            <a:r>
              <a:rPr sz="1500" b="1">
                <a:solidFill>
                  <a:srgbClr val="2979B5"/>
                </a:solidFill>
              </a:rPr>
              <a:t>•  </a:t>
            </a:r>
            <a:r>
              <a:rPr sz="1500">
                <a:solidFill>
                  <a:srgbClr val="212121"/>
                </a:solidFill>
              </a:rPr>
              <a:t>Trip planning itinerary</a:t>
            </a:r>
          </a:p>
          <a:p>
            <a:pPr algn="l">
              <a:spcAft>
                <a:spcPts val="400"/>
              </a:spcAft>
            </a:pPr>
            <a:r>
              <a:rPr sz="1500" b="1">
                <a:solidFill>
                  <a:srgbClr val="2979B5"/>
                </a:solidFill>
              </a:rPr>
              <a:t>•  </a:t>
            </a:r>
            <a:r>
              <a:rPr sz="1500">
                <a:solidFill>
                  <a:srgbClr val="212121"/>
                </a:solidFill>
              </a:rPr>
              <a:t>Offline map support</a:t>
            </a:r>
          </a:p>
          <a:p>
            <a:pPr algn="l">
              <a:spcAft>
                <a:spcPts val="400"/>
              </a:spcAft>
            </a:pPr>
            <a:r>
              <a:rPr sz="1500" b="1">
                <a:solidFill>
                  <a:srgbClr val="2979B5"/>
                </a:solidFill>
              </a:rPr>
              <a:t>•  </a:t>
            </a:r>
            <a:r>
              <a:rPr sz="1500">
                <a:solidFill>
                  <a:srgbClr val="212121"/>
                </a:solidFill>
              </a:rPr>
              <a:t>Safety alerts &amp; track condition updates</a:t>
            </a:r>
          </a:p>
          <a:p>
            <a:pPr algn="l">
              <a:spcAft>
                <a:spcPts val="400"/>
              </a:spcAft>
            </a:pPr>
            <a:r>
              <a:rPr sz="1500" b="1">
                <a:solidFill>
                  <a:srgbClr val="2979B5"/>
                </a:solidFill>
              </a:rPr>
              <a:t>•  </a:t>
            </a:r>
            <a:r>
              <a:rPr sz="1500">
                <a:solidFill>
                  <a:srgbClr val="212121"/>
                </a:solidFill>
              </a:rPr>
              <a:t>User-uploaded photos</a:t>
            </a:r>
          </a:p>
          <a:p>
            <a:pPr algn="l">
              <a:spcAft>
                <a:spcPts val="400"/>
              </a:spcAft>
            </a:pPr>
            <a:r>
              <a:rPr sz="1500" b="1">
                <a:solidFill>
                  <a:srgbClr val="2979B5"/>
                </a:solidFill>
              </a:rPr>
              <a:t>•  </a:t>
            </a:r>
            <a:r>
              <a:rPr sz="1500">
                <a:solidFill>
                  <a:srgbClr val="212121"/>
                </a:solidFill>
              </a:rPr>
              <a:t>Mobile app version</a:t>
            </a:r>
          </a:p>
          <a:p>
            <a:pPr algn="l">
              <a:spcAft>
                <a:spcPts val="400"/>
              </a:spcAft>
            </a:pPr>
            <a:r>
              <a:rPr sz="1500" b="1">
                <a:solidFill>
                  <a:srgbClr val="2979B5"/>
                </a:solidFill>
              </a:rPr>
              <a:t>•  </a:t>
            </a:r>
            <a:r>
              <a:rPr sz="1500">
                <a:solidFill>
                  <a:srgbClr val="212121"/>
                </a:solidFill>
              </a:rPr>
              <a:t>Personalised recommendations</a:t>
            </a:r>
          </a:p>
        </p:txBody>
      </p:sp>
      <p:sp>
        <p:nvSpPr>
          <p:cNvPr id="13" name="Rounded Rectangle 12"/>
          <p:cNvSpPr/>
          <p:nvPr/>
        </p:nvSpPr>
        <p:spPr>
          <a:xfrm>
            <a:off x="6492240" y="1463040"/>
            <a:ext cx="4846320" cy="4663440"/>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r>
              <a:rPr b="1" sz="2200">
                <a:solidFill>
                  <a:srgbClr val="E6A817"/>
                </a:solidFill>
              </a:rPr>
              <a:t>Conclusion</a:t>
            </a:r>
          </a:p>
          <a:p>
            <a:pPr>
              <a:spcBef>
                <a:spcPts val="1000"/>
              </a:spcBef>
            </a:pPr>
            <a:r>
              <a:rPr sz="1600">
                <a:solidFill>
                  <a:srgbClr val="FAFAFA"/>
                </a:solidFill>
              </a:rPr>
              <a:t>•  Kiwi Trail brings NZ outdoor data together in one place.</a:t>
            </a:r>
          </a:p>
          <a:p>
            <a:pPr>
              <a:spcBef>
                <a:spcPts val="1000"/>
              </a:spcBef>
            </a:pPr>
            <a:r>
              <a:rPr sz="1600">
                <a:solidFill>
                  <a:srgbClr val="FAFAFA"/>
                </a:solidFill>
              </a:rPr>
              <a:t>•  Search, filter, map, weather, navigation — all in one app.</a:t>
            </a:r>
          </a:p>
          <a:p>
            <a:pPr>
              <a:spcBef>
                <a:spcPts val="1000"/>
              </a:spcBef>
            </a:pPr>
            <a:r>
              <a:rPr sz="1600">
                <a:solidFill>
                  <a:srgbClr val="FAFAFA"/>
                </a:solidFill>
              </a:rPr>
              <a:t>•  Helps both locals and visitors plan trips quickly &amp; safely.</a:t>
            </a:r>
          </a:p>
          <a:p>
            <a:pPr>
              <a:spcBef>
                <a:spcPts val="1800"/>
              </a:spcBef>
            </a:pPr>
            <a:r>
              <a:rPr b="1" sz="2200">
                <a:solidFill>
                  <a:srgbClr val="E6A817"/>
                </a:solidFill>
              </a:rPr>
              <a:t>Thank you!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4114800" cy="411480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0" y="4572000"/>
            <a:ext cx="4572000" cy="4572000"/>
          </a:xfrm>
          <a:prstGeom prst="ellipse">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0"/>
            <a:ext cx="10972800" cy="3200400"/>
          </a:xfrm>
          <a:prstGeom prst="rect">
            <a:avLst/>
          </a:prstGeom>
          <a:noFill/>
        </p:spPr>
        <p:txBody>
          <a:bodyPr wrap="none">
            <a:spAutoFit/>
          </a:bodyPr>
          <a:lstStyle/>
          <a:p>
            <a:pPr algn="ctr"/>
            <a:r>
              <a:rPr sz="12000" b="1">
                <a:solidFill>
                  <a:srgbClr val="FAFAFA"/>
                </a:solidFill>
              </a:rPr>
              <a:t>Q &amp; A</a:t>
            </a:r>
          </a:p>
        </p:txBody>
      </p:sp>
      <p:sp>
        <p:nvSpPr>
          <p:cNvPr id="6" name="TextBox 5"/>
          <p:cNvSpPr txBox="1"/>
          <p:nvPr/>
        </p:nvSpPr>
        <p:spPr>
          <a:xfrm>
            <a:off x="731520" y="4023360"/>
            <a:ext cx="10972800" cy="914400"/>
          </a:xfrm>
          <a:prstGeom prst="rect">
            <a:avLst/>
          </a:prstGeom>
          <a:noFill/>
        </p:spPr>
        <p:txBody>
          <a:bodyPr wrap="none">
            <a:spAutoFit/>
          </a:bodyPr>
          <a:lstStyle/>
          <a:p>
            <a:pPr algn="ctr"/>
            <a:r>
              <a:rPr sz="2200" i="1">
                <a:solidFill>
                  <a:srgbClr val="FAFAFA"/>
                </a:solidFill>
              </a:rPr>
              <a:t>We'd love to hear your questions and feedback.</a:t>
            </a:r>
          </a:p>
        </p:txBody>
      </p:sp>
      <p:sp>
        <p:nvSpPr>
          <p:cNvPr id="7" name="TextBox 6"/>
          <p:cNvSpPr txBox="1"/>
          <p:nvPr/>
        </p:nvSpPr>
        <p:spPr>
          <a:xfrm>
            <a:off x="731520" y="4937760"/>
            <a:ext cx="10972800" cy="548640"/>
          </a:xfrm>
          <a:prstGeom prst="rect">
            <a:avLst/>
          </a:prstGeom>
          <a:noFill/>
        </p:spPr>
        <p:txBody>
          <a:bodyPr wrap="none">
            <a:spAutoFit/>
          </a:bodyPr>
          <a:lstStyle/>
          <a:p>
            <a:pPr algn="ctr"/>
            <a:r>
              <a:rPr sz="1600" b="1">
                <a:solidFill>
                  <a:srgbClr val="E6A817"/>
                </a:solidFill>
              </a:rPr>
              <a:t>Kiwi Trail  •  570 Programming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