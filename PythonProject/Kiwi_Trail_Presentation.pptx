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I will introduce Kiwi Trail, a web application designed to help New Zealand locals and visitors find hiking tracks, huts, campsites, and outdoor destinations more easily.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main issue this project solves is that outdoor activity data exists, but users may need to visit different sources to find tracks, huts, campsites, locations, maps, and weather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goal is to make outdoor planning easier, faster, and more convenient by combining local datasets into one web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solution is a user-friendly website that combines outdoor activity data with interactive map features and practical planning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system uses React for the user interface, FastAPI for backend APIs, and PostgreSQL to store imported track, hut, campsite, and region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application depends on data processing. After importing local datasets into the database, the backend makes this data available to the frontend.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features are designed to support the full planning process, from searching for a place to checking details, weather, and navigation.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project is divided into frontend, backend, and database modules. Each part has a clear role in supporting the user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slide, I would demonstrate the website and show how a user can search for a hiking track, check details, view weather, and navigate to the destination. (Add screenshots in the placeholders.)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main challenges were related to data integration, geographic display, and user experience. Each feature was designed to make outdoor planning easier.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future, Kiwi Trail could become a more complete outdoor planning platform with personal trip planning and safety-related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conclude, Kiwi Trail is a practical web application that uses local New Zealand data to improve the outdoor activity planning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timing for a 10 minute presentation. Adjust as needed depending on questions or demo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114800"/>
            <a:ext cx="5486400" cy="5486400"/>
          </a:xfrm>
          <a:prstGeom prst="ellipse">
            <a:avLst/>
          </a:prstGeom>
          <a:solidFill>
            <a:srgbClr val="5D4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>
                <a:solidFill>
                  <a:srgbClr val="FAFAFA"/>
                </a:solidFill>
              </a:rPr>
              <a:t>Kiwi Trail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1752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4CAF50"/>
                </a:solidFill>
              </a:rPr>
              <a:t>570 Programming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57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i="1">
                <a:solidFill>
                  <a:srgbClr val="FAFAFA"/>
                </a:solidFill>
              </a:rPr>
              <a:t>A web application for planning outdoor activities in New Zealand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480560"/>
            <a:ext cx="1828800" cy="73152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7548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AFAFA"/>
                </a:solidFill>
              </a:rPr>
              <a:t>Name / Team: [Your name / team name]</a:t>
            </a:r>
          </a:p>
          <a:p>
            <a:pPr algn="l"/>
            <a:r>
              <a:rPr sz="1800">
                <a:solidFill>
                  <a:srgbClr val="FAFAFA"/>
                </a:solidFill>
              </a:rPr>
              <a:t>Date: [Presentation 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 i="1">
                <a:solidFill>
                  <a:srgbClr val="1B5E20"/>
                </a:solidFill>
              </a:rPr>
              <a:t>Kiwi Trail  |  570 Programming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3200" b="1">
                <a:solidFill>
                  <a:srgbClr val="1B5E20"/>
                </a:solidFill>
              </a:rPr>
              <a:t>Problem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43000"/>
            <a:ext cx="914400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212121"/>
                </a:solidFill>
              </a:rPr>
              <a:t>New Zealand has many outdoor places such as: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105156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4CAF50"/>
                </a:solidFill>
              </a:rPr>
              <a:t>●  </a:t>
            </a:r>
            <a:r>
              <a:rPr sz="2000">
                <a:solidFill>
                  <a:srgbClr val="212121"/>
                </a:solidFill>
              </a:rPr>
              <a:t>Hiking tracks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4CAF50"/>
                </a:solidFill>
              </a:rPr>
              <a:t>●  </a:t>
            </a:r>
            <a:r>
              <a:rPr sz="2000">
                <a:solidFill>
                  <a:srgbClr val="212121"/>
                </a:solidFill>
              </a:rPr>
              <a:t>Huts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4CAF50"/>
                </a:solidFill>
              </a:rPr>
              <a:t>●  </a:t>
            </a:r>
            <a:r>
              <a:rPr sz="2000">
                <a:solidFill>
                  <a:srgbClr val="212121"/>
                </a:solidFill>
              </a:rPr>
              <a:t>Campsites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4CAF50"/>
                </a:solidFill>
              </a:rPr>
              <a:t>●  </a:t>
            </a:r>
            <a:r>
              <a:rPr sz="2000">
                <a:solidFill>
                  <a:srgbClr val="212121"/>
                </a:solidFill>
              </a:rPr>
              <a:t>Regional parks and outdoor areas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14800"/>
            <a:ext cx="10515600" cy="201168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 wrap="square"/>
          <a:lstStyle/>
          <a:p>
            <a:pPr algn="ctr"/>
            <a:r>
              <a:rPr b="1" sz="2200">
                <a:solidFill>
                  <a:srgbClr val="FAFAFA"/>
                </a:solidFill>
              </a:rPr>
              <a:t>Problem</a:t>
            </a:r>
          </a:p>
          <a:p>
            <a:pPr>
              <a:spcBef>
                <a:spcPts val="800"/>
              </a:spcBef>
            </a:pPr>
            <a:r>
              <a:rPr sz="1800">
                <a:solidFill>
                  <a:srgbClr val="FAFAFA"/>
                </a:solidFill>
              </a:rPr>
              <a:t>Information about outdoor places is often spread across different datasets and websites. Users need a convenient way to search, filter, view, and plan outdoor activities using local New Zealand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 i="1">
                <a:solidFill>
                  <a:srgbClr val="1B5E20"/>
                </a:solidFill>
              </a:rPr>
              <a:t>Kiwi Trail  |  570 Programming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3200" b="1">
                <a:solidFill>
                  <a:srgbClr val="1B5E20"/>
                </a:solidFill>
              </a:rPr>
              <a:t>Project Objective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43000"/>
            <a:ext cx="914400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212121"/>
                </a:solidFill>
              </a:rPr>
              <a:t>The objective of Kiwi Trail is to build a web application that helps: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05156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4CAF50"/>
                </a:solidFill>
              </a:rPr>
              <a:t>●  </a:t>
            </a:r>
            <a:r>
              <a:rPr sz="2200">
                <a:solidFill>
                  <a:srgbClr val="212121"/>
                </a:solidFill>
              </a:rPr>
              <a:t>Kiwis plan hiking and camping activities</a:t>
            </a:r>
          </a:p>
          <a:p>
            <a:pPr algn="l">
              <a:spcAft>
                <a:spcPts val="800"/>
              </a:spcAft>
            </a:pPr>
            <a:r>
              <a:rPr sz="2200" b="1">
                <a:solidFill>
                  <a:srgbClr val="4CAF50"/>
                </a:solidFill>
              </a:rPr>
              <a:t>●  </a:t>
            </a:r>
            <a:r>
              <a:rPr sz="2200">
                <a:solidFill>
                  <a:srgbClr val="212121"/>
                </a:solidFill>
              </a:rPr>
              <a:t>Visitors explore outdoor places in New Zealand</a:t>
            </a:r>
          </a:p>
          <a:p>
            <a:pPr algn="l">
              <a:spcAft>
                <a:spcPts val="800"/>
              </a:spcAft>
            </a:pPr>
            <a:r>
              <a:rPr sz="2200" b="1">
                <a:solidFill>
                  <a:srgbClr val="4CAF50"/>
                </a:solidFill>
              </a:rPr>
              <a:t>●  </a:t>
            </a:r>
            <a:r>
              <a:rPr sz="2200">
                <a:solidFill>
                  <a:srgbClr val="212121"/>
                </a:solidFill>
              </a:rPr>
              <a:t>Users find nearby tracks, huts, and campsites</a:t>
            </a:r>
          </a:p>
          <a:p>
            <a:pPr algn="l">
              <a:spcAft>
                <a:spcPts val="800"/>
              </a:spcAft>
            </a:pPr>
            <a:r>
              <a:rPr sz="2200" b="1">
                <a:solidFill>
                  <a:srgbClr val="4CAF50"/>
                </a:solidFill>
              </a:rPr>
              <a:t>●  </a:t>
            </a:r>
            <a:r>
              <a:rPr sz="2200">
                <a:solidFill>
                  <a:srgbClr val="212121"/>
                </a:solidFill>
              </a:rPr>
              <a:t>Users view details, maps, directions, and weather information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212080"/>
            <a:ext cx="10515600" cy="914400"/>
          </a:xfrm>
          <a:prstGeom prst="roundRect">
            <a:avLst/>
          </a:prstGeom>
          <a:solidFill>
            <a:srgbClr val="2979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37160" wrap="square"/>
          <a:lstStyle/>
          <a:p>
            <a:pPr algn="ctr"/>
            <a:r>
              <a:rPr b="1" sz="1800">
                <a:solidFill>
                  <a:srgbClr val="FAFAFA"/>
                </a:solidFill>
              </a:rPr>
              <a:t>Goal: </a:t>
            </a:r>
            <a:r>
              <a:rPr sz="1800">
                <a:solidFill>
                  <a:srgbClr val="FAFAFA"/>
                </a:solidFill>
              </a:rPr>
              <a:t>Make outdoor planning easier, faster, and more convenient by combining local datasets into one web application.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 i="1">
                <a:solidFill>
                  <a:srgbClr val="1B5E20"/>
                </a:solidFill>
              </a:rPr>
              <a:t>Kiwi Trail  |  570 Programming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3200" b="1">
                <a:solidFill>
                  <a:srgbClr val="1B5E20"/>
                </a:solidFill>
              </a:rPr>
              <a:t>Proposed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43000"/>
            <a:ext cx="914400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212121"/>
                </a:solidFill>
              </a:rPr>
              <a:t>Kiwi Trail is a map-based web application where users can: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521208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4CAF50"/>
                </a:solidFill>
              </a:rPr>
              <a:t>●  </a:t>
            </a:r>
            <a:r>
              <a:rPr sz="1800">
                <a:solidFill>
                  <a:srgbClr val="212121"/>
                </a:solidFill>
              </a:rPr>
              <a:t>Select a region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4CAF50"/>
                </a:solidFill>
              </a:rPr>
              <a:t>●  </a:t>
            </a:r>
            <a:r>
              <a:rPr sz="1800">
                <a:solidFill>
                  <a:srgbClr val="212121"/>
                </a:solidFill>
              </a:rPr>
              <a:t>Choose hiking difficulty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4CAF50"/>
                </a:solidFill>
              </a:rPr>
              <a:t>●  </a:t>
            </a:r>
            <a:r>
              <a:rPr sz="1800">
                <a:solidFill>
                  <a:srgbClr val="212121"/>
                </a:solidFill>
              </a:rPr>
              <a:t>Filter tracks, huts, and campsites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4CAF50"/>
                </a:solidFill>
              </a:rPr>
              <a:t>●  </a:t>
            </a:r>
            <a:r>
              <a:rPr sz="1800">
                <a:solidFill>
                  <a:srgbClr val="212121"/>
                </a:solidFill>
              </a:rPr>
              <a:t>Search places using fuzzy search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4CAF50"/>
                </a:solidFill>
              </a:rPr>
              <a:t>●  </a:t>
            </a:r>
            <a:r>
              <a:rPr sz="1800">
                <a:solidFill>
                  <a:srgbClr val="212121"/>
                </a:solidFill>
              </a:rPr>
              <a:t>View nearby items within 15 km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920240"/>
            <a:ext cx="521208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4CAF50"/>
                </a:solidFill>
              </a:rPr>
              <a:t>●  </a:t>
            </a:r>
            <a:r>
              <a:rPr sz="1800">
                <a:solidFill>
                  <a:srgbClr val="212121"/>
                </a:solidFill>
              </a:rPr>
              <a:t>Check item details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4CAF50"/>
                </a:solidFill>
              </a:rPr>
              <a:t>●  </a:t>
            </a:r>
            <a:r>
              <a:rPr sz="1800">
                <a:solidFill>
                  <a:srgbClr val="212121"/>
                </a:solidFill>
              </a:rPr>
              <a:t>Open Google Maps navigation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4CAF50"/>
                </a:solidFill>
              </a:rPr>
              <a:t>●  </a:t>
            </a:r>
            <a:r>
              <a:rPr sz="1800">
                <a:solidFill>
                  <a:srgbClr val="212121"/>
                </a:solidFill>
              </a:rPr>
              <a:t>View weather forecasts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4CAF50"/>
                </a:solidFill>
              </a:rPr>
              <a:t>●  </a:t>
            </a:r>
            <a:r>
              <a:rPr sz="1800">
                <a:solidFill>
                  <a:srgbClr val="212121"/>
                </a:solidFill>
              </a:rPr>
              <a:t>Add comments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4CAF50"/>
                </a:solidFill>
              </a:rPr>
              <a:t>●  </a:t>
            </a:r>
            <a:r>
              <a:rPr sz="1800">
                <a:solidFill>
                  <a:srgbClr val="212121"/>
                </a:solidFill>
              </a:rPr>
              <a:t>Save favourite places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 i="1">
                <a:solidFill>
                  <a:srgbClr val="1B5E20"/>
                </a:solidFill>
              </a:rPr>
              <a:t>Kiwi Trail  |  570 Programming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3200" b="1">
                <a:solidFill>
                  <a:srgbClr val="1B5E20"/>
                </a:solidFill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43000"/>
            <a:ext cx="914400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371600"/>
            <a:ext cx="5120640" cy="2286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CAF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37160" wrap="square"/>
          <a:lstStyle/>
          <a:p>
            <a:pPr algn="l"/>
            <a:r>
              <a:rPr b="1" sz="2000">
                <a:solidFill>
                  <a:srgbClr val="1B5E20"/>
                </a:solidFill>
              </a:rPr>
              <a:t>Technology Stack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4CAF50"/>
                </a:solidFill>
              </a:rPr>
              <a:t>•  </a:t>
            </a:r>
            <a:r>
              <a:rPr sz="1600">
                <a:solidFill>
                  <a:srgbClr val="212121"/>
                </a:solidFill>
              </a:rPr>
              <a:t>Frontend: React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4CAF50"/>
                </a:solidFill>
              </a:rPr>
              <a:t>•  </a:t>
            </a:r>
            <a:r>
              <a:rPr sz="1600">
                <a:solidFill>
                  <a:srgbClr val="212121"/>
                </a:solidFill>
              </a:rPr>
              <a:t>Backend: FastAPI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4CAF50"/>
                </a:solidFill>
              </a:rPr>
              <a:t>•  </a:t>
            </a:r>
            <a:r>
              <a:rPr sz="1600">
                <a:solidFill>
                  <a:srgbClr val="212121"/>
                </a:solidFill>
              </a:rPr>
              <a:t>Database: PostgreSQL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840480"/>
            <a:ext cx="51206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CAF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37160" wrap="square"/>
          <a:lstStyle/>
          <a:p>
            <a:pPr algn="l"/>
            <a:r>
              <a:rPr b="1" sz="2000">
                <a:solidFill>
                  <a:srgbClr val="1B5E20"/>
                </a:solidFill>
              </a:rPr>
              <a:t>Data Sources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4CAF50"/>
                </a:solidFill>
              </a:rPr>
              <a:t>•  </a:t>
            </a:r>
            <a:r>
              <a:rPr sz="1600">
                <a:solidFill>
                  <a:srgbClr val="212121"/>
                </a:solidFill>
              </a:rPr>
              <a:t>DOC datasets: tracks, huts, campsites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4CAF50"/>
                </a:solidFill>
              </a:rPr>
              <a:t>•  </a:t>
            </a:r>
            <a:r>
              <a:rPr sz="1600">
                <a:solidFill>
                  <a:srgbClr val="212121"/>
                </a:solidFill>
              </a:rPr>
              <a:t>LINZ datasets: tile map and gazetteer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4CAF50"/>
                </a:solidFill>
              </a:rPr>
              <a:t>•  </a:t>
            </a:r>
            <a:r>
              <a:rPr sz="1600">
                <a:solidFill>
                  <a:srgbClr val="212121"/>
                </a:solidFill>
              </a:rPr>
              <a:t>Region boundary data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4CAF50"/>
                </a:solidFill>
              </a:rPr>
              <a:t>•  </a:t>
            </a:r>
            <a:r>
              <a:rPr sz="1600">
                <a:solidFill>
                  <a:srgbClr val="212121"/>
                </a:solidFill>
              </a:rPr>
              <a:t>NIWA weather widget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1554480"/>
            <a:ext cx="3657600" cy="640080"/>
          </a:xfrm>
          <a:prstGeom prst="roundRect">
            <a:avLst/>
          </a:prstGeom>
          <a:solidFill>
            <a:srgbClr val="5D4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b="1" sz="1500">
                <a:solidFill>
                  <a:srgbClr val="FAFAFA"/>
                </a:solidFill>
              </a:rPr>
              <a:t>User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2377440"/>
            <a:ext cx="3657600" cy="6400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b="1" sz="1500">
                <a:solidFill>
                  <a:srgbClr val="FAFAFA"/>
                </a:solidFill>
              </a:rPr>
              <a:t>React Frontend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8942832" y="2194560"/>
            <a:ext cx="219456" cy="182880"/>
          </a:xfrm>
          <a:prstGeom prst="downArrow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23760" y="3200400"/>
            <a:ext cx="3657600" cy="640080"/>
          </a:xfrm>
          <a:prstGeom prst="roundRect">
            <a:avLst/>
          </a:prstGeom>
          <a:solidFill>
            <a:srgbClr val="2979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b="1" sz="1500">
                <a:solidFill>
                  <a:srgbClr val="FAFAFA"/>
                </a:solidFill>
              </a:rPr>
              <a:t>FastAPI Backend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942832" y="3017520"/>
            <a:ext cx="219456" cy="182880"/>
          </a:xfrm>
          <a:prstGeom prst="downArrow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23760" y="4023360"/>
            <a:ext cx="3657600" cy="64008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b="1" sz="1500">
                <a:solidFill>
                  <a:srgbClr val="FAFAFA"/>
                </a:solidFill>
              </a:rPr>
              <a:t>PostgreSQL Database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8942832" y="3840480"/>
            <a:ext cx="219456" cy="182880"/>
          </a:xfrm>
          <a:prstGeom prst="downArrow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223760" y="4846320"/>
            <a:ext cx="3657600" cy="640080"/>
          </a:xfrm>
          <a:prstGeom prst="roundRect">
            <a:avLst/>
          </a:prstGeom>
          <a:solidFill>
            <a:srgbClr val="5D4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b="1" sz="1500">
                <a:solidFill>
                  <a:srgbClr val="FAFAFA"/>
                </a:solidFill>
              </a:rPr>
              <a:t>DOC / LINZ / Region / Weather Data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942832" y="4663440"/>
            <a:ext cx="219456" cy="182880"/>
          </a:xfrm>
          <a:prstGeom prst="downArrow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 i="1">
                <a:solidFill>
                  <a:srgbClr val="1B5E20"/>
                </a:solidFill>
              </a:rPr>
              <a:t>Kiwi Trail  |  570 Programming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3200" b="1">
                <a:solidFill>
                  <a:srgbClr val="1B5E20"/>
                </a:solidFill>
              </a:rPr>
              <a:t>Data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43000"/>
            <a:ext cx="914400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554480"/>
            <a:ext cx="3566160" cy="182880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1737360"/>
            <a:ext cx="548640" cy="548640"/>
          </a:xfrm>
          <a:prstGeom prst="ellipse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000">
                <a:solidFill>
                  <a:srgbClr val="1B5E2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23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600">
                <a:solidFill>
                  <a:srgbClr val="FAFAFA"/>
                </a:solidFill>
              </a:rPr>
              <a:t>Collect NZ local datasets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554480"/>
            <a:ext cx="3566160" cy="18288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00600" y="1737360"/>
            <a:ext cx="548640" cy="548640"/>
          </a:xfrm>
          <a:prstGeom prst="ellipse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000">
                <a:solidFill>
                  <a:srgbClr val="4CAF5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2423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600">
                <a:solidFill>
                  <a:srgbClr val="FAFAFA"/>
                </a:solidFill>
              </a:rPr>
              <a:t>Clean &amp; prepare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1554480"/>
            <a:ext cx="3566160" cy="1828800"/>
          </a:xfrm>
          <a:prstGeom prst="roundRect">
            <a:avLst/>
          </a:prstGeom>
          <a:solidFill>
            <a:srgbClr val="2979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95360" y="1737360"/>
            <a:ext cx="548640" cy="548640"/>
          </a:xfrm>
          <a:prstGeom prst="ellipse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000">
                <a:solidFill>
                  <a:srgbClr val="2979B5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423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600">
                <a:solidFill>
                  <a:srgbClr val="FAFAFA"/>
                </a:solidFill>
              </a:rPr>
              <a:t>Import into PostgreSQL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49040"/>
            <a:ext cx="3566160" cy="1828800"/>
          </a:xfrm>
          <a:prstGeom prst="roundRect">
            <a:avLst/>
          </a:prstGeom>
          <a:solidFill>
            <a:srgbClr val="5D4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5840" y="3931920"/>
            <a:ext cx="548640" cy="548640"/>
          </a:xfrm>
          <a:prstGeom prst="ellipse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000">
                <a:solidFill>
                  <a:srgbClr val="5D4037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6177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600">
                <a:solidFill>
                  <a:srgbClr val="FAFAFA"/>
                </a:solidFill>
              </a:rPr>
              <a:t>Backend exposes APIs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3749040"/>
            <a:ext cx="3566160" cy="18288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800600" y="3931920"/>
            <a:ext cx="548640" cy="548640"/>
          </a:xfrm>
          <a:prstGeom prst="ellipse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000">
                <a:solidFill>
                  <a:srgbClr val="4CAF50"/>
                </a:solidFill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46177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600">
                <a:solidFill>
                  <a:srgbClr val="FAFAFA"/>
                </a:solidFill>
              </a:rPr>
              <a:t>Frontend shows on map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3749040"/>
            <a:ext cx="3566160" cy="182880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595360" y="3931920"/>
            <a:ext cx="548640" cy="548640"/>
          </a:xfrm>
          <a:prstGeom prst="ellipse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000">
                <a:solidFill>
                  <a:srgbClr val="1B5E20"/>
                </a:solidFill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46177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600">
                <a:solidFill>
                  <a:srgbClr val="FAFAFA"/>
                </a:solidFill>
              </a:rPr>
              <a:t>Users search &amp; plan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 i="1">
                <a:solidFill>
                  <a:srgbClr val="1B5E20"/>
                </a:solidFill>
              </a:rPr>
              <a:t>Kiwi Trail  |  570 Programming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3200" b="1">
                <a:solidFill>
                  <a:srgbClr val="1B5E20"/>
                </a:solidFill>
              </a:rPr>
              <a:t>Key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43000"/>
            <a:ext cx="914400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508760"/>
            <a:ext cx="356616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b="1" sz="1500">
                <a:solidFill>
                  <a:srgbClr val="212121"/>
                </a:solidFill>
              </a:rPr>
              <a:t>Region selection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508760"/>
            <a:ext cx="164592" cy="9601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17720" y="1508760"/>
            <a:ext cx="356616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b="1" sz="1500">
                <a:solidFill>
                  <a:srgbClr val="212121"/>
                </a:solidFill>
              </a:rPr>
              <a:t>Hiking difficulty filter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508760"/>
            <a:ext cx="164592" cy="9601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0" y="1508760"/>
            <a:ext cx="356616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b="1" sz="1500">
                <a:solidFill>
                  <a:srgbClr val="212121"/>
                </a:solidFill>
              </a:rPr>
              <a:t>Track / hut / campsite filtering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1508760"/>
            <a:ext cx="164592" cy="9601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2651760"/>
            <a:ext cx="356616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b="1" sz="1500">
                <a:solidFill>
                  <a:srgbClr val="212121"/>
                </a:solidFill>
              </a:rPr>
              <a:t>Fuzzy search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651760"/>
            <a:ext cx="164592" cy="9601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17720" y="2651760"/>
            <a:ext cx="356616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b="1" sz="1500">
                <a:solidFill>
                  <a:srgbClr val="212121"/>
                </a:solidFill>
              </a:rPr>
              <a:t>Nearby results within 15 km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17720" y="2651760"/>
            <a:ext cx="164592" cy="9601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80" y="2651760"/>
            <a:ext cx="356616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b="1" sz="1500">
                <a:solidFill>
                  <a:srgbClr val="212121"/>
                </a:solidFill>
              </a:rPr>
              <a:t>Interactive map display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651760"/>
            <a:ext cx="164592" cy="9601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3794760"/>
            <a:ext cx="356616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79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b="1" sz="1500">
                <a:solidFill>
                  <a:srgbClr val="212121"/>
                </a:solidFill>
              </a:rPr>
              <a:t>Detail page for each item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794760"/>
            <a:ext cx="164592" cy="960120"/>
          </a:xfrm>
          <a:prstGeom prst="rect">
            <a:avLst/>
          </a:prstGeom>
          <a:solidFill>
            <a:srgbClr val="2979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17720" y="3794760"/>
            <a:ext cx="356616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79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b="1" sz="1500">
                <a:solidFill>
                  <a:srgbClr val="212121"/>
                </a:solidFill>
              </a:rPr>
              <a:t>Google Maps directions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17720" y="3794760"/>
            <a:ext cx="164592" cy="960120"/>
          </a:xfrm>
          <a:prstGeom prst="rect">
            <a:avLst/>
          </a:prstGeom>
          <a:solidFill>
            <a:srgbClr val="2979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0" y="3794760"/>
            <a:ext cx="356616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79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b="1" sz="1500">
                <a:solidFill>
                  <a:srgbClr val="212121"/>
                </a:solidFill>
              </a:rPr>
              <a:t>Weather forecast widget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0" y="3794760"/>
            <a:ext cx="164592" cy="960120"/>
          </a:xfrm>
          <a:prstGeom prst="rect">
            <a:avLst/>
          </a:prstGeom>
          <a:solidFill>
            <a:srgbClr val="2979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2960" y="4937760"/>
            <a:ext cx="356616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D4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b="1" sz="1500">
                <a:solidFill>
                  <a:srgbClr val="212121"/>
                </a:solidFill>
              </a:rPr>
              <a:t>User comments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937760"/>
            <a:ext cx="164592" cy="960120"/>
          </a:xfrm>
          <a:prstGeom prst="rect">
            <a:avLst/>
          </a:prstGeom>
          <a:solidFill>
            <a:srgbClr val="5D4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617720" y="4937760"/>
            <a:ext cx="356616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D4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b="1" sz="1500">
                <a:solidFill>
                  <a:srgbClr val="212121"/>
                </a:solidFill>
              </a:rPr>
              <a:t>Favourite item saving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4937760"/>
            <a:ext cx="164592" cy="960120"/>
          </a:xfrm>
          <a:prstGeom prst="rect">
            <a:avLst/>
          </a:prstGeom>
          <a:solidFill>
            <a:srgbClr val="5D4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412480" y="4937760"/>
            <a:ext cx="356616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D4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b="1" sz="1500">
                <a:solidFill>
                  <a:srgbClr val="212121"/>
                </a:solidFill>
              </a:rPr>
              <a:t>User-friendly experience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937760"/>
            <a:ext cx="164592" cy="960120"/>
          </a:xfrm>
          <a:prstGeom prst="rect">
            <a:avLst/>
          </a:prstGeom>
          <a:solidFill>
            <a:srgbClr val="5D4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 i="1">
                <a:solidFill>
                  <a:srgbClr val="1B5E20"/>
                </a:solidFill>
              </a:rPr>
              <a:t>Kiwi Trail  |  570 Programming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3200" b="1">
                <a:solidFill>
                  <a:srgbClr val="1B5E20"/>
                </a:solidFill>
              </a:rPr>
              <a:t>Implementation Details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43000"/>
            <a:ext cx="914400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554480"/>
            <a:ext cx="3657600" cy="4572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CAF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37160" wrap="square"/>
          <a:lstStyle/>
          <a:p>
            <a:pPr algn="l"/>
            <a:r>
              <a:rPr b="1" sz="1800">
                <a:solidFill>
                  <a:srgbClr val="1B5E20"/>
                </a:solidFill>
              </a:rPr>
              <a:t>Frontend (React)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4CAF50"/>
                </a:solidFill>
              </a:rPr>
              <a:t>•  </a:t>
            </a:r>
            <a:r>
              <a:rPr sz="1500">
                <a:solidFill>
                  <a:srgbClr val="212121"/>
                </a:solidFill>
              </a:rPr>
              <a:t>Map display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4CAF50"/>
                </a:solidFill>
              </a:rPr>
              <a:t>•  </a:t>
            </a:r>
            <a:r>
              <a:rPr sz="1500">
                <a:solidFill>
                  <a:srgbClr val="212121"/>
                </a:solidFill>
              </a:rPr>
              <a:t>Search bar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4CAF50"/>
                </a:solidFill>
              </a:rPr>
              <a:t>•  </a:t>
            </a:r>
            <a:r>
              <a:rPr sz="1500">
                <a:solidFill>
                  <a:srgbClr val="212121"/>
                </a:solidFill>
              </a:rPr>
              <a:t>Filter panel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4CAF50"/>
                </a:solidFill>
              </a:rPr>
              <a:t>•  </a:t>
            </a:r>
            <a:r>
              <a:rPr sz="1500">
                <a:solidFill>
                  <a:srgbClr val="212121"/>
                </a:solidFill>
              </a:rPr>
              <a:t>Item detail view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4CAF50"/>
                </a:solidFill>
              </a:rPr>
              <a:t>•  </a:t>
            </a:r>
            <a:r>
              <a:rPr sz="1500">
                <a:solidFill>
                  <a:srgbClr val="212121"/>
                </a:solidFill>
              </a:rPr>
              <a:t>Comment section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4CAF50"/>
                </a:solidFill>
              </a:rPr>
              <a:t>•  </a:t>
            </a:r>
            <a:r>
              <a:rPr sz="1500">
                <a:solidFill>
                  <a:srgbClr val="212121"/>
                </a:solidFill>
              </a:rPr>
              <a:t>Favourite list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554480"/>
            <a:ext cx="3657600" cy="4572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CAF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37160" wrap="square"/>
          <a:lstStyle/>
          <a:p>
            <a:pPr algn="l"/>
            <a:r>
              <a:rPr b="1" sz="1800">
                <a:solidFill>
                  <a:srgbClr val="1B5E20"/>
                </a:solidFill>
              </a:rPr>
              <a:t>Backend (FastAPI)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4CAF50"/>
                </a:solidFill>
              </a:rPr>
              <a:t>•  </a:t>
            </a:r>
            <a:r>
              <a:rPr sz="1500">
                <a:solidFill>
                  <a:srgbClr val="212121"/>
                </a:solidFill>
              </a:rPr>
              <a:t>API routes for tracks, huts, campsites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4CAF50"/>
                </a:solidFill>
              </a:rPr>
              <a:t>•  </a:t>
            </a:r>
            <a:r>
              <a:rPr sz="1500">
                <a:solidFill>
                  <a:srgbClr val="212121"/>
                </a:solidFill>
              </a:rPr>
              <a:t>Region and difficulty filtering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4CAF50"/>
                </a:solidFill>
              </a:rPr>
              <a:t>•  </a:t>
            </a:r>
            <a:r>
              <a:rPr sz="1500">
                <a:solidFill>
                  <a:srgbClr val="212121"/>
                </a:solidFill>
              </a:rPr>
              <a:t>Nearby location search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4CAF50"/>
                </a:solidFill>
              </a:rPr>
              <a:t>•  </a:t>
            </a:r>
            <a:r>
              <a:rPr sz="1500">
                <a:solidFill>
                  <a:srgbClr val="212121"/>
                </a:solidFill>
              </a:rPr>
              <a:t>User comment handling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4CAF50"/>
                </a:solidFill>
              </a:rPr>
              <a:t>•  </a:t>
            </a:r>
            <a:r>
              <a:rPr sz="1500">
                <a:solidFill>
                  <a:srgbClr val="212121"/>
                </a:solidFill>
              </a:rPr>
              <a:t>Favourite handling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554480"/>
            <a:ext cx="3657600" cy="4572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CAF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37160" wrap="square"/>
          <a:lstStyle/>
          <a:p>
            <a:pPr algn="l"/>
            <a:r>
              <a:rPr b="1" sz="1800">
                <a:solidFill>
                  <a:srgbClr val="1B5E20"/>
                </a:solidFill>
              </a:rPr>
              <a:t>Database (PostgreSQL)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4CAF50"/>
                </a:solidFill>
              </a:rPr>
              <a:t>•  </a:t>
            </a:r>
            <a:r>
              <a:rPr sz="1500">
                <a:solidFill>
                  <a:srgbClr val="212121"/>
                </a:solidFill>
              </a:rPr>
              <a:t>Tracks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4CAF50"/>
                </a:solidFill>
              </a:rPr>
              <a:t>•  </a:t>
            </a:r>
            <a:r>
              <a:rPr sz="1500">
                <a:solidFill>
                  <a:srgbClr val="212121"/>
                </a:solidFill>
              </a:rPr>
              <a:t>Huts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4CAF50"/>
                </a:solidFill>
              </a:rPr>
              <a:t>•  </a:t>
            </a:r>
            <a:r>
              <a:rPr sz="1500">
                <a:solidFill>
                  <a:srgbClr val="212121"/>
                </a:solidFill>
              </a:rPr>
              <a:t>Campsites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4CAF50"/>
                </a:solidFill>
              </a:rPr>
              <a:t>•  </a:t>
            </a:r>
            <a:r>
              <a:rPr sz="1500">
                <a:solidFill>
                  <a:srgbClr val="212121"/>
                </a:solidFill>
              </a:rPr>
              <a:t>Regions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4CAF50"/>
                </a:solidFill>
              </a:rPr>
              <a:t>•  </a:t>
            </a:r>
            <a:r>
              <a:rPr sz="1500">
                <a:solidFill>
                  <a:srgbClr val="212121"/>
                </a:solidFill>
              </a:rPr>
              <a:t>Users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4CAF50"/>
                </a:solidFill>
              </a:rPr>
              <a:t>•  </a:t>
            </a:r>
            <a:r>
              <a:rPr sz="1500">
                <a:solidFill>
                  <a:srgbClr val="212121"/>
                </a:solidFill>
              </a:rPr>
              <a:t>Comments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4CAF50"/>
                </a:solidFill>
              </a:rPr>
              <a:t>•  </a:t>
            </a:r>
            <a:r>
              <a:rPr sz="1500">
                <a:solidFill>
                  <a:srgbClr val="212121"/>
                </a:solidFill>
              </a:rPr>
              <a:t>Favourites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 i="1">
                <a:solidFill>
                  <a:srgbClr val="1B5E20"/>
                </a:solidFill>
              </a:rPr>
              <a:t>Kiwi Trail  |  570 Programming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3200" b="1">
                <a:solidFill>
                  <a:srgbClr val="1B5E20"/>
                </a:solidFill>
              </a:rPr>
              <a:t>Results /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43000"/>
            <a:ext cx="914400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4864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4CAF50"/>
                </a:solidFill>
              </a:rPr>
              <a:t>●  </a:t>
            </a:r>
            <a:r>
              <a:rPr sz="1600">
                <a:solidFill>
                  <a:srgbClr val="212121"/>
                </a:solidFill>
              </a:rPr>
              <a:t>Display outdoor locations on a map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4CAF50"/>
                </a:solidFill>
              </a:rPr>
              <a:t>●  </a:t>
            </a:r>
            <a:r>
              <a:rPr sz="1600">
                <a:solidFill>
                  <a:srgbClr val="212121"/>
                </a:solidFill>
              </a:rPr>
              <a:t>Filter places by region and difficulty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4CAF50"/>
                </a:solidFill>
              </a:rPr>
              <a:t>●  </a:t>
            </a:r>
            <a:r>
              <a:rPr sz="1600">
                <a:solidFill>
                  <a:srgbClr val="212121"/>
                </a:solidFill>
              </a:rPr>
              <a:t>Search outdoor items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4CAF50"/>
                </a:solidFill>
              </a:rPr>
              <a:t>●  </a:t>
            </a:r>
            <a:r>
              <a:rPr sz="1600">
                <a:solidFill>
                  <a:srgbClr val="212121"/>
                </a:solidFill>
              </a:rPr>
              <a:t>Show nearby results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4CAF50"/>
                </a:solidFill>
              </a:rPr>
              <a:t>●  </a:t>
            </a:r>
            <a:r>
              <a:rPr sz="1600">
                <a:solidFill>
                  <a:srgbClr val="212121"/>
                </a:solidFill>
              </a:rPr>
              <a:t>Display item details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4CAF50"/>
                </a:solidFill>
              </a:rPr>
              <a:t>●  </a:t>
            </a:r>
            <a:r>
              <a:rPr sz="1600">
                <a:solidFill>
                  <a:srgbClr val="212121"/>
                </a:solidFill>
              </a:rPr>
              <a:t>Redirect users to Google Maps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4CAF50"/>
                </a:solidFill>
              </a:rPr>
              <a:t>●  </a:t>
            </a:r>
            <a:r>
              <a:rPr sz="1600">
                <a:solidFill>
                  <a:srgbClr val="212121"/>
                </a:solidFill>
              </a:rPr>
              <a:t>Show weather forecasts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4CAF50"/>
                </a:solidFill>
              </a:rPr>
              <a:t>●  </a:t>
            </a:r>
            <a:r>
              <a:rPr sz="1600">
                <a:solidFill>
                  <a:srgbClr val="212121"/>
                </a:solidFill>
              </a:rPr>
              <a:t>Support comments and favourites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463040"/>
            <a:ext cx="237744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CAF5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i="1">
                <a:solidFill>
                  <a:srgbClr val="1B5E20"/>
                </a:solidFill>
              </a:rPr>
              <a:t>[ Screenshot ]</a:t>
            </a:r>
          </a:p>
          <a:p>
            <a:pPr algn="ctr">
              <a:spcBef>
                <a:spcPts val="400"/>
              </a:spcBef>
            </a:pPr>
            <a:r>
              <a:rPr b="1" sz="1400">
                <a:solidFill>
                  <a:srgbClr val="212121"/>
                </a:solidFill>
              </a:rPr>
              <a:t>Home page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463040"/>
            <a:ext cx="237744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CAF5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i="1">
                <a:solidFill>
                  <a:srgbClr val="1B5E20"/>
                </a:solidFill>
              </a:rPr>
              <a:t>[ Screenshot ]</a:t>
            </a:r>
          </a:p>
          <a:p>
            <a:pPr algn="ctr">
              <a:spcBef>
                <a:spcPts val="400"/>
              </a:spcBef>
            </a:pPr>
            <a:r>
              <a:rPr b="1" sz="1400">
                <a:solidFill>
                  <a:srgbClr val="212121"/>
                </a:solidFill>
              </a:rPr>
              <a:t>Map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063240"/>
            <a:ext cx="237744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CAF5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i="1">
                <a:solidFill>
                  <a:srgbClr val="1B5E20"/>
                </a:solidFill>
              </a:rPr>
              <a:t>[ Screenshot ]</a:t>
            </a:r>
          </a:p>
          <a:p>
            <a:pPr algn="ctr">
              <a:spcBef>
                <a:spcPts val="400"/>
              </a:spcBef>
            </a:pPr>
            <a:r>
              <a:rPr b="1" sz="1400">
                <a:solidFill>
                  <a:srgbClr val="212121"/>
                </a:solidFill>
              </a:rPr>
              <a:t>Search / filter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3063240"/>
            <a:ext cx="237744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CAF5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i="1">
                <a:solidFill>
                  <a:srgbClr val="1B5E20"/>
                </a:solidFill>
              </a:rPr>
              <a:t>[ Screenshot ]</a:t>
            </a:r>
          </a:p>
          <a:p>
            <a:pPr algn="ctr">
              <a:spcBef>
                <a:spcPts val="400"/>
              </a:spcBef>
            </a:pPr>
            <a:r>
              <a:rPr b="1" sz="1400">
                <a:solidFill>
                  <a:srgbClr val="212121"/>
                </a:solidFill>
              </a:rPr>
              <a:t>Detail page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4663440"/>
            <a:ext cx="237744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CAF5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i="1">
                <a:solidFill>
                  <a:srgbClr val="1B5E20"/>
                </a:solidFill>
              </a:rPr>
              <a:t>[ Screenshot ]</a:t>
            </a:r>
          </a:p>
          <a:p>
            <a:pPr algn="ctr">
              <a:spcBef>
                <a:spcPts val="400"/>
              </a:spcBef>
            </a:pPr>
            <a:r>
              <a:rPr b="1" sz="1400">
                <a:solidFill>
                  <a:srgbClr val="212121"/>
                </a:solidFill>
              </a:rPr>
              <a:t>Favourites / comments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4663440"/>
            <a:ext cx="237744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CAF5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i="1">
                <a:solidFill>
                  <a:srgbClr val="1B5E20"/>
                </a:solidFill>
              </a:rPr>
              <a:t>[ Screenshot ]</a:t>
            </a:r>
          </a:p>
          <a:p>
            <a:pPr algn="ctr">
              <a:spcBef>
                <a:spcPts val="400"/>
              </a:spcBef>
            </a:pPr>
            <a:r>
              <a:rPr b="1" sz="1400">
                <a:solidFill>
                  <a:srgbClr val="212121"/>
                </a:solidFill>
              </a:rPr>
              <a:t>Weather widget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 i="1">
                <a:solidFill>
                  <a:srgbClr val="1B5E20"/>
                </a:solidFill>
              </a:rPr>
              <a:t>Kiwi Trail  |  570 Programming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3200" b="1">
                <a:solidFill>
                  <a:srgbClr val="1B5E20"/>
                </a:solidFill>
              </a:rPr>
              <a:t>Challenges &amp; Solutions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43000"/>
            <a:ext cx="914400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53949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463040"/>
            <a:ext cx="5394960" cy="5029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b="1" sz="1400">
                <a:solidFill>
                  <a:srgbClr val="FAFAFA"/>
                </a:solidFill>
              </a:rPr>
              <a:t>Challenge 1: Combining data from multiple 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03120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B5E20"/>
                </a:solidFill>
              </a:rPr>
              <a:t>Solution: </a:t>
            </a:r>
            <a:r>
              <a:rPr sz="1400">
                <a:solidFill>
                  <a:srgbClr val="212121"/>
                </a:solidFill>
              </a:rPr>
              <a:t>Cleaned and imported data into PostgreSQL with a consistent structure.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1463040"/>
            <a:ext cx="53949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79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46520" y="1463040"/>
            <a:ext cx="5394960" cy="502920"/>
          </a:xfrm>
          <a:prstGeom prst="rect">
            <a:avLst/>
          </a:prstGeom>
          <a:solidFill>
            <a:srgbClr val="2979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b="1" sz="1400">
                <a:solidFill>
                  <a:srgbClr val="FAFAFA"/>
                </a:solidFill>
              </a:rPr>
              <a:t>Challenge 2: Displaying geographic data on a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103120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2979B5"/>
                </a:solidFill>
              </a:rPr>
              <a:t>Solution: </a:t>
            </a:r>
            <a:r>
              <a:rPr sz="1400">
                <a:solidFill>
                  <a:srgbClr val="212121"/>
                </a:solidFill>
              </a:rPr>
              <a:t>Used map tiles and location data to show tracks, huts, and campsites visually.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886200"/>
            <a:ext cx="53949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3886200"/>
            <a:ext cx="5394960" cy="5029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b="1" sz="1400">
                <a:solidFill>
                  <a:srgbClr val="FAFAFA"/>
                </a:solidFill>
              </a:rPr>
              <a:t>Challenge 3: Helping users find relevant places quickly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26280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4CAF50"/>
                </a:solidFill>
              </a:rPr>
              <a:t>Solution: </a:t>
            </a:r>
            <a:r>
              <a:rPr sz="1400">
                <a:solidFill>
                  <a:srgbClr val="212121"/>
                </a:solidFill>
              </a:rPr>
              <a:t>Added filters, fuzzy search, and nearby search within 15 km.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886200"/>
            <a:ext cx="53949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D4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3886200"/>
            <a:ext cx="5394960" cy="502920"/>
          </a:xfrm>
          <a:prstGeom prst="rect">
            <a:avLst/>
          </a:prstGeom>
          <a:solidFill>
            <a:srgbClr val="5D4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b="1" sz="1400">
                <a:solidFill>
                  <a:srgbClr val="FAFAFA"/>
                </a:solidFill>
              </a:rPr>
              <a:t>Challenge 4: Improving user planning experience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4526280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5D4037"/>
                </a:solidFill>
              </a:rPr>
              <a:t>Solution: </a:t>
            </a:r>
            <a:r>
              <a:rPr sz="1400">
                <a:solidFill>
                  <a:srgbClr val="212121"/>
                </a:solidFill>
              </a:rPr>
              <a:t>Added Google Maps directions, weather forecast, comments, and favourites.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 i="1">
                <a:solidFill>
                  <a:srgbClr val="1B5E20"/>
                </a:solidFill>
              </a:rPr>
              <a:t>Kiwi Trail  |  570 Programming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3200" b="1">
                <a:solidFill>
                  <a:srgbClr val="1B5E20"/>
                </a:solidFill>
              </a:rPr>
              <a:t>Future Improvements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43000"/>
            <a:ext cx="914400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4CAF50"/>
                </a:solidFill>
              </a:rPr>
              <a:t>●  </a:t>
            </a:r>
            <a:r>
              <a:rPr sz="2000">
                <a:solidFill>
                  <a:srgbClr val="212121"/>
                </a:solidFill>
              </a:rPr>
              <a:t>Add user login and profile management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4CAF50"/>
                </a:solidFill>
              </a:rPr>
              <a:t>●  </a:t>
            </a:r>
            <a:r>
              <a:rPr sz="2000">
                <a:solidFill>
                  <a:srgbClr val="212121"/>
                </a:solidFill>
              </a:rPr>
              <a:t>Add trip planning itinerary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4CAF50"/>
                </a:solidFill>
              </a:rPr>
              <a:t>●  </a:t>
            </a:r>
            <a:r>
              <a:rPr sz="2000">
                <a:solidFill>
                  <a:srgbClr val="212121"/>
                </a:solidFill>
              </a:rPr>
              <a:t>Add offline map support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4CAF50"/>
                </a:solidFill>
              </a:rPr>
              <a:t>●  </a:t>
            </a:r>
            <a:r>
              <a:rPr sz="2000">
                <a:solidFill>
                  <a:srgbClr val="212121"/>
                </a:solidFill>
              </a:rPr>
              <a:t>Add safety alerts and track condition updates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4CAF50"/>
                </a:solidFill>
              </a:rPr>
              <a:t>●  </a:t>
            </a:r>
            <a:r>
              <a:rPr sz="2000">
                <a:solidFill>
                  <a:srgbClr val="212121"/>
                </a:solidFill>
              </a:rPr>
              <a:t>Add user-uploaded photos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4CAF50"/>
                </a:solidFill>
              </a:rPr>
              <a:t>●  </a:t>
            </a:r>
            <a:r>
              <a:rPr sz="2000">
                <a:solidFill>
                  <a:srgbClr val="212121"/>
                </a:solidFill>
              </a:rPr>
              <a:t>Add mobile app version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4CAF50"/>
                </a:solidFill>
              </a:rPr>
              <a:t>●  </a:t>
            </a:r>
            <a:r>
              <a:rPr sz="2000">
                <a:solidFill>
                  <a:srgbClr val="212121"/>
                </a:solidFill>
              </a:rPr>
              <a:t>Improve recommendation system based on user preferences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 i="1">
                <a:solidFill>
                  <a:srgbClr val="1B5E20"/>
                </a:solidFill>
              </a:rPr>
              <a:t>Kiwi Trail  |  570 Programming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3200" b="1">
                <a:solidFill>
                  <a:srgbClr val="1B5E20"/>
                </a:solidFill>
              </a:rP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43000"/>
            <a:ext cx="914400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212121"/>
                </a:solidFill>
              </a:rPr>
              <a:t>Kiwi Trail helps users plan outdoor activities in New Zealand by combining: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1051560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4CAF50"/>
                </a:solidFill>
              </a:rPr>
              <a:t>●  </a:t>
            </a:r>
            <a:r>
              <a:rPr sz="1800">
                <a:solidFill>
                  <a:srgbClr val="212121"/>
                </a:solidFill>
              </a:rPr>
              <a:t>Local outdoor datasets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4CAF50"/>
                </a:solidFill>
              </a:rPr>
              <a:t>●  </a:t>
            </a:r>
            <a:r>
              <a:rPr sz="1800">
                <a:solidFill>
                  <a:srgbClr val="212121"/>
                </a:solidFill>
              </a:rPr>
              <a:t>Interactive maps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4CAF50"/>
                </a:solidFill>
              </a:rPr>
              <a:t>●  </a:t>
            </a:r>
            <a:r>
              <a:rPr sz="1800">
                <a:solidFill>
                  <a:srgbClr val="212121"/>
                </a:solidFill>
              </a:rPr>
              <a:t>Search and filtering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4CAF50"/>
                </a:solidFill>
              </a:rPr>
              <a:t>●  </a:t>
            </a:r>
            <a:r>
              <a:rPr sz="1800">
                <a:solidFill>
                  <a:srgbClr val="212121"/>
                </a:solidFill>
              </a:rPr>
              <a:t>Weather information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4CAF50"/>
                </a:solidFill>
              </a:rPr>
              <a:t>●  </a:t>
            </a:r>
            <a:r>
              <a:rPr sz="1800">
                <a:solidFill>
                  <a:srgbClr val="212121"/>
                </a:solidFill>
              </a:rPr>
              <a:t>Navigation support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4CAF50"/>
                </a:solidFill>
              </a:rPr>
              <a:t>●  </a:t>
            </a:r>
            <a:r>
              <a:rPr sz="1800">
                <a:solidFill>
                  <a:srgbClr val="212121"/>
                </a:solidFill>
              </a:rPr>
              <a:t>User comments and favourites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029200"/>
            <a:ext cx="10515600" cy="118872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37160" wrap="square"/>
          <a:lstStyle/>
          <a:p>
            <a:pPr algn="ctr"/>
            <a:r>
              <a:rPr b="1" sz="1800">
                <a:solidFill>
                  <a:srgbClr val="FAFAFA"/>
                </a:solidFill>
              </a:rPr>
              <a:t>Impact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AFAFA"/>
                </a:solidFill>
              </a:rPr>
              <a:t>Kiwi Trail makes hiking and camping information easier to access, helping both locals and visitors explore New Zealand safely and conveniently.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 i="1">
                <a:solidFill>
                  <a:srgbClr val="1B5E20"/>
                </a:solidFill>
              </a:rPr>
              <a:t>Kiwi Trail  |  570 Programming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3200" b="1">
                <a:solidFill>
                  <a:srgbClr val="1B5E20"/>
                </a:solidFill>
              </a:rPr>
              <a:t>Recommended Timing — 10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43000"/>
            <a:ext cx="914400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1554480"/>
            <a:ext cx="5486400" cy="4114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/>
            <a:r>
              <a:rPr b="1" sz="1600">
                <a:solidFill>
                  <a:srgbClr val="FAFAFA"/>
                </a:solidFill>
              </a:rPr>
              <a:t>Slide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554480"/>
            <a:ext cx="2103120" cy="4114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b="1" sz="1600">
                <a:solidFill>
                  <a:srgbClr val="FAFAFA"/>
                </a:solidFill>
              </a:rPr>
              <a:t>Time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1965960"/>
            <a:ext cx="5486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>
                <a:solidFill>
                  <a:srgbClr val="212121"/>
                </a:solidFill>
              </a:rPr>
              <a:t>Title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965960"/>
            <a:ext cx="21031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 b="1">
                <a:solidFill>
                  <a:srgbClr val="1B5E20"/>
                </a:solidFill>
              </a:rPr>
              <a:t>30 sec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377440"/>
            <a:ext cx="5486400" cy="411480"/>
          </a:xfrm>
          <a:prstGeom prst="rect">
            <a:avLst/>
          </a:prstGeom>
          <a:solidFill>
            <a:srgbClr val="ECF4E6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>
                <a:solidFill>
                  <a:srgbClr val="212121"/>
                </a:solidFill>
              </a:rPr>
              <a:t>Problem Statement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2377440"/>
            <a:ext cx="2103120" cy="411480"/>
          </a:xfrm>
          <a:prstGeom prst="rect">
            <a:avLst/>
          </a:prstGeom>
          <a:solidFill>
            <a:srgbClr val="ECF4E6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 b="1">
                <a:solidFill>
                  <a:srgbClr val="1B5E20"/>
                </a:solidFill>
              </a:rPr>
              <a:t>1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2788920"/>
            <a:ext cx="5486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>
                <a:solidFill>
                  <a:srgbClr val="212121"/>
                </a:solidFill>
              </a:rPr>
              <a:t>Objective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788920"/>
            <a:ext cx="21031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 b="1">
                <a:solidFill>
                  <a:srgbClr val="1B5E20"/>
                </a:solidFill>
              </a:rPr>
              <a:t>1 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3200400"/>
            <a:ext cx="5486400" cy="411480"/>
          </a:xfrm>
          <a:prstGeom prst="rect">
            <a:avLst/>
          </a:prstGeom>
          <a:solidFill>
            <a:srgbClr val="ECF4E6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>
                <a:solidFill>
                  <a:srgbClr val="212121"/>
                </a:solidFill>
              </a:rPr>
              <a:t>Proposed Solution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0" y="3200400"/>
            <a:ext cx="2103120" cy="411480"/>
          </a:xfrm>
          <a:prstGeom prst="rect">
            <a:avLst/>
          </a:prstGeom>
          <a:solidFill>
            <a:srgbClr val="ECF4E6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 b="1">
                <a:solidFill>
                  <a:srgbClr val="1B5E20"/>
                </a:solidFill>
              </a:rPr>
              <a:t>1 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3611880"/>
            <a:ext cx="5486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>
                <a:solidFill>
                  <a:srgbClr val="212121"/>
                </a:solidFill>
              </a:rPr>
              <a:t>Architecture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3611880"/>
            <a:ext cx="21031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 b="1">
                <a:solidFill>
                  <a:srgbClr val="1B5E20"/>
                </a:solidFill>
              </a:rPr>
              <a:t>1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4023360"/>
            <a:ext cx="5486400" cy="411480"/>
          </a:xfrm>
          <a:prstGeom prst="rect">
            <a:avLst/>
          </a:prstGeom>
          <a:solidFill>
            <a:srgbClr val="ECF4E6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>
                <a:solidFill>
                  <a:srgbClr val="212121"/>
                </a:solidFill>
              </a:rPr>
              <a:t>Workflow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4023360"/>
            <a:ext cx="2103120" cy="411480"/>
          </a:xfrm>
          <a:prstGeom prst="rect">
            <a:avLst/>
          </a:prstGeom>
          <a:solidFill>
            <a:srgbClr val="ECF4E6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 b="1">
                <a:solidFill>
                  <a:srgbClr val="1B5E20"/>
                </a:solidFill>
              </a:rPr>
              <a:t>1 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0" y="4434840"/>
            <a:ext cx="5486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>
                <a:solidFill>
                  <a:srgbClr val="212121"/>
                </a:solidFill>
              </a:rPr>
              <a:t>Key Features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4434840"/>
            <a:ext cx="21031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 b="1">
                <a:solidFill>
                  <a:srgbClr val="1B5E20"/>
                </a:solidFill>
              </a:rPr>
              <a:t>1.5 min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4846320"/>
            <a:ext cx="5486400" cy="411480"/>
          </a:xfrm>
          <a:prstGeom prst="rect">
            <a:avLst/>
          </a:prstGeom>
          <a:solidFill>
            <a:srgbClr val="ECF4E6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>
                <a:solidFill>
                  <a:srgbClr val="212121"/>
                </a:solidFill>
              </a:rPr>
              <a:t>Implementation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4846320"/>
            <a:ext cx="2103120" cy="411480"/>
          </a:xfrm>
          <a:prstGeom prst="rect">
            <a:avLst/>
          </a:prstGeom>
          <a:solidFill>
            <a:srgbClr val="ECF4E6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 b="1">
                <a:solidFill>
                  <a:srgbClr val="1B5E20"/>
                </a:solidFill>
              </a:rPr>
              <a:t>1 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0" y="5257800"/>
            <a:ext cx="5486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>
                <a:solidFill>
                  <a:srgbClr val="212121"/>
                </a:solidFill>
              </a:rPr>
              <a:t>Results / Demo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5257800"/>
            <a:ext cx="21031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 b="1">
                <a:solidFill>
                  <a:srgbClr val="1B5E20"/>
                </a:solidFill>
              </a:rPr>
              <a:t>1 min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5669280"/>
            <a:ext cx="5486400" cy="411480"/>
          </a:xfrm>
          <a:prstGeom prst="rect">
            <a:avLst/>
          </a:prstGeom>
          <a:solidFill>
            <a:srgbClr val="ECF4E6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>
                <a:solidFill>
                  <a:srgbClr val="212121"/>
                </a:solidFill>
              </a:rPr>
              <a:t>Challenges / Future / Conclusion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0" y="5669280"/>
            <a:ext cx="2103120" cy="411480"/>
          </a:xfrm>
          <a:prstGeom prst="rect">
            <a:avLst/>
          </a:prstGeom>
          <a:solidFill>
            <a:srgbClr val="ECF4E6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 b="1">
                <a:solidFill>
                  <a:srgbClr val="1B5E20"/>
                </a:solidFill>
              </a:rPr>
              <a:t>1 min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0" y="6080760"/>
            <a:ext cx="7589520" cy="4114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b="1" sz="1500">
                <a:solidFill>
                  <a:srgbClr val="FAFAFA"/>
                </a:solidFill>
              </a:rPr>
              <a:t>Total: approximately 10 minutes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