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6949440" y="1097280"/>
            <a:ext cx="4389120" cy="4480560"/>
          </a:xfrm>
          <a:prstGeom prst="triangle">
            <a:avLst/>
          </a:prstGeom>
          <a:solidFill>
            <a:srgbClr val="31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5394960" y="1828800"/>
            <a:ext cx="3840480" cy="3749039"/>
          </a:xfrm>
          <a:prstGeom prst="triangle">
            <a:avLst/>
          </a:prstGeom>
          <a:solidFill>
            <a:srgbClr val="448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DFF1E6"/>
                </a:solidFill>
                <a:latin typeface="Aptos"/>
              </a:defRPr>
            </a:pPr>
            <a:r>
              <a:t>570 Programming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7040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ptos"/>
              </a:defRPr>
            </a:pPr>
            <a:r>
              <a:t>Kiwi Trail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99232"/>
            <a:ext cx="6492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DEEEDF"/>
                </a:solidFill>
                <a:latin typeface="Aptos"/>
              </a:defRPr>
            </a:pPr>
            <a:r>
              <a:t>A map-based web application for planning outdoor activities in New Zealand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1828800" cy="411480"/>
          </a:xfrm>
          <a:prstGeom prst="roundRect">
            <a:avLst/>
          </a:prstGeom>
          <a:solidFill>
            <a:srgbClr val="3C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3977639"/>
            <a:ext cx="1828800" cy="411480"/>
          </a:xfrm>
          <a:prstGeom prst="roundRect">
            <a:avLst/>
          </a:prstGeom>
          <a:solidFill>
            <a:srgbClr val="3C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977639"/>
            <a:ext cx="2103120" cy="411480"/>
          </a:xfrm>
          <a:prstGeom prst="roundRect">
            <a:avLst/>
          </a:prstGeom>
          <a:solidFill>
            <a:srgbClr val="3C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7DD"/>
                </a:solidFill>
                <a:latin typeface="Aptos"/>
              </a:defRPr>
            </a:pPr>
            <a:r>
              <a:t>Name / Team: [Add your name]   |   Date: [Add presentation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89B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E2E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863"/>
                </a:solidFill>
                <a:latin typeface="Aptos"/>
              </a:defRPr>
            </a:pPr>
            <a:r>
              <a:t>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53E2E"/>
                </a:solidFill>
                <a:latin typeface="Aptos"/>
              </a:defRPr>
            </a:pPr>
            <a:r>
              <a:t>Outdoor planning data is fragmented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B27"/>
                </a:solidFill>
                <a:latin typeface="Aptos"/>
              </a:defRPr>
            </a:pPr>
            <a:r>
              <a:t>New Zealand has rich outdoor datasets: tracks, huts, campsites, maps, and locations.</a:t>
            </a:r>
          </a:p>
          <a:p>
            <a:pPr>
              <a:spcAft>
                <a:spcPts val="800"/>
              </a:spcAft>
              <a:defRPr sz="2000">
                <a:solidFill>
                  <a:srgbClr val="232B27"/>
                </a:solidFill>
                <a:latin typeface="Aptos"/>
              </a:defRPr>
            </a:pPr>
            <a:r>
              <a:t>Useful information is spread across multiple sources such as DOC and LINZ.</a:t>
            </a:r>
          </a:p>
          <a:p>
            <a:pPr>
              <a:spcAft>
                <a:spcPts val="800"/>
              </a:spcAft>
              <a:defRPr sz="2000">
                <a:solidFill>
                  <a:srgbClr val="232B27"/>
                </a:solidFill>
                <a:latin typeface="Aptos"/>
              </a:defRPr>
            </a:pPr>
            <a:r>
              <a:t>Users need an easier way to find, compare, and navigate to outdoor destinations.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44805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Core issue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Planning a hike often requires switching between data sources, map tools, weather pages, and navigation apps.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14600"/>
            <a:ext cx="44805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Target users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Kiwis planning weekend activities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Visitors exploring New Zealand safely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794760"/>
            <a:ext cx="44805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Project opportunity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Combine local datasets into one convenient web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89B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E2E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863"/>
                </a:solidFill>
                <a:latin typeface="Aptos"/>
              </a:defRPr>
            </a:pPr>
            <a:r>
              <a:t>3/12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53E2E"/>
                </a:solidFill>
                <a:latin typeface="Aptos"/>
              </a:defRPr>
            </a:pPr>
            <a:r>
              <a:t>Build a convenient web application for outdoor activity planning.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47091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Find places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Search tracks, huts, campsites, and locations from local NZ datasets.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47091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Plan faster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Filter by region, difficulty, and nearby distance to narrow options quickly.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47091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Act confidently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View map locations, details, directions, and weather before visiting.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47091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Personalise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Allow comments and favourite saved places for later planning.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62356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26346"/>
                </a:solidFill>
                <a:latin typeface="Aptos"/>
              </a:defRPr>
            </a:pPr>
            <a:r>
              <a:t>Outcome: Kiwi Trail makes hiking and camping information easier to access for both locals and visitors.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89B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E2E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863"/>
                </a:solidFill>
                <a:latin typeface="Aptos"/>
              </a:defRPr>
            </a:pPr>
            <a:r>
              <a:t>4/12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53E2E"/>
                </a:solidFill>
                <a:latin typeface="Aptos"/>
              </a:defRPr>
            </a:pPr>
            <a:r>
              <a:t>Kiwi Trail: one map-based interface for discovery, planning, and navigation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2468880" cy="2971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Discover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Select region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Choose hiking difficulty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Search with fuzzy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057400"/>
            <a:ext cx="2468880" cy="2971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Explore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Filter tracks, huts, campsites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Show nearby items within 15 km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Display results on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2057400"/>
            <a:ext cx="2468880" cy="2971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Plan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Check item details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Open Google Maps directions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View NIWA weather forecast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3999" y="2057400"/>
            <a:ext cx="2468880" cy="2971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Engage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Add comments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Save favourite items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Return to planned destinations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623560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>
                <a:solidFill>
                  <a:srgbClr val="5E6863"/>
                </a:solidFill>
                <a:latin typeface="Aptos"/>
              </a:defRPr>
            </a:pPr>
            <a:r>
              <a:t>High-level idea: combine authoritative local data with a simple planning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89B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E2E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863"/>
                </a:solidFill>
                <a:latin typeface="Aptos"/>
              </a:defRPr>
            </a:pPr>
            <a:r>
              <a:t>5/12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143000"/>
            <a:ext cx="2194560" cy="868680"/>
          </a:xfrm>
          <a:prstGeom prst="roundRect">
            <a:avLst/>
          </a:prstGeom>
          <a:solidFill>
            <a:srgbClr val="F5FAF6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User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Kiwi or visitor using the website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40" y="1572768"/>
            <a:ext cx="822960" cy="0"/>
          </a:xfrm>
          <a:prstGeom prst="line">
            <a:avLst/>
          </a:prstGeom>
          <a:ln w="31750">
            <a:solidFill>
              <a:srgbClr val="226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31920" y="1143000"/>
            <a:ext cx="23317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React Frontend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Map UI, search, filters, details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27648" y="1572768"/>
            <a:ext cx="804672" cy="0"/>
          </a:xfrm>
          <a:prstGeom prst="line">
            <a:avLst/>
          </a:prstGeom>
          <a:ln w="31750">
            <a:solidFill>
              <a:srgbClr val="226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78040" y="1143000"/>
            <a:ext cx="21488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FastAPI Backend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API routes and business logic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90888" y="1572768"/>
            <a:ext cx="713232" cy="0"/>
          </a:xfrm>
          <a:prstGeom prst="line">
            <a:avLst/>
          </a:prstGeom>
          <a:ln w="31750">
            <a:solidFill>
              <a:srgbClr val="226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149840" y="1143000"/>
            <a:ext cx="16002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PostgreSQL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Stored geospatial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43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53E2E"/>
                </a:solidFill>
                <a:latin typeface="Aptos"/>
              </a:defRPr>
            </a:pPr>
            <a:r>
              <a:t>Imported local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337560"/>
            <a:ext cx="1691640" cy="411480"/>
          </a:xfrm>
          <a:prstGeom prst="roundRect">
            <a:avLst/>
          </a:prstGeom>
          <a:solidFill>
            <a:srgbClr val="D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53E2E"/>
                </a:solidFill>
                <a:latin typeface="Aptos"/>
              </a:defRPr>
            </a:pPr>
            <a:r>
              <a:t>DOC tracks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39" y="3337560"/>
            <a:ext cx="1691640" cy="411480"/>
          </a:xfrm>
          <a:prstGeom prst="roundRect">
            <a:avLst/>
          </a:prstGeom>
          <a:solidFill>
            <a:srgbClr val="D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53E2E"/>
                </a:solidFill>
                <a:latin typeface="Aptos"/>
              </a:defRPr>
            </a:pPr>
            <a:r>
              <a:t>DOC huts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337560"/>
            <a:ext cx="1691640" cy="411480"/>
          </a:xfrm>
          <a:prstGeom prst="roundRect">
            <a:avLst/>
          </a:prstGeom>
          <a:solidFill>
            <a:srgbClr val="D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53E2E"/>
                </a:solidFill>
                <a:latin typeface="Aptos"/>
              </a:defRPr>
            </a:pPr>
            <a:r>
              <a:t>DOC campsites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995928"/>
            <a:ext cx="1691640" cy="411480"/>
          </a:xfrm>
          <a:prstGeom prst="roundRect">
            <a:avLst/>
          </a:prstGeom>
          <a:solidFill>
            <a:srgbClr val="D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53E2E"/>
                </a:solidFill>
                <a:latin typeface="Aptos"/>
              </a:defRPr>
            </a:pPr>
            <a:r>
              <a:t>Region boundaries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39" y="3995928"/>
            <a:ext cx="1691640" cy="411480"/>
          </a:xfrm>
          <a:prstGeom prst="roundRect">
            <a:avLst/>
          </a:prstGeom>
          <a:solidFill>
            <a:srgbClr val="D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53E2E"/>
                </a:solidFill>
                <a:latin typeface="Aptos"/>
              </a:defRPr>
            </a:pPr>
            <a:r>
              <a:t>LINZ tiles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3995928"/>
            <a:ext cx="1691640" cy="411480"/>
          </a:xfrm>
          <a:prstGeom prst="roundRect">
            <a:avLst/>
          </a:prstGeom>
          <a:solidFill>
            <a:srgbClr val="D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53E2E"/>
                </a:solidFill>
                <a:latin typeface="Aptos"/>
              </a:defRPr>
            </a:pPr>
            <a:r>
              <a:t>LINZ gazetteer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309360" y="2148840"/>
            <a:ext cx="1325880" cy="1600199"/>
          </a:xfrm>
          <a:prstGeom prst="line">
            <a:avLst/>
          </a:prstGeom>
          <a:ln w="25400">
            <a:solidFill>
              <a:srgbClr val="2D8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66560" y="2971800"/>
            <a:ext cx="4480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232B27"/>
                </a:solidFill>
                <a:latin typeface="Aptos"/>
              </a:defRPr>
            </a:pPr>
            <a:r>
              <a:t>External services include Google Maps directions and NIWA weather forecast widgets.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4343400"/>
            <a:ext cx="2240280" cy="438912"/>
          </a:xfrm>
          <a:prstGeom prst="roundRect">
            <a:avLst/>
          </a:prstGeom>
          <a:solidFill>
            <a:srgbClr val="E2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397194"/>
                </a:solidFill>
                <a:latin typeface="Aptos"/>
              </a:defRPr>
            </a:pPr>
            <a:r>
              <a:t>Google Maps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4343400"/>
            <a:ext cx="1920240" cy="438912"/>
          </a:xfrm>
          <a:prstGeom prst="roundRect">
            <a:avLst/>
          </a:prstGeom>
          <a:solidFill>
            <a:srgbClr val="E2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397194"/>
                </a:solidFill>
                <a:latin typeface="Aptos"/>
              </a:defRPr>
            </a:pPr>
            <a:r>
              <a:t>NIWA Weather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89B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E2E"/>
                </a:solidFill>
                <a:latin typeface="Aptos Display"/>
              </a:defRPr>
            </a:pPr>
            <a:r>
              <a:t>Data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863"/>
                </a:solidFill>
                <a:latin typeface="Aptos"/>
              </a:defRPr>
            </a:pPr>
            <a:r>
              <a:t>6/12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53312" y="1417320"/>
            <a:ext cx="502920" cy="502920"/>
          </a:xfrm>
          <a:prstGeom prst="round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874519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Collect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DOC, LINZ, region and map datasets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87752" y="2926080"/>
            <a:ext cx="310896" cy="0"/>
          </a:xfrm>
          <a:prstGeom prst="line">
            <a:avLst/>
          </a:prstGeom>
          <a:ln w="25400">
            <a:solidFill>
              <a:srgbClr val="226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21024" y="1417320"/>
            <a:ext cx="502920" cy="502920"/>
          </a:xfrm>
          <a:prstGeom prst="round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53512" y="2011680"/>
            <a:ext cx="1874519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Prepare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Clean, transform, and align data fields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55464" y="2926080"/>
            <a:ext cx="310896" cy="0"/>
          </a:xfrm>
          <a:prstGeom prst="line">
            <a:avLst/>
          </a:prstGeom>
          <a:ln w="25400">
            <a:solidFill>
              <a:srgbClr val="226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88736" y="1417320"/>
            <a:ext cx="502920" cy="502920"/>
          </a:xfrm>
          <a:prstGeom prst="round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1224" y="2011680"/>
            <a:ext cx="1874519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Import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Load tracks, huts, campsites, and regions into PostgreSQL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23176" y="2926080"/>
            <a:ext cx="310895" cy="0"/>
          </a:xfrm>
          <a:prstGeom prst="line">
            <a:avLst/>
          </a:prstGeom>
          <a:ln w="25400">
            <a:solidFill>
              <a:srgbClr val="226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56448" y="1417320"/>
            <a:ext cx="502920" cy="502920"/>
          </a:xfrm>
          <a:prstGeom prst="round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88936" y="2011680"/>
            <a:ext cx="1874519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Serve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Expose search, filter, detail, and nearby APIs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90888" y="2926080"/>
            <a:ext cx="310896" cy="0"/>
          </a:xfrm>
          <a:prstGeom prst="line">
            <a:avLst/>
          </a:prstGeom>
          <a:ln w="25400">
            <a:solidFill>
              <a:srgbClr val="226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424160" y="1417320"/>
            <a:ext cx="502920" cy="502920"/>
          </a:xfrm>
          <a:prstGeom prst="round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56648" y="2011680"/>
            <a:ext cx="1874519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Display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Render map results and planning tools in React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0060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53E2E"/>
                </a:solidFill>
                <a:latin typeface="Aptos"/>
              </a:defRPr>
            </a:pPr>
            <a:r>
              <a:t>This pipeline turns raw New Zealand outdoor datasets into searchable, map-ready user experiences.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89B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E2E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863"/>
                </a:solidFill>
                <a:latin typeface="Aptos"/>
              </a:defRPr>
            </a:pPr>
            <a:r>
              <a:t>7/12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3154680" cy="566928"/>
          </a:xfrm>
          <a:prstGeom prst="roundRect">
            <a:avLst/>
          </a:prstGeom>
          <a:solidFill>
            <a:srgbClr val="E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26346"/>
                </a:solidFill>
                <a:latin typeface="Aptos"/>
              </a:defRPr>
            </a:pPr>
            <a:r>
              <a:t>Region selection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234440"/>
            <a:ext cx="3154680" cy="566928"/>
          </a:xfrm>
          <a:prstGeom prst="roundRect">
            <a:avLst/>
          </a:prstGeom>
          <a:solidFill>
            <a:srgbClr val="E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26346"/>
                </a:solidFill>
                <a:latin typeface="Aptos"/>
              </a:defRPr>
            </a:pPr>
            <a:r>
              <a:t>Difficulty 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234440"/>
            <a:ext cx="3154680" cy="566928"/>
          </a:xfrm>
          <a:prstGeom prst="roundRect">
            <a:avLst/>
          </a:prstGeom>
          <a:solidFill>
            <a:srgbClr val="E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26346"/>
                </a:solidFill>
                <a:latin typeface="Aptos"/>
              </a:defRPr>
            </a:pPr>
            <a:r>
              <a:t>Track / hut / campsite filter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3154680" cy="566928"/>
          </a:xfrm>
          <a:prstGeom prst="roundRect">
            <a:avLst/>
          </a:prstGeom>
          <a:solidFill>
            <a:srgbClr val="E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D8B82"/>
                </a:solidFill>
                <a:latin typeface="Aptos"/>
              </a:defRPr>
            </a:pPr>
            <a:r>
              <a:t>Fuzzy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194560"/>
            <a:ext cx="3154680" cy="566928"/>
          </a:xfrm>
          <a:prstGeom prst="roundRect">
            <a:avLst/>
          </a:prstGeom>
          <a:solidFill>
            <a:srgbClr val="E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D8B82"/>
                </a:solidFill>
                <a:latin typeface="Aptos"/>
              </a:defRPr>
            </a:pPr>
            <a:r>
              <a:t>Nearby results within 15 km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2194560"/>
            <a:ext cx="3154680" cy="566928"/>
          </a:xfrm>
          <a:prstGeom prst="roundRect">
            <a:avLst/>
          </a:prstGeom>
          <a:solidFill>
            <a:srgbClr val="E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D8B82"/>
                </a:solidFill>
                <a:latin typeface="Aptos"/>
              </a:defRPr>
            </a:pPr>
            <a:r>
              <a:t>Website map display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54680"/>
            <a:ext cx="3154680" cy="566928"/>
          </a:xfrm>
          <a:prstGeom prst="roundRect">
            <a:avLst/>
          </a:prstGeom>
          <a:solidFill>
            <a:srgbClr val="E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97194"/>
                </a:solidFill>
                <a:latin typeface="Aptos"/>
              </a:defRPr>
            </a:pPr>
            <a:r>
              <a:t>Item detail pages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3154680"/>
            <a:ext cx="3154680" cy="566928"/>
          </a:xfrm>
          <a:prstGeom prst="roundRect">
            <a:avLst/>
          </a:prstGeom>
          <a:solidFill>
            <a:srgbClr val="E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97194"/>
                </a:solidFill>
                <a:latin typeface="Aptos"/>
              </a:defRPr>
            </a:pPr>
            <a:r>
              <a:t>Google Maps directions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3154680"/>
            <a:ext cx="3154680" cy="566928"/>
          </a:xfrm>
          <a:prstGeom prst="roundRect">
            <a:avLst/>
          </a:prstGeom>
          <a:solidFill>
            <a:srgbClr val="E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97194"/>
                </a:solidFill>
                <a:latin typeface="Aptos"/>
              </a:defRPr>
            </a:pPr>
            <a:r>
              <a:t>NIWA weather forecast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114800"/>
            <a:ext cx="3154680" cy="566928"/>
          </a:xfrm>
          <a:prstGeom prst="roundRect">
            <a:avLst/>
          </a:prstGeom>
          <a:solidFill>
            <a:srgbClr val="FC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E58839"/>
                </a:solidFill>
                <a:latin typeface="Aptos"/>
              </a:defRPr>
            </a:pPr>
            <a:r>
              <a:t>User comments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114800"/>
            <a:ext cx="3154680" cy="566928"/>
          </a:xfrm>
          <a:prstGeom prst="roundRect">
            <a:avLst/>
          </a:prstGeom>
          <a:solidFill>
            <a:srgbClr val="FC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E58839"/>
                </a:solidFill>
                <a:latin typeface="Aptos"/>
              </a:defRPr>
            </a:pPr>
            <a:r>
              <a:t>Saved favourites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577840"/>
            <a:ext cx="10149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53E2E"/>
                </a:solidFill>
                <a:latin typeface="Aptos"/>
              </a:defRPr>
            </a:pPr>
            <a:r>
              <a:t>Feature focus: reduce planning friction from search to navigation.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89B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E2E"/>
                </a:solidFill>
                <a:latin typeface="Aptos Display"/>
              </a:defRPr>
            </a:pPr>
            <a:r>
              <a:t>Implementation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863"/>
                </a:solidFill>
                <a:latin typeface="Aptos"/>
              </a:defRPr>
            </a:pPr>
            <a:r>
              <a:t>8/12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4300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Frontend components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Interactive map display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Search bar and filter panel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Result list and item detail view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Comment section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Favourite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14300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Backend APIs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Tracks, huts, and campsites endpoints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Region and difficulty filters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Nearby location search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Comment and favourite handling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Data access layer for 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143000"/>
            <a:ext cx="324612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Database tables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tracks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huts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campsites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regions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users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comments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favourites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89B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E2E"/>
                </a:solidFill>
                <a:latin typeface="Aptos Display"/>
              </a:defRPr>
            </a:pPr>
            <a:r>
              <a:t>Results /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863"/>
                </a:solidFill>
                <a:latin typeface="Aptos"/>
              </a:defRPr>
            </a:pPr>
            <a:r>
              <a:t>9/12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43000"/>
            <a:ext cx="3291840" cy="1828800"/>
          </a:xfrm>
          <a:prstGeom prst="roundRect">
            <a:avLst/>
          </a:prstGeom>
          <a:solidFill>
            <a:srgbClr val="EEF3F0"/>
          </a:solidFill>
          <a:ln>
            <a:solidFill>
              <a:srgbClr val="ADBE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i="1">
                <a:solidFill>
                  <a:srgbClr val="5E6863"/>
                </a:solidFill>
                <a:latin typeface="Aptos"/>
              </a:defRPr>
            </a:pPr>
            <a:r>
              <a:t>Screenshot: home / map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43000"/>
            <a:ext cx="3291840" cy="1828800"/>
          </a:xfrm>
          <a:prstGeom prst="roundRect">
            <a:avLst/>
          </a:prstGeom>
          <a:solidFill>
            <a:srgbClr val="EEF3F0"/>
          </a:solidFill>
          <a:ln>
            <a:solidFill>
              <a:srgbClr val="ADBE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i="1">
                <a:solidFill>
                  <a:srgbClr val="5E6863"/>
                </a:solidFill>
                <a:latin typeface="Aptos"/>
              </a:defRPr>
            </a:pPr>
            <a:r>
              <a:t>Screenshot: search and filters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143000"/>
            <a:ext cx="3291840" cy="1828800"/>
          </a:xfrm>
          <a:prstGeom prst="roundRect">
            <a:avLst/>
          </a:prstGeom>
          <a:solidFill>
            <a:srgbClr val="EEF3F0"/>
          </a:solidFill>
          <a:ln>
            <a:solidFill>
              <a:srgbClr val="ADBE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i="1">
                <a:solidFill>
                  <a:srgbClr val="5E6863"/>
                </a:solidFill>
                <a:latin typeface="Aptos"/>
              </a:defRPr>
            </a:pPr>
            <a:r>
              <a:t>Screenshot: item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B27"/>
                </a:solidFill>
                <a:latin typeface="Aptos"/>
              </a:defRPr>
            </a:pPr>
            <a:r>
              <a:t>Demonstrate selecting a region and hiking difficulty.</a:t>
            </a:r>
          </a:p>
          <a:p>
            <a:pPr>
              <a:spcAft>
                <a:spcPts val="800"/>
              </a:spcAft>
              <a:defRPr sz="2000">
                <a:solidFill>
                  <a:srgbClr val="232B27"/>
                </a:solidFill>
                <a:latin typeface="Aptos"/>
              </a:defRPr>
            </a:pPr>
            <a:r>
              <a:t>Search for a track, hut, or campsite and view nearby results within 15 km.</a:t>
            </a:r>
          </a:p>
          <a:p>
            <a:pPr>
              <a:spcAft>
                <a:spcPts val="800"/>
              </a:spcAft>
              <a:defRPr sz="2000">
                <a:solidFill>
                  <a:srgbClr val="232B27"/>
                </a:solidFill>
                <a:latin typeface="Aptos"/>
              </a:defRPr>
            </a:pPr>
            <a:r>
              <a:t>Open details, check weather, save a favourite, and navigate with Google Maps.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4864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5E6863"/>
                </a:solidFill>
                <a:latin typeface="Aptos"/>
              </a:defRPr>
            </a:pPr>
            <a:r>
              <a:t>Tip: replace the placeholders with screenshots from your running application before presenting.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89B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E2E"/>
                </a:solidFill>
                <a:latin typeface="Aptos Display"/>
              </a:defRPr>
            </a:pPr>
            <a:r>
              <a:t>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863"/>
                </a:solidFill>
                <a:latin typeface="Aptos"/>
              </a:defRPr>
            </a:pPr>
            <a:r>
              <a:t>10/12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43000"/>
            <a:ext cx="448056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E58839"/>
                </a:solidFill>
                <a:latin typeface="Aptos Display"/>
              </a:defRPr>
            </a:pPr>
            <a:r>
              <a:t>Challenge: Combining multiple datasets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43000"/>
            <a:ext cx="54406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26346"/>
                </a:solidFill>
                <a:latin typeface="Aptos Display"/>
              </a:defRPr>
            </a:pPr>
            <a:r>
              <a:t>Solution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Clean and import data into PostgreSQL with consistent fields.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85232" y="1545336"/>
            <a:ext cx="329184" cy="0"/>
          </a:xfrm>
          <a:prstGeom prst="line">
            <a:avLst/>
          </a:prstGeom>
          <a:ln w="22860">
            <a:solidFill>
              <a:srgbClr val="5E6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" y="2286000"/>
            <a:ext cx="448056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E58839"/>
                </a:solidFill>
                <a:latin typeface="Aptos Display"/>
              </a:defRPr>
            </a:pPr>
            <a:r>
              <a:t>Challenge: Displaying geographic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286000"/>
            <a:ext cx="54406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26346"/>
                </a:solidFill>
                <a:latin typeface="Aptos Display"/>
              </a:defRPr>
            </a:pPr>
            <a:r>
              <a:t>Solution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Use map tiles and coordinates to show tracks, huts, and campsites.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85232" y="2688336"/>
            <a:ext cx="329184" cy="0"/>
          </a:xfrm>
          <a:prstGeom prst="line">
            <a:avLst/>
          </a:prstGeom>
          <a:ln w="22860">
            <a:solidFill>
              <a:srgbClr val="5E6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3429000"/>
            <a:ext cx="448056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E58839"/>
                </a:solidFill>
                <a:latin typeface="Aptos Display"/>
              </a:defRPr>
            </a:pPr>
            <a:r>
              <a:t>Challenge: Helping users find relevant places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429000"/>
            <a:ext cx="54406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26346"/>
                </a:solidFill>
                <a:latin typeface="Aptos Display"/>
              </a:defRPr>
            </a:pPr>
            <a:r>
              <a:t>Solution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Add region filters, difficulty filters, fuzzy search, and 15 km nearby search.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85232" y="3831336"/>
            <a:ext cx="329184" cy="0"/>
          </a:xfrm>
          <a:prstGeom prst="line">
            <a:avLst/>
          </a:prstGeom>
          <a:ln w="22860">
            <a:solidFill>
              <a:srgbClr val="5E6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4572000"/>
            <a:ext cx="448056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E58839"/>
                </a:solidFill>
                <a:latin typeface="Aptos Display"/>
              </a:defRPr>
            </a:pPr>
            <a:r>
              <a:t>Challenge: Improving trip planning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4572000"/>
            <a:ext cx="54406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26346"/>
                </a:solidFill>
                <a:latin typeface="Aptos Display"/>
              </a:defRPr>
            </a:pPr>
            <a:r>
              <a:t>Solution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Connect item details with weather, directions, comments, and favourites.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85232" y="4974336"/>
            <a:ext cx="329184" cy="0"/>
          </a:xfrm>
          <a:prstGeom prst="line">
            <a:avLst/>
          </a:prstGeom>
          <a:ln w="22860">
            <a:solidFill>
              <a:srgbClr val="5E6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89B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E2E"/>
                </a:solidFill>
                <a:latin typeface="Aptos Display"/>
              </a:defRPr>
            </a:pPr>
            <a:r>
              <a:t>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863"/>
                </a:solidFill>
                <a:latin typeface="Aptos"/>
              </a:defRPr>
            </a:pPr>
            <a:r>
              <a:t>11/12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31546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Trip itinerary planner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Build multi-stop routes and day plans.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1546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Offline map support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Use cached maps for remote locations.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1546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Safety information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Add alerts, closures, and track condition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08960"/>
            <a:ext cx="31546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User photos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Allow visitors to share recent place images.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108960"/>
            <a:ext cx="31546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Mobile app version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Improve experience during travel.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108960"/>
            <a:ext cx="31546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Recommendations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Suggest places based on region, difficulty, and saved favourites.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53E2E"/>
                </a:solidFill>
                <a:latin typeface="Aptos"/>
              </a:defRPr>
            </a:pPr>
            <a:r>
              <a:t>Future work can expand Kiwi Trail from discovery into full outdoor journey planning.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6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89B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E2E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863"/>
                </a:solidFill>
                <a:latin typeface="Aptos"/>
              </a:defRPr>
            </a:pPr>
            <a:r>
              <a:t>12/12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900" b="1">
                <a:solidFill>
                  <a:srgbClr val="153E2E"/>
                </a:solidFill>
                <a:latin typeface="Aptos"/>
              </a:defRPr>
            </a:pPr>
            <a:r>
              <a:t>Kiwi Trail makes New Zealand outdoor planning easier, faster, and more connected.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48840"/>
            <a:ext cx="30632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Local data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DOC, LINZ, region, map, and weather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148840"/>
            <a:ext cx="30632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Useful planning tools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Search, filters, nearby results, details, map, and navigation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2148840"/>
            <a:ext cx="30632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153E2E"/>
                </a:solidFill>
                <a:latin typeface="Aptos Display"/>
              </a:defRPr>
            </a:pPr>
            <a:r>
              <a:t>User value</a:t>
            </a:r>
          </a:p>
          <a:p>
            <a:pPr>
              <a:spcBef>
                <a:spcPts val="300"/>
              </a:spcBef>
              <a:defRPr sz="1350">
                <a:solidFill>
                  <a:srgbClr val="232B27"/>
                </a:solidFill>
                <a:latin typeface="Aptos"/>
              </a:defRPr>
            </a:pPr>
            <a:r>
              <a:t>Convenient access for Kiwis and visitors planning outdoor 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800600"/>
            <a:ext cx="9692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226346"/>
                </a:solidFill>
                <a:latin typeface="Aptos"/>
              </a:defRPr>
            </a:pPr>
            <a:r>
              <a:t>Impact: support safer and more convenient exploration of tracks, huts, campsites, and outdoor destinations across New Zealand.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89788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153E2E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570 Programming Project — Kiwi Trail</dc:title>
  <dc:subject>10-minute project presentation</dc:subject>
  <dc:creator>Kiwi Trail Project Team</dc:creator>
  <cp:keywords/>
  <dc:description>Generated presentation deck for Kiwi Trail.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