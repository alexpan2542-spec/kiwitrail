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6583680" y="1188720"/>
            <a:ext cx="4480560" cy="4389120"/>
          </a:xfrm>
          <a:prstGeom prst="triangle">
            <a:avLst/>
          </a:prstGeom>
          <a:solidFill>
            <a:srgbClr val="378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5212080" y="1920240"/>
            <a:ext cx="3749039" cy="3657600"/>
          </a:xfrm>
          <a:prstGeom prst="triangle">
            <a:avLst/>
          </a:prstGeom>
          <a:solidFill>
            <a:srgbClr val="4A9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9052560" y="2240280"/>
            <a:ext cx="2651760" cy="3246120"/>
          </a:xfrm>
          <a:prstGeom prst="triangle">
            <a:avLst/>
          </a:prstGeom>
          <a:solidFill>
            <a:srgbClr val="5D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E2F2E8"/>
                </a:solidFill>
                <a:latin typeface="Aptos"/>
              </a:defRPr>
            </a:pPr>
            <a:r>
              <a:t>570 Programming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500" b="1">
                <a:solidFill>
                  <a:srgbClr val="FFFFFF"/>
                </a:solidFill>
                <a:latin typeface="Aptos"/>
              </a:defRPr>
            </a:pPr>
            <a:r>
              <a:t>Kiwi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6583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E0EFE3"/>
                </a:solidFill>
                <a:latin typeface="Aptos"/>
              </a:defRPr>
            </a:pPr>
            <a:r>
              <a:t>Web application for hiking, huts, campsites, maps, and trip planning in New Zealand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1965960" cy="384048"/>
          </a:xfrm>
          <a:prstGeom prst="roundRect">
            <a:avLst/>
          </a:prstGeom>
          <a:solidFill>
            <a:srgbClr val="49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7–8 min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977639"/>
            <a:ext cx="1417320" cy="384048"/>
          </a:xfrm>
          <a:prstGeom prst="roundRect">
            <a:avLst/>
          </a:prstGeom>
          <a:solidFill>
            <a:srgbClr val="49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with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BEADE"/>
                </a:solidFill>
                <a:latin typeface="Aptos"/>
              </a:defRPr>
            </a:pPr>
            <a:r>
              <a:t>Presenter: [Add your name / team]    Date: [Add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2/10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972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53F2D"/>
                </a:solidFill>
                <a:latin typeface="Aptos"/>
              </a:defRPr>
            </a:pPr>
            <a:r>
              <a:t>Outdoor activity information is useful, but not always easy to use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2D28"/>
                </a:solidFill>
                <a:latin typeface="Aptos"/>
              </a:defRPr>
            </a:pPr>
            <a:r>
              <a:t>DOC provides tracks, huts, and campsite data.</a:t>
            </a:r>
          </a:p>
          <a:p>
            <a:pPr>
              <a:spcAft>
                <a:spcPts val="700"/>
              </a:spcAft>
              <a:defRPr sz="2000">
                <a:solidFill>
                  <a:srgbClr val="252D28"/>
                </a:solidFill>
                <a:latin typeface="Aptos"/>
              </a:defRPr>
            </a:pPr>
            <a:r>
              <a:t>LINZ provides map tiles and location gazetteer data.</a:t>
            </a:r>
          </a:p>
          <a:p>
            <a:pPr>
              <a:spcAft>
                <a:spcPts val="700"/>
              </a:spcAft>
              <a:defRPr sz="2000">
                <a:solidFill>
                  <a:srgbClr val="252D28"/>
                </a:solidFill>
                <a:latin typeface="Aptos"/>
              </a:defRPr>
            </a:pPr>
            <a:r>
              <a:t>Region boundaries help users narrow down locations.</a:t>
            </a:r>
          </a:p>
          <a:p>
            <a:pPr>
              <a:spcAft>
                <a:spcPts val="700"/>
              </a:spcAft>
              <a:defRPr sz="2000">
                <a:solidFill>
                  <a:srgbClr val="252D28"/>
                </a:solidFill>
                <a:latin typeface="Aptos"/>
              </a:defRPr>
            </a:pPr>
            <a:r>
              <a:t>Users often need maps, weather, details, and navigation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27632"/>
            <a:ext cx="4434840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B24E43"/>
                </a:solidFill>
                <a:latin typeface="Aptos Display"/>
              </a:defRPr>
            </a:pPr>
            <a:r>
              <a:t>Main issue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Data exists, but planning a trip can feel fragmented and inconvenient.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944368"/>
            <a:ext cx="4434840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306A97"/>
                </a:solidFill>
                <a:latin typeface="Aptos Display"/>
              </a:defRPr>
            </a:pPr>
            <a:r>
              <a:t>Target users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New Zealand locals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Visitors planning outdoor activities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261104"/>
            <a:ext cx="4434840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216143"/>
                </a:solidFill>
                <a:latin typeface="Aptos Display"/>
              </a:defRPr>
            </a:pPr>
            <a:r>
              <a:t>Need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A simple web app for searching, filtering, viewing, and navigating to destinations.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45 sec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2. Objective &amp;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3/10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6070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53F2D"/>
                </a:solidFill>
                <a:latin typeface="Aptos"/>
              </a:defRPr>
            </a:pPr>
            <a:r>
              <a:t>Build Kiwi Trail to help users plan outdoor activities easily and conveniently.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200400" cy="26060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Objective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Use local NZ datasets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Support search and filtering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Show places on an interactive map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Help users decide and navigate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200400" cy="26060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Solution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React web application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FastAPI backend APIs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PostgreSQL database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DOC + LINZ + weather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74519"/>
            <a:ext cx="3063240" cy="26060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User value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Faster planning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Better location awareness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Weather and directions included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Save favourite places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578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16143"/>
                </a:solidFill>
                <a:latin typeface="Aptos"/>
              </a:defRPr>
            </a:pPr>
            <a:r>
              <a:t>Key message: Kiwi Trail connects trusted local data with practical planning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45 sec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3.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216143"/>
                </a:solidFill>
                <a:latin typeface="Aptos"/>
              </a:defRPr>
            </a:pPr>
            <a:r>
              <a:t>Select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216143"/>
                </a:solidFill>
                <a:latin typeface="Aptos"/>
              </a:defRPr>
            </a:pPr>
            <a:r>
              <a:t>Select hiking difficulty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216143"/>
                </a:solidFill>
                <a:latin typeface="Aptos"/>
              </a:defRPr>
            </a:pPr>
            <a:r>
              <a:t>Filter tracks / huts / campsites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2B8984"/>
                </a:solidFill>
                <a:latin typeface="Aptos"/>
              </a:defRPr>
            </a:pPr>
            <a:r>
              <a:t>Fuzzy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9456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2B8984"/>
                </a:solidFill>
                <a:latin typeface="Aptos"/>
              </a:defRPr>
            </a:pPr>
            <a:r>
              <a:t>Show nearby items within 15 km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2B8984"/>
                </a:solidFill>
                <a:latin typeface="Aptos"/>
              </a:defRPr>
            </a:pPr>
            <a:r>
              <a:t>Display results on website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306A97"/>
                </a:solidFill>
                <a:latin typeface="Aptos"/>
              </a:defRPr>
            </a:pPr>
            <a:r>
              <a:t>Check item 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15468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306A97"/>
                </a:solidFill>
                <a:latin typeface="Aptos"/>
              </a:defRPr>
            </a:pPr>
            <a:r>
              <a:t>Open Google Maps directions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54680"/>
            <a:ext cx="3154680" cy="566928"/>
          </a:xfrm>
          <a:prstGeom prst="roundRect">
            <a:avLst/>
          </a:prstGeom>
          <a:solidFill>
            <a:srgbClr val="E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306A97"/>
                </a:solidFill>
                <a:latin typeface="Aptos"/>
              </a:defRPr>
            </a:pPr>
            <a:r>
              <a:t>Show NIWA weather 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154680" cy="566928"/>
          </a:xfrm>
          <a:prstGeom prst="roundRect">
            <a:avLst/>
          </a:prstGeom>
          <a:solidFill>
            <a:srgbClr val="FD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DE8230"/>
                </a:solidFill>
                <a:latin typeface="Aptos"/>
              </a:defRPr>
            </a:pPr>
            <a:r>
              <a:t>Add comments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114800"/>
            <a:ext cx="3154680" cy="566928"/>
          </a:xfrm>
          <a:prstGeom prst="roundRect">
            <a:avLst/>
          </a:prstGeom>
          <a:solidFill>
            <a:srgbClr val="FD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DE8230"/>
                </a:solidFill>
                <a:latin typeface="Aptos"/>
              </a:defRPr>
            </a:pPr>
            <a:r>
              <a:t>Save favourite 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114800"/>
            <a:ext cx="3154680" cy="566928"/>
          </a:xfrm>
          <a:prstGeom prst="roundRect">
            <a:avLst/>
          </a:prstGeom>
          <a:solidFill>
            <a:srgbClr val="FD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DE8230"/>
                </a:solidFill>
                <a:latin typeface="Aptos"/>
              </a:defRPr>
            </a:pPr>
            <a:r>
              <a:t>Use demo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8640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3F2D"/>
                </a:solidFill>
                <a:latin typeface="Aptos"/>
              </a:defRPr>
            </a:pPr>
            <a:r>
              <a:t>These features support the full journey: discover → compare → decide → navigate.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55 sec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4.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2057400" cy="960120"/>
          </a:xfrm>
          <a:prstGeom prst="roundRect">
            <a:avLst/>
          </a:prstGeom>
          <a:solidFill>
            <a:srgbClr val="F9FCFA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User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Uses website to search and plan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16352" y="1755648"/>
            <a:ext cx="612648" cy="0"/>
          </a:xfrm>
          <a:prstGeom prst="line">
            <a:avLst/>
          </a:prstGeom>
          <a:ln w="25400">
            <a:solidFill>
              <a:srgbClr val="216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93008" y="1280160"/>
            <a:ext cx="2240280" cy="9601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React Frontend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Map, filters, details, comments, favourites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1755648"/>
            <a:ext cx="612648" cy="0"/>
          </a:xfrm>
          <a:prstGeom prst="line">
            <a:avLst/>
          </a:prstGeom>
          <a:ln w="25400">
            <a:solidFill>
              <a:srgbClr val="216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92240" y="1280160"/>
            <a:ext cx="2011680" cy="9601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FastAPI Backend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APIs and data logic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77072" y="1755648"/>
            <a:ext cx="612648" cy="0"/>
          </a:xfrm>
          <a:prstGeom prst="line">
            <a:avLst/>
          </a:prstGeom>
          <a:ln w="25400">
            <a:solidFill>
              <a:srgbClr val="216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81160" y="1280160"/>
            <a:ext cx="2057400" cy="9601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PostgreSQL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Tracks, huts, campsites, 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53F2D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1627632" cy="411480"/>
          </a:xfrm>
          <a:prstGeom prst="roundRect">
            <a:avLst/>
          </a:prstGeom>
          <a:solidFill>
            <a:srgbClr val="E2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20" b="1">
                <a:solidFill>
                  <a:srgbClr val="153F2D"/>
                </a:solidFill>
                <a:latin typeface="Aptos"/>
              </a:defRPr>
            </a:pPr>
            <a:r>
              <a:t>DOC tracks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566160"/>
            <a:ext cx="1627632" cy="411480"/>
          </a:xfrm>
          <a:prstGeom prst="roundRect">
            <a:avLst/>
          </a:prstGeom>
          <a:solidFill>
            <a:srgbClr val="E2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20" b="1">
                <a:solidFill>
                  <a:srgbClr val="153F2D"/>
                </a:solidFill>
                <a:latin typeface="Aptos"/>
              </a:defRPr>
            </a:pPr>
            <a:r>
              <a:t>DOC huts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3566160"/>
            <a:ext cx="1627632" cy="411480"/>
          </a:xfrm>
          <a:prstGeom prst="roundRect">
            <a:avLst/>
          </a:prstGeom>
          <a:solidFill>
            <a:srgbClr val="E2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20" b="1">
                <a:solidFill>
                  <a:srgbClr val="153F2D"/>
                </a:solidFill>
                <a:latin typeface="Aptos"/>
              </a:defRPr>
            </a:pPr>
            <a:r>
              <a:t>DOC campsites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24528"/>
            <a:ext cx="1627632" cy="411480"/>
          </a:xfrm>
          <a:prstGeom prst="roundRect">
            <a:avLst/>
          </a:prstGeom>
          <a:solidFill>
            <a:srgbClr val="E2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20" b="1">
                <a:solidFill>
                  <a:srgbClr val="153F2D"/>
                </a:solidFill>
                <a:latin typeface="Aptos"/>
              </a:defRPr>
            </a:pPr>
            <a:r>
              <a:t>Region boundaries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224528"/>
            <a:ext cx="1627632" cy="411480"/>
          </a:xfrm>
          <a:prstGeom prst="roundRect">
            <a:avLst/>
          </a:prstGeom>
          <a:solidFill>
            <a:srgbClr val="E2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20" b="1">
                <a:solidFill>
                  <a:srgbClr val="153F2D"/>
                </a:solidFill>
                <a:latin typeface="Aptos"/>
              </a:defRPr>
            </a:pPr>
            <a:r>
              <a:t>LINZ map tiles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4224528"/>
            <a:ext cx="1627632" cy="411480"/>
          </a:xfrm>
          <a:prstGeom prst="roundRect">
            <a:avLst/>
          </a:prstGeom>
          <a:solidFill>
            <a:srgbClr val="E2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20" b="1">
                <a:solidFill>
                  <a:srgbClr val="153F2D"/>
                </a:solidFill>
                <a:latin typeface="Aptos"/>
              </a:defRPr>
            </a:pPr>
            <a:r>
              <a:t>LINZ gazetteer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53F2D"/>
                </a:solidFill>
                <a:latin typeface="Aptos"/>
              </a:defRPr>
            </a:pPr>
            <a:r>
              <a:t>External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703320"/>
            <a:ext cx="2240280" cy="438912"/>
          </a:xfrm>
          <a:prstGeom prst="roundRect">
            <a:avLst/>
          </a:prstGeom>
          <a:solidFill>
            <a:srgbClr val="E6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06A97"/>
                </a:solidFill>
                <a:latin typeface="Aptos"/>
              </a:defRPr>
            </a:pPr>
            <a:r>
              <a:t>Google Maps directions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703320"/>
            <a:ext cx="1965960" cy="438912"/>
          </a:xfrm>
          <a:prstGeom prst="roundRect">
            <a:avLst/>
          </a:prstGeom>
          <a:solidFill>
            <a:srgbClr val="E6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06A97"/>
                </a:solidFill>
                <a:latin typeface="Aptos"/>
              </a:defRPr>
            </a:pPr>
            <a:r>
              <a:t>NIWA weather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3484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C6760"/>
                </a:solidFill>
                <a:latin typeface="Aptos"/>
              </a:defRPr>
            </a:pPr>
            <a:r>
              <a:t>The backend connects the database with map-based frontend interactions.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60 sec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5. User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1325880"/>
            <a:ext cx="475488" cy="475488"/>
          </a:xfrm>
          <a:prstGeom prst="round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481328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Choose region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21991" y="2487168"/>
            <a:ext cx="274321" cy="0"/>
          </a:xfrm>
          <a:prstGeom prst="line">
            <a:avLst/>
          </a:prstGeom>
          <a:ln w="21590">
            <a:solidFill>
              <a:srgbClr val="216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4952" y="1325880"/>
            <a:ext cx="475488" cy="475488"/>
          </a:xfrm>
          <a:prstGeom prst="round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965960"/>
            <a:ext cx="1481328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Set difficulty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96511" y="2487168"/>
            <a:ext cx="274320" cy="0"/>
          </a:xfrm>
          <a:prstGeom prst="line">
            <a:avLst/>
          </a:prstGeom>
          <a:ln w="21590">
            <a:solidFill>
              <a:srgbClr val="216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19472" y="1325880"/>
            <a:ext cx="475488" cy="475488"/>
          </a:xfrm>
          <a:prstGeom prst="round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965960"/>
            <a:ext cx="1481328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Search / filter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1" y="2487168"/>
            <a:ext cx="274321" cy="0"/>
          </a:xfrm>
          <a:prstGeom prst="line">
            <a:avLst/>
          </a:prstGeom>
          <a:ln w="21590">
            <a:solidFill>
              <a:srgbClr val="216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93992" y="1325880"/>
            <a:ext cx="475488" cy="475488"/>
          </a:xfrm>
          <a:prstGeom prst="round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965960"/>
            <a:ext cx="1481328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View map results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5552" y="2487168"/>
            <a:ext cx="274319" cy="0"/>
          </a:xfrm>
          <a:prstGeom prst="line">
            <a:avLst/>
          </a:prstGeom>
          <a:ln w="21590">
            <a:solidFill>
              <a:srgbClr val="216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68511" y="1325880"/>
            <a:ext cx="475488" cy="475488"/>
          </a:xfrm>
          <a:prstGeom prst="round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965960"/>
            <a:ext cx="1481328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Open details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20072" y="2487168"/>
            <a:ext cx="274320" cy="0"/>
          </a:xfrm>
          <a:prstGeom prst="line">
            <a:avLst/>
          </a:prstGeom>
          <a:ln w="21590">
            <a:solidFill>
              <a:srgbClr val="216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43032" y="1325880"/>
            <a:ext cx="475488" cy="475488"/>
          </a:xfrm>
          <a:prstGeom prst="round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965960"/>
            <a:ext cx="1481328" cy="1051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Navigate / 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404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3F2D"/>
                </a:solidFill>
                <a:latin typeface="Aptos"/>
              </a:defRPr>
            </a:pPr>
            <a:r>
              <a:t>Demo plan for recording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3484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52D28"/>
                </a:solidFill>
                <a:latin typeface="Aptos"/>
              </a:defRPr>
            </a:pPr>
            <a:r>
              <a:t>Start from the map page, select a region and difficulty.</a:t>
            </a:r>
          </a:p>
          <a:p>
            <a:pPr>
              <a:spcAft>
                <a:spcPts val="700"/>
              </a:spcAft>
              <a:defRPr sz="2000">
                <a:solidFill>
                  <a:srgbClr val="252D28"/>
                </a:solidFill>
                <a:latin typeface="Aptos"/>
              </a:defRPr>
            </a:pPr>
            <a:r>
              <a:t>Search for an item, open its detail page, then show weather, directions, comments, and favourites.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45 sec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6. Implementation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337560" cy="3977639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Frontend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React components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Map display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Search and filters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Item detail view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Comments and favourites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37560" cy="3977639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Backend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FastAPI endpoints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Region and difficulty filtering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Nearby search within 15 km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Comments and favourites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246120" cy="3977639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Database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tracks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huts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campsites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regions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users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comments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favourites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45 sec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7. Demo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15568"/>
            <a:ext cx="3611880" cy="1874519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99AEA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i="1">
                <a:solidFill>
                  <a:srgbClr val="5C6760"/>
                </a:solidFill>
                <a:latin typeface="Aptos"/>
              </a:defRPr>
            </a:pPr>
            <a:r>
              <a:t>Add screenshot: Map / home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115568"/>
            <a:ext cx="3611880" cy="1874519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99AEA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i="1">
                <a:solidFill>
                  <a:srgbClr val="5C6760"/>
                </a:solidFill>
                <a:latin typeface="Aptos"/>
              </a:defRPr>
            </a:pPr>
            <a:r>
              <a:t>Add screenshot: Search + filters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752" y="1115568"/>
            <a:ext cx="3246120" cy="1874519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99AEA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i="1">
                <a:solidFill>
                  <a:srgbClr val="5C6760"/>
                </a:solidFill>
                <a:latin typeface="Aptos"/>
              </a:defRPr>
            </a:pPr>
            <a:r>
              <a:t>Add screenshot: Details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01568"/>
            <a:ext cx="3611880" cy="1874519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99AEA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i="1">
                <a:solidFill>
                  <a:srgbClr val="5C6760"/>
                </a:solidFill>
                <a:latin typeface="Aptos"/>
              </a:defRPr>
            </a:pPr>
            <a:r>
              <a:t>Add screenshot: Weather + directions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3401568"/>
            <a:ext cx="3611880" cy="1874519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99AEA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i="1">
                <a:solidFill>
                  <a:srgbClr val="5C6760"/>
                </a:solidFill>
                <a:latin typeface="Aptos"/>
              </a:defRPr>
            </a:pPr>
            <a:r>
              <a:t>Add screenshot: Comments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3401568"/>
            <a:ext cx="3246120" cy="1874519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99AEA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i="1">
                <a:solidFill>
                  <a:srgbClr val="5C6760"/>
                </a:solidFill>
                <a:latin typeface="Aptos"/>
              </a:defRPr>
            </a:pPr>
            <a:r>
              <a:t>Add screenshot: Favourites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5C6760"/>
                </a:solidFill>
                <a:latin typeface="Aptos"/>
              </a:defRPr>
            </a:pPr>
            <a:r>
              <a:t>Keep this section visual during the video: talk through the live demo instead of reading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2 min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8. Challenges &amp;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88720"/>
            <a:ext cx="5074920" cy="9601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D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DE8230"/>
                </a:solidFill>
                <a:latin typeface="Aptos Display"/>
              </a:defRPr>
            </a:pPr>
            <a:r>
              <a:t>Challenge: combining multiple datasets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Solution: clean and import data into a consistent PostgreSQL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5074920" cy="9601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D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DE8230"/>
                </a:solidFill>
                <a:latin typeface="Aptos Display"/>
              </a:defRPr>
            </a:pPr>
            <a:r>
              <a:t>Challenge: geographic display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Solution: use map tiles and coordinates to show data visually.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57600"/>
            <a:ext cx="5074920" cy="9601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DC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DE8230"/>
                </a:solidFill>
                <a:latin typeface="Aptos Display"/>
              </a:defRPr>
            </a:pPr>
            <a:r>
              <a:t>Challenge: useful trip planning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Solution: add search, filters, details, weather, directions, comments, and favourites.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188720"/>
            <a:ext cx="4663440" cy="342900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216143"/>
                </a:solidFill>
                <a:latin typeface="Aptos Display"/>
              </a:defRPr>
            </a:pPr>
            <a:r>
              <a:t>Future improvements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Trip itinerary planner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Offline map support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Safety alerts and track condition updates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User-uploaded photos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Mobile app version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Smarter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60 sec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16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3F2D"/>
                </a:solidFill>
                <a:latin typeface="Aptos Display"/>
              </a:defRPr>
            </a:pPr>
            <a:r>
              <a:t>9. Conclusion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46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60"/>
                </a:solidFill>
                <a:latin typeface="Aptos"/>
              </a:defRPr>
            </a:pPr>
            <a:r>
              <a:t>10/10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424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153F2D"/>
                </a:solidFill>
                <a:latin typeface="Aptos"/>
              </a:defRPr>
            </a:pPr>
            <a:r>
              <a:t>Kiwi Trail makes outdoor activity planning in New Zealand easier and more connected.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306324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Clear content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Local data, practical features, and a complete user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48840"/>
            <a:ext cx="306324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Demo included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Show search, filters, map, details, weather, directions, comments, and favourites.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148840"/>
            <a:ext cx="29260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D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700" b="1">
                <a:solidFill>
                  <a:srgbClr val="153F2D"/>
                </a:solidFill>
                <a:latin typeface="Aptos Display"/>
              </a:defRPr>
            </a:pPr>
            <a:r>
              <a:t>User impact</a:t>
            </a:r>
          </a:p>
          <a:p>
            <a:pPr>
              <a:spcBef>
                <a:spcPts val="300"/>
              </a:spcBef>
              <a:defRPr sz="1380">
                <a:solidFill>
                  <a:srgbClr val="252D28"/>
                </a:solidFill>
                <a:latin typeface="Aptos"/>
              </a:defRPr>
            </a:pPr>
            <a:r>
              <a:t>Helps Kiwis and visitors plan hiking and camping more conveniently.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10012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5C6760"/>
                </a:solidFill>
                <a:latin typeface="Aptos"/>
              </a:defRPr>
            </a:pPr>
            <a:r>
              <a:t>Possible Q&amp;A topics: data sources, nearby search, fuzzy search, map display, and future safety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55321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153F2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6327648"/>
            <a:ext cx="3108960" cy="310896"/>
          </a:xfrm>
          <a:prstGeom prst="roundRect">
            <a:avLst/>
          </a:prstGeom>
          <a:solidFill>
            <a:srgbClr val="EC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5C6760"/>
                </a:solidFill>
                <a:latin typeface="Aptos"/>
              </a:defRPr>
            </a:pPr>
            <a:r>
              <a:t>Suggested time: 30 sec +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570 Programming Project — Kiwi Trail 7–8 Minute Presentation</dc:title>
  <dc:subject>Project Presentation with demo placeholders</dc:subject>
  <dc:creator>Kiwi Trail Project Team</dc:creator>
  <cp:keywords/>
  <dc:description>Slides designed for a 7–8 minute presentation with demo screenshot placeholders.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