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7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86200" cy="6858000"/>
          </a:xfrm>
          <a:prstGeom prst="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749808"/>
            <a:ext cx="2880360" cy="1325880"/>
          </a:xfrm>
          <a:prstGeom prst="rect">
            <a:avLst/>
          </a:prstGeom>
          <a:noFill/>
        </p:spPr>
        <p:txBody>
          <a:bodyPr wrap="none">
            <a:spAutoFit/>
          </a:bodyPr>
          <a:lstStyle/>
          <a:p>
            <a:pPr>
              <a:lnSpc>
                <a:spcPct val="90000"/>
              </a:lnSpc>
            </a:pPr>
            <a:r>
              <a:rPr sz="3100" b="1">
                <a:solidFill>
                  <a:srgbClr val="FFFFFF"/>
                </a:solidFill>
                <a:latin typeface="Microsoft YaHei"/>
              </a:rPr>
              <a:t>KiwiTrail</a:t>
            </a:r>
            <a:br/>
            <a:r>
              <a:t>项目展示</a:t>
            </a:r>
          </a:p>
        </p:txBody>
      </p:sp>
      <p:sp>
        <p:nvSpPr>
          <p:cNvPr id="5" name="TextBox 4"/>
          <p:cNvSpPr txBox="1"/>
          <p:nvPr/>
        </p:nvSpPr>
        <p:spPr>
          <a:xfrm>
            <a:off x="621792" y="2331720"/>
            <a:ext cx="2697480" cy="731520"/>
          </a:xfrm>
          <a:prstGeom prst="rect">
            <a:avLst/>
          </a:prstGeom>
          <a:noFill/>
        </p:spPr>
        <p:txBody>
          <a:bodyPr wrap="none">
            <a:spAutoFit/>
          </a:bodyPr>
          <a:lstStyle/>
          <a:p>
            <a:pPr>
              <a:lnSpc>
                <a:spcPct val="110000"/>
              </a:lnSpc>
            </a:pPr>
            <a:r>
              <a:rPr sz="1300" b="0">
                <a:solidFill>
                  <a:srgbClr val="DBEFE3"/>
                </a:solidFill>
                <a:latin typeface="Microsoft YaHei"/>
              </a:rPr>
              <a:t>新西兰户外目的地发现平台</a:t>
            </a:r>
            <a:br/>
            <a:r>
              <a:t>React · FastAPI · PostGIS</a:t>
            </a:r>
          </a:p>
        </p:txBody>
      </p:sp>
      <p:sp>
        <p:nvSpPr>
          <p:cNvPr id="6" name="Rounded Rectangle 5"/>
          <p:cNvSpPr/>
          <p:nvPr/>
        </p:nvSpPr>
        <p:spPr>
          <a:xfrm>
            <a:off x="658368" y="3337560"/>
            <a:ext cx="1143000" cy="310896"/>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392424"/>
            <a:ext cx="1143000" cy="182880"/>
          </a:xfrm>
          <a:prstGeom prst="rect">
            <a:avLst/>
          </a:prstGeom>
          <a:noFill/>
        </p:spPr>
        <p:txBody>
          <a:bodyPr wrap="none">
            <a:spAutoFit/>
          </a:bodyPr>
          <a:lstStyle/>
          <a:p>
            <a:pPr algn="ctr"/>
            <a:r>
              <a:rPr sz="850" b="1">
                <a:solidFill>
                  <a:srgbClr val="FFFFFF"/>
                </a:solidFill>
                <a:latin typeface="Aptos"/>
              </a:rPr>
              <a:t>Geospatial</a:t>
            </a:r>
          </a:p>
        </p:txBody>
      </p:sp>
      <p:sp>
        <p:nvSpPr>
          <p:cNvPr id="8" name="Rounded Rectangle 7"/>
          <p:cNvSpPr/>
          <p:nvPr/>
        </p:nvSpPr>
        <p:spPr>
          <a:xfrm>
            <a:off x="1920240" y="3337560"/>
            <a:ext cx="1143000" cy="310896"/>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3392424"/>
            <a:ext cx="1143000" cy="182880"/>
          </a:xfrm>
          <a:prstGeom prst="rect">
            <a:avLst/>
          </a:prstGeom>
          <a:noFill/>
        </p:spPr>
        <p:txBody>
          <a:bodyPr wrap="none">
            <a:spAutoFit/>
          </a:bodyPr>
          <a:lstStyle/>
          <a:p>
            <a:pPr algn="ctr"/>
            <a:r>
              <a:rPr sz="850" b="1">
                <a:solidFill>
                  <a:srgbClr val="FFFFFF"/>
                </a:solidFill>
                <a:latin typeface="Aptos"/>
              </a:rPr>
              <a:t>Full-stack</a:t>
            </a:r>
          </a:p>
        </p:txBody>
      </p:sp>
      <p:sp>
        <p:nvSpPr>
          <p:cNvPr id="11" name="Rounded Rectangle 10"/>
          <p:cNvSpPr/>
          <p:nvPr/>
        </p:nvSpPr>
        <p:spPr>
          <a:xfrm>
            <a:off x="4206240" y="457200"/>
            <a:ext cx="7315200" cy="5394959"/>
          </a:xfrm>
          <a:prstGeom prst="roundRect">
            <a:avLst/>
          </a:prstGeom>
          <a:solidFill>
            <a:srgbClr val="FFFFFF"/>
          </a:solidFill>
          <a:ln>
            <a:solidFill>
              <a:srgbClr val="E1E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omepage.png"/>
          <p:cNvPicPr>
            <a:picLocks noChangeAspect="1"/>
          </p:cNvPicPr>
          <p:nvPr/>
        </p:nvPicPr>
        <p:blipFill>
          <a:blip r:embed="rId2"/>
          <a:stretch>
            <a:fillRect/>
          </a:stretch>
        </p:blipFill>
        <p:spPr>
          <a:xfrm>
            <a:off x="4251960" y="1392718"/>
            <a:ext cx="7223760" cy="3523923"/>
          </a:xfrm>
          <a:prstGeom prst="rect">
            <a:avLst/>
          </a:prstGeom>
          <a:ln w="12700">
            <a:solidFill>
              <a:srgbClr val="E1E8E6"/>
            </a:solidFill>
          </a:ln>
        </p:spPr>
      </p:pic>
      <p:sp>
        <p:nvSpPr>
          <p:cNvPr id="12" name="Rounded Rectangle 11"/>
          <p:cNvSpPr/>
          <p:nvPr/>
        </p:nvSpPr>
        <p:spPr>
          <a:xfrm>
            <a:off x="4389120" y="5486400"/>
            <a:ext cx="6903720" cy="658368"/>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8848" y="5632704"/>
            <a:ext cx="109728" cy="365759"/>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5650992"/>
            <a:ext cx="6291072" cy="320040"/>
          </a:xfrm>
          <a:prstGeom prst="rect">
            <a:avLst/>
          </a:prstGeom>
          <a:noFill/>
        </p:spPr>
        <p:txBody>
          <a:bodyPr wrap="none">
            <a:spAutoFit/>
          </a:bodyPr>
          <a:lstStyle/>
          <a:p>
            <a:r>
              <a:rPr sz="1400" b="1">
                <a:solidFill>
                  <a:srgbClr val="145237"/>
                </a:solidFill>
                <a:latin typeface="Microsoft YaHei"/>
              </a:rPr>
              <a:t>一句话定位</a:t>
            </a:r>
          </a:p>
        </p:txBody>
      </p:sp>
      <p:sp>
        <p:nvSpPr>
          <p:cNvPr id="15" name="TextBox 14"/>
          <p:cNvSpPr txBox="1"/>
          <p:nvPr/>
        </p:nvSpPr>
        <p:spPr>
          <a:xfrm>
            <a:off x="4773168" y="6053328"/>
            <a:ext cx="6309359" cy="-73152"/>
          </a:xfrm>
          <a:prstGeom prst="rect">
            <a:avLst/>
          </a:prstGeom>
          <a:noFill/>
        </p:spPr>
        <p:txBody>
          <a:bodyPr wrap="square" lIns="0" rIns="0">
            <a:spAutoFit/>
          </a:bodyPr>
          <a:lstStyle/>
          <a:p>
            <a:pPr>
              <a:lnSpc>
                <a:spcPct val="105000"/>
              </a:lnSpc>
            </a:pPr>
            <a:r>
              <a:rPr sz="1050" b="0">
                <a:solidFill>
                  <a:srgbClr val="607080"/>
                </a:solidFill>
                <a:latin typeface="Microsoft YaHei"/>
              </a:rPr>
              <a:t>把 DOC 开放数据、地形海拔、天气和导航整合到交互式地图中，帮助用户更快规划徒步、住宿和露营。</a:t>
            </a:r>
          </a:p>
        </p:txBody>
      </p:sp>
      <p:sp>
        <p:nvSpPr>
          <p:cNvPr id="16" name="Rectangle 1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18" name="TextBox 1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01 CONTEXT</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项目背景与目标</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围绕户外出行规划，把“找到地点、理解路线、评估环境、快速出发”串成一个闭环。</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02</a:t>
            </a:r>
          </a:p>
        </p:txBody>
      </p:sp>
      <p:sp>
        <p:nvSpPr>
          <p:cNvPr id="9" name="Rounded Rectangle 8"/>
          <p:cNvSpPr/>
          <p:nvPr/>
        </p:nvSpPr>
        <p:spPr>
          <a:xfrm>
            <a:off x="640080" y="1783080"/>
            <a:ext cx="3474720" cy="141732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9808" y="1929384"/>
            <a:ext cx="109728" cy="1124712"/>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1947672"/>
            <a:ext cx="2862072" cy="320040"/>
          </a:xfrm>
          <a:prstGeom prst="rect">
            <a:avLst/>
          </a:prstGeom>
          <a:noFill/>
        </p:spPr>
        <p:txBody>
          <a:bodyPr wrap="none">
            <a:spAutoFit/>
          </a:bodyPr>
          <a:lstStyle/>
          <a:p>
            <a:r>
              <a:rPr sz="1400" b="1">
                <a:solidFill>
                  <a:srgbClr val="145237"/>
                </a:solidFill>
                <a:latin typeface="Microsoft YaHei"/>
              </a:rPr>
              <a:t>用户痛点</a:t>
            </a:r>
          </a:p>
        </p:txBody>
      </p:sp>
      <p:sp>
        <p:nvSpPr>
          <p:cNvPr id="12" name="TextBox 11"/>
          <p:cNvSpPr txBox="1"/>
          <p:nvPr/>
        </p:nvSpPr>
        <p:spPr>
          <a:xfrm>
            <a:off x="1024127" y="2350008"/>
            <a:ext cx="2880360" cy="685800"/>
          </a:xfrm>
          <a:prstGeom prst="rect">
            <a:avLst/>
          </a:prstGeom>
          <a:noFill/>
        </p:spPr>
        <p:txBody>
          <a:bodyPr wrap="square" lIns="0" rIns="0">
            <a:spAutoFit/>
          </a:bodyPr>
          <a:lstStyle/>
          <a:p>
            <a:pPr>
              <a:lnSpc>
                <a:spcPct val="105000"/>
              </a:lnSpc>
            </a:pPr>
            <a:r>
              <a:rPr sz="1050" b="0">
                <a:solidFill>
                  <a:srgbClr val="607080"/>
                </a:solidFill>
                <a:latin typeface="Microsoft YaHei"/>
              </a:rPr>
              <a:t>信息分散在 DOC 页面、地图、天气站和导航工具之间；路线难度、海拔和天气需要反复切换查询。</a:t>
            </a:r>
          </a:p>
        </p:txBody>
      </p:sp>
      <p:sp>
        <p:nvSpPr>
          <p:cNvPr id="13" name="Rounded Rectangle 12"/>
          <p:cNvSpPr/>
          <p:nvPr/>
        </p:nvSpPr>
        <p:spPr>
          <a:xfrm>
            <a:off x="4434840" y="1783080"/>
            <a:ext cx="3474720" cy="141732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44568" y="1929384"/>
            <a:ext cx="109728" cy="1124712"/>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18888" y="1947672"/>
            <a:ext cx="2862072" cy="320040"/>
          </a:xfrm>
          <a:prstGeom prst="rect">
            <a:avLst/>
          </a:prstGeom>
          <a:noFill/>
        </p:spPr>
        <p:txBody>
          <a:bodyPr wrap="none">
            <a:spAutoFit/>
          </a:bodyPr>
          <a:lstStyle/>
          <a:p>
            <a:r>
              <a:rPr sz="1400" b="1">
                <a:solidFill>
                  <a:srgbClr val="145237"/>
                </a:solidFill>
                <a:latin typeface="Microsoft YaHei"/>
              </a:rPr>
              <a:t>产品目标</a:t>
            </a:r>
          </a:p>
        </p:txBody>
      </p:sp>
      <p:sp>
        <p:nvSpPr>
          <p:cNvPr id="16" name="TextBox 15"/>
          <p:cNvSpPr txBox="1"/>
          <p:nvPr/>
        </p:nvSpPr>
        <p:spPr>
          <a:xfrm>
            <a:off x="4818888" y="2350008"/>
            <a:ext cx="2880360" cy="685800"/>
          </a:xfrm>
          <a:prstGeom prst="rect">
            <a:avLst/>
          </a:prstGeom>
          <a:noFill/>
        </p:spPr>
        <p:txBody>
          <a:bodyPr wrap="square" lIns="0" rIns="0">
            <a:spAutoFit/>
          </a:bodyPr>
          <a:lstStyle/>
          <a:p>
            <a:pPr>
              <a:lnSpc>
                <a:spcPct val="105000"/>
              </a:lnSpc>
            </a:pPr>
            <a:r>
              <a:rPr sz="1050" b="0">
                <a:solidFill>
                  <a:srgbClr val="607080"/>
                </a:solidFill>
                <a:latin typeface="Microsoft YaHei"/>
              </a:rPr>
              <a:t>以地图为主界面，按区域、难度、类型和地点名称快速定位 Tracks、Huts、Campsites 与 Weather Stations。</a:t>
            </a:r>
          </a:p>
        </p:txBody>
      </p:sp>
      <p:sp>
        <p:nvSpPr>
          <p:cNvPr id="17" name="Rounded Rectangle 16"/>
          <p:cNvSpPr/>
          <p:nvPr/>
        </p:nvSpPr>
        <p:spPr>
          <a:xfrm>
            <a:off x="8229600" y="1783080"/>
            <a:ext cx="2834640" cy="141732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39327" y="1929384"/>
            <a:ext cx="109728" cy="1124712"/>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13648" y="1947672"/>
            <a:ext cx="2221992" cy="320040"/>
          </a:xfrm>
          <a:prstGeom prst="rect">
            <a:avLst/>
          </a:prstGeom>
          <a:noFill/>
        </p:spPr>
        <p:txBody>
          <a:bodyPr wrap="none">
            <a:spAutoFit/>
          </a:bodyPr>
          <a:lstStyle/>
          <a:p>
            <a:r>
              <a:rPr sz="1400" b="1">
                <a:solidFill>
                  <a:srgbClr val="145237"/>
                </a:solidFill>
                <a:latin typeface="Microsoft YaHei"/>
              </a:rPr>
              <a:t>技术目标</a:t>
            </a:r>
          </a:p>
        </p:txBody>
      </p:sp>
      <p:sp>
        <p:nvSpPr>
          <p:cNvPr id="20" name="TextBox 19"/>
          <p:cNvSpPr txBox="1"/>
          <p:nvPr/>
        </p:nvSpPr>
        <p:spPr>
          <a:xfrm>
            <a:off x="8613648" y="2350008"/>
            <a:ext cx="2240280" cy="685800"/>
          </a:xfrm>
          <a:prstGeom prst="rect">
            <a:avLst/>
          </a:prstGeom>
          <a:noFill/>
        </p:spPr>
        <p:txBody>
          <a:bodyPr wrap="square" lIns="0" rIns="0">
            <a:spAutoFit/>
          </a:bodyPr>
          <a:lstStyle/>
          <a:p>
            <a:pPr>
              <a:lnSpc>
                <a:spcPct val="105000"/>
              </a:lnSpc>
            </a:pPr>
            <a:r>
              <a:rPr sz="1050" b="0">
                <a:solidFill>
                  <a:srgbClr val="607080"/>
                </a:solidFill>
                <a:latin typeface="Microsoft YaHei"/>
              </a:rPr>
              <a:t>用 PostGIS 进行空间查询，用 FastAPI 提供稳定接口，用 React/Leaflet 交付流畅交互体验。</a:t>
            </a:r>
          </a:p>
        </p:txBody>
      </p:sp>
      <p:sp>
        <p:nvSpPr>
          <p:cNvPr id="21" name="Rounded Rectangle 20"/>
          <p:cNvSpPr/>
          <p:nvPr/>
        </p:nvSpPr>
        <p:spPr>
          <a:xfrm>
            <a:off x="914400" y="3977639"/>
            <a:ext cx="1874519" cy="749808"/>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4142231"/>
            <a:ext cx="1728216" cy="521207"/>
          </a:xfrm>
          <a:prstGeom prst="rect">
            <a:avLst/>
          </a:prstGeom>
          <a:noFill/>
        </p:spPr>
        <p:txBody>
          <a:bodyPr wrap="none">
            <a:spAutoFit/>
          </a:bodyPr>
          <a:lstStyle/>
          <a:p>
            <a:pPr algn="ctr"/>
            <a:r>
              <a:rPr sz="1200" b="1">
                <a:solidFill>
                  <a:srgbClr val="FFFFFF"/>
                </a:solidFill>
                <a:latin typeface="Microsoft YaHei"/>
              </a:rPr>
              <a:t>探索区域</a:t>
            </a:r>
          </a:p>
        </p:txBody>
      </p:sp>
      <p:cxnSp>
        <p:nvCxnSpPr>
          <p:cNvPr id="23" name="Connector 22"/>
          <p:cNvCxnSpPr/>
          <p:nvPr/>
        </p:nvCxnSpPr>
        <p:spPr>
          <a:xfrm>
            <a:off x="2816351" y="4352544"/>
            <a:ext cx="173737"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017520" y="3977639"/>
            <a:ext cx="1874519" cy="749808"/>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90672" y="4142231"/>
            <a:ext cx="1728216" cy="521207"/>
          </a:xfrm>
          <a:prstGeom prst="rect">
            <a:avLst/>
          </a:prstGeom>
          <a:noFill/>
        </p:spPr>
        <p:txBody>
          <a:bodyPr wrap="none">
            <a:spAutoFit/>
          </a:bodyPr>
          <a:lstStyle/>
          <a:p>
            <a:pPr algn="ctr"/>
            <a:r>
              <a:rPr sz="1200" b="1">
                <a:solidFill>
                  <a:srgbClr val="FFFFFF"/>
                </a:solidFill>
                <a:latin typeface="Microsoft YaHei"/>
              </a:rPr>
              <a:t>筛选地点</a:t>
            </a:r>
          </a:p>
        </p:txBody>
      </p:sp>
      <p:cxnSp>
        <p:nvCxnSpPr>
          <p:cNvPr id="26" name="Connector 25"/>
          <p:cNvCxnSpPr/>
          <p:nvPr/>
        </p:nvCxnSpPr>
        <p:spPr>
          <a:xfrm>
            <a:off x="4919472" y="4352544"/>
            <a:ext cx="173735"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20640" y="3977639"/>
            <a:ext cx="1874519" cy="749808"/>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93792" y="4142231"/>
            <a:ext cx="1728216" cy="521207"/>
          </a:xfrm>
          <a:prstGeom prst="rect">
            <a:avLst/>
          </a:prstGeom>
          <a:noFill/>
        </p:spPr>
        <p:txBody>
          <a:bodyPr wrap="none">
            <a:spAutoFit/>
          </a:bodyPr>
          <a:lstStyle/>
          <a:p>
            <a:pPr algn="ctr"/>
            <a:r>
              <a:rPr sz="1200" b="1">
                <a:solidFill>
                  <a:srgbClr val="FFFFFF"/>
                </a:solidFill>
                <a:latin typeface="Microsoft YaHei"/>
              </a:rPr>
              <a:t>查看详情</a:t>
            </a:r>
          </a:p>
        </p:txBody>
      </p:sp>
      <p:cxnSp>
        <p:nvCxnSpPr>
          <p:cNvPr id="29" name="Connector 28"/>
          <p:cNvCxnSpPr/>
          <p:nvPr/>
        </p:nvCxnSpPr>
        <p:spPr>
          <a:xfrm>
            <a:off x="7022592" y="4352544"/>
            <a:ext cx="173735"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223759" y="3977639"/>
            <a:ext cx="1874519" cy="749808"/>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96912" y="4142231"/>
            <a:ext cx="1728216" cy="521207"/>
          </a:xfrm>
          <a:prstGeom prst="rect">
            <a:avLst/>
          </a:prstGeom>
          <a:noFill/>
        </p:spPr>
        <p:txBody>
          <a:bodyPr wrap="none">
            <a:spAutoFit/>
          </a:bodyPr>
          <a:lstStyle/>
          <a:p>
            <a:pPr algn="ctr"/>
            <a:r>
              <a:rPr sz="1200" b="1">
                <a:solidFill>
                  <a:srgbClr val="FFFFFF"/>
                </a:solidFill>
                <a:latin typeface="Microsoft YaHei"/>
              </a:rPr>
              <a:t>评估天气/海拔</a:t>
            </a:r>
          </a:p>
        </p:txBody>
      </p:sp>
      <p:cxnSp>
        <p:nvCxnSpPr>
          <p:cNvPr id="32" name="Connector 31"/>
          <p:cNvCxnSpPr/>
          <p:nvPr/>
        </p:nvCxnSpPr>
        <p:spPr>
          <a:xfrm>
            <a:off x="9125711" y="4352544"/>
            <a:ext cx="173737"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326880" y="3977639"/>
            <a:ext cx="1874519" cy="749808"/>
          </a:xfrm>
          <a:prstGeom prst="roundRect">
            <a:avLst/>
          </a:prstGeom>
          <a:solidFill>
            <a:srgbClr val="5877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00032" y="4142231"/>
            <a:ext cx="1728216" cy="521207"/>
          </a:xfrm>
          <a:prstGeom prst="rect">
            <a:avLst/>
          </a:prstGeom>
          <a:noFill/>
        </p:spPr>
        <p:txBody>
          <a:bodyPr wrap="none">
            <a:spAutoFit/>
          </a:bodyPr>
          <a:lstStyle/>
          <a:p>
            <a:pPr algn="ctr"/>
            <a:r>
              <a:rPr sz="1200" b="1">
                <a:solidFill>
                  <a:srgbClr val="FFFFFF"/>
                </a:solidFill>
                <a:latin typeface="Microsoft YaHei"/>
              </a:rPr>
              <a:t>导航出发</a:t>
            </a:r>
          </a:p>
        </p:txBody>
      </p:sp>
      <p:sp>
        <p:nvSpPr>
          <p:cNvPr id="35" name="TextBox 34"/>
          <p:cNvSpPr txBox="1"/>
          <p:nvPr/>
        </p:nvSpPr>
        <p:spPr>
          <a:xfrm>
            <a:off x="960120" y="5138928"/>
            <a:ext cx="9966960" cy="731520"/>
          </a:xfrm>
          <a:prstGeom prst="rect">
            <a:avLst/>
          </a:prstGeom>
          <a:noFill/>
        </p:spPr>
        <p:txBody>
          <a:bodyPr wrap="square">
            <a:spAutoFit/>
          </a:bodyPr>
          <a:lstStyle/>
          <a:p>
            <a:pPr>
              <a:lnSpc>
                <a:spcPct val="108000"/>
              </a:lnSpc>
              <a:spcAft>
                <a:spcPts val="600"/>
              </a:spcAft>
              <a:defRPr sz="1200">
                <a:solidFill>
                  <a:srgbClr val="232D38"/>
                </a:solidFill>
                <a:latin typeface="Microsoft YaHei"/>
              </a:defRPr>
            </a:pPr>
            <a:r>
              <a:t>面向徒步者、露营者和新西兰户外旅行规划场景；强调“地图优先、数据可信、操作直接”。</a:t>
            </a:r>
          </a:p>
          <a:p>
            <a:pPr>
              <a:lnSpc>
                <a:spcPct val="108000"/>
              </a:lnSpc>
              <a:spcAft>
                <a:spcPts val="600"/>
              </a:spcAft>
              <a:defRPr sz="1200">
                <a:solidFill>
                  <a:srgbClr val="232D38"/>
                </a:solidFill>
                <a:latin typeface="Microsoft YaHei"/>
              </a:defRPr>
            </a:pPr>
            <a:r>
              <a:t>项目已部署：前端 Vercel，后端 DigitalOcean Droplet；README 中提供在线 Demo 链接。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02 FEATURES</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核心功能总览</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从发现到行动：搜索、地图浏览、路线分析、天气和用户互动。</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03</a:t>
            </a:r>
          </a:p>
        </p:txBody>
      </p:sp>
      <p:sp>
        <p:nvSpPr>
          <p:cNvPr id="9" name="Rounded Rectangle 8"/>
          <p:cNvSpPr/>
          <p:nvPr/>
        </p:nvSpPr>
        <p:spPr>
          <a:xfrm>
            <a:off x="685800" y="1600200"/>
            <a:ext cx="4983480" cy="10972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1746504"/>
            <a:ext cx="109728" cy="804671"/>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4983" y="1801368"/>
            <a:ext cx="384048" cy="384048"/>
          </a:xfrm>
          <a:prstGeom prst="ellipse">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1856232"/>
            <a:ext cx="384048" cy="228600"/>
          </a:xfrm>
          <a:prstGeom prst="rect">
            <a:avLst/>
          </a:prstGeom>
          <a:noFill/>
        </p:spPr>
        <p:txBody>
          <a:bodyPr wrap="none">
            <a:spAutoFit/>
          </a:bodyPr>
          <a:lstStyle/>
          <a:p>
            <a:pPr algn="ctr"/>
            <a:r>
              <a:rPr sz="1000" b="1">
                <a:solidFill>
                  <a:srgbClr val="FFFFFF"/>
                </a:solidFill>
                <a:latin typeface="Aptos"/>
              </a:rPr>
              <a:t>1</a:t>
            </a:r>
          </a:p>
        </p:txBody>
      </p:sp>
      <p:sp>
        <p:nvSpPr>
          <p:cNvPr id="13" name="TextBox 12"/>
          <p:cNvSpPr txBox="1"/>
          <p:nvPr/>
        </p:nvSpPr>
        <p:spPr>
          <a:xfrm>
            <a:off x="1472184" y="1764792"/>
            <a:ext cx="3968496" cy="320040"/>
          </a:xfrm>
          <a:prstGeom prst="rect">
            <a:avLst/>
          </a:prstGeom>
          <a:noFill/>
        </p:spPr>
        <p:txBody>
          <a:bodyPr wrap="none">
            <a:spAutoFit/>
          </a:bodyPr>
          <a:lstStyle/>
          <a:p>
            <a:r>
              <a:rPr sz="1400" b="1">
                <a:solidFill>
                  <a:srgbClr val="145237"/>
                </a:solidFill>
                <a:latin typeface="Microsoft YaHei"/>
              </a:rPr>
              <a:t>空间搜索</a:t>
            </a:r>
          </a:p>
        </p:txBody>
      </p:sp>
      <p:sp>
        <p:nvSpPr>
          <p:cNvPr id="14" name="TextBox 13"/>
          <p:cNvSpPr txBox="1"/>
          <p:nvPr/>
        </p:nvSpPr>
        <p:spPr>
          <a:xfrm>
            <a:off x="1069848" y="2167128"/>
            <a:ext cx="4389120" cy="365759"/>
          </a:xfrm>
          <a:prstGeom prst="rect">
            <a:avLst/>
          </a:prstGeom>
          <a:noFill/>
        </p:spPr>
        <p:txBody>
          <a:bodyPr wrap="square" lIns="0" rIns="0">
            <a:spAutoFit/>
          </a:bodyPr>
          <a:lstStyle/>
          <a:p>
            <a:pPr>
              <a:lnSpc>
                <a:spcPct val="105000"/>
              </a:lnSpc>
            </a:pPr>
            <a:r>
              <a:rPr sz="1050" b="0">
                <a:solidFill>
                  <a:srgbClr val="607080"/>
                </a:solidFill>
                <a:latin typeface="Microsoft YaHei"/>
              </a:rPr>
              <a:t>按 New Zealand 区域边界、地点类型、路线难度和地名模糊搜索进行筛选。</a:t>
            </a:r>
          </a:p>
        </p:txBody>
      </p:sp>
      <p:sp>
        <p:nvSpPr>
          <p:cNvPr id="15" name="Rounded Rectangle 14"/>
          <p:cNvSpPr/>
          <p:nvPr/>
        </p:nvSpPr>
        <p:spPr>
          <a:xfrm>
            <a:off x="6172200" y="1600200"/>
            <a:ext cx="4983480" cy="10972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81928" y="1746504"/>
            <a:ext cx="109728" cy="804671"/>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1384" y="1801368"/>
            <a:ext cx="384048" cy="384048"/>
          </a:xfrm>
          <a:prstGeom prst="ellipse">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1856232"/>
            <a:ext cx="384048" cy="228600"/>
          </a:xfrm>
          <a:prstGeom prst="rect">
            <a:avLst/>
          </a:prstGeom>
          <a:noFill/>
        </p:spPr>
        <p:txBody>
          <a:bodyPr wrap="none">
            <a:spAutoFit/>
          </a:bodyPr>
          <a:lstStyle/>
          <a:p>
            <a:pPr algn="ctr"/>
            <a:r>
              <a:rPr sz="1000" b="1">
                <a:solidFill>
                  <a:srgbClr val="FFFFFF"/>
                </a:solidFill>
                <a:latin typeface="Aptos"/>
              </a:rPr>
              <a:t>2</a:t>
            </a:r>
          </a:p>
        </p:txBody>
      </p:sp>
      <p:sp>
        <p:nvSpPr>
          <p:cNvPr id="19" name="TextBox 18"/>
          <p:cNvSpPr txBox="1"/>
          <p:nvPr/>
        </p:nvSpPr>
        <p:spPr>
          <a:xfrm>
            <a:off x="6958584" y="1764792"/>
            <a:ext cx="3968496" cy="320040"/>
          </a:xfrm>
          <a:prstGeom prst="rect">
            <a:avLst/>
          </a:prstGeom>
          <a:noFill/>
        </p:spPr>
        <p:txBody>
          <a:bodyPr wrap="none">
            <a:spAutoFit/>
          </a:bodyPr>
          <a:lstStyle/>
          <a:p>
            <a:r>
              <a:rPr sz="1400" b="1">
                <a:solidFill>
                  <a:srgbClr val="145237"/>
                </a:solidFill>
                <a:latin typeface="Microsoft YaHei"/>
              </a:rPr>
              <a:t>交互式地图</a:t>
            </a:r>
          </a:p>
        </p:txBody>
      </p:sp>
      <p:sp>
        <p:nvSpPr>
          <p:cNvPr id="20" name="TextBox 19"/>
          <p:cNvSpPr txBox="1"/>
          <p:nvPr/>
        </p:nvSpPr>
        <p:spPr>
          <a:xfrm>
            <a:off x="6556248" y="2167128"/>
            <a:ext cx="4389120" cy="365759"/>
          </a:xfrm>
          <a:prstGeom prst="rect">
            <a:avLst/>
          </a:prstGeom>
          <a:noFill/>
        </p:spPr>
        <p:txBody>
          <a:bodyPr wrap="square" lIns="0" rIns="0">
            <a:spAutoFit/>
          </a:bodyPr>
          <a:lstStyle/>
          <a:p>
            <a:pPr>
              <a:lnSpc>
                <a:spcPct val="105000"/>
              </a:lnSpc>
            </a:pPr>
            <a:r>
              <a:rPr sz="1050" b="0">
                <a:solidFill>
                  <a:srgbClr val="607080"/>
                </a:solidFill>
                <a:latin typeface="Microsoft YaHei"/>
              </a:rPr>
              <a:t>支持 Topo、Aerial、OSM、CARTO、Esri 等底图，并在地图上展示不同类型标记。</a:t>
            </a:r>
          </a:p>
        </p:txBody>
      </p:sp>
      <p:sp>
        <p:nvSpPr>
          <p:cNvPr id="21" name="Rounded Rectangle 20"/>
          <p:cNvSpPr/>
          <p:nvPr/>
        </p:nvSpPr>
        <p:spPr>
          <a:xfrm>
            <a:off x="685800" y="3108960"/>
            <a:ext cx="4983480" cy="10972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95528" y="3255264"/>
            <a:ext cx="109728" cy="804671"/>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4983" y="3310128"/>
            <a:ext cx="384048" cy="384048"/>
          </a:xfrm>
          <a:prstGeom prst="ellipse">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4983" y="3364991"/>
            <a:ext cx="384048" cy="228600"/>
          </a:xfrm>
          <a:prstGeom prst="rect">
            <a:avLst/>
          </a:prstGeom>
          <a:noFill/>
        </p:spPr>
        <p:txBody>
          <a:bodyPr wrap="none">
            <a:spAutoFit/>
          </a:bodyPr>
          <a:lstStyle/>
          <a:p>
            <a:pPr algn="ctr"/>
            <a:r>
              <a:rPr sz="1000" b="1">
                <a:solidFill>
                  <a:srgbClr val="FFFFFF"/>
                </a:solidFill>
                <a:latin typeface="Aptos"/>
              </a:rPr>
              <a:t>3</a:t>
            </a:r>
          </a:p>
        </p:txBody>
      </p:sp>
      <p:sp>
        <p:nvSpPr>
          <p:cNvPr id="25" name="TextBox 24"/>
          <p:cNvSpPr txBox="1"/>
          <p:nvPr/>
        </p:nvSpPr>
        <p:spPr>
          <a:xfrm>
            <a:off x="1472184" y="3273552"/>
            <a:ext cx="3968496" cy="320040"/>
          </a:xfrm>
          <a:prstGeom prst="rect">
            <a:avLst/>
          </a:prstGeom>
          <a:noFill/>
        </p:spPr>
        <p:txBody>
          <a:bodyPr wrap="none">
            <a:spAutoFit/>
          </a:bodyPr>
          <a:lstStyle/>
          <a:p>
            <a:r>
              <a:rPr sz="1400" b="1">
                <a:solidFill>
                  <a:srgbClr val="145237"/>
                </a:solidFill>
                <a:latin typeface="Microsoft YaHei"/>
              </a:rPr>
              <a:t>路线详情</a:t>
            </a:r>
          </a:p>
        </p:txBody>
      </p:sp>
      <p:sp>
        <p:nvSpPr>
          <p:cNvPr id="26" name="TextBox 25"/>
          <p:cNvSpPr txBox="1"/>
          <p:nvPr/>
        </p:nvSpPr>
        <p:spPr>
          <a:xfrm>
            <a:off x="1069848" y="3675887"/>
            <a:ext cx="4389120" cy="365759"/>
          </a:xfrm>
          <a:prstGeom prst="rect">
            <a:avLst/>
          </a:prstGeom>
          <a:noFill/>
        </p:spPr>
        <p:txBody>
          <a:bodyPr wrap="square" lIns="0" rIns="0">
            <a:spAutoFit/>
          </a:bodyPr>
          <a:lstStyle/>
          <a:p>
            <a:pPr>
              <a:lnSpc>
                <a:spcPct val="105000"/>
              </a:lnSpc>
            </a:pPr>
            <a:r>
              <a:rPr sz="1050" b="0">
                <a:solidFill>
                  <a:srgbClr val="607080"/>
                </a:solidFill>
                <a:latin typeface="Microsoft YaHei"/>
              </a:rPr>
              <a:t>展示路线 GeoJSON、长度、最高/最低海拔与 elevation profile。</a:t>
            </a:r>
          </a:p>
        </p:txBody>
      </p:sp>
      <p:sp>
        <p:nvSpPr>
          <p:cNvPr id="27" name="Rounded Rectangle 26"/>
          <p:cNvSpPr/>
          <p:nvPr/>
        </p:nvSpPr>
        <p:spPr>
          <a:xfrm>
            <a:off x="6172200" y="3108960"/>
            <a:ext cx="4983480" cy="10972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81928" y="3255264"/>
            <a:ext cx="109728" cy="804671"/>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01384" y="3310128"/>
            <a:ext cx="384048" cy="384048"/>
          </a:xfrm>
          <a:prstGeom prst="ellipse">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4" y="3364991"/>
            <a:ext cx="384048" cy="228600"/>
          </a:xfrm>
          <a:prstGeom prst="rect">
            <a:avLst/>
          </a:prstGeom>
          <a:noFill/>
        </p:spPr>
        <p:txBody>
          <a:bodyPr wrap="none">
            <a:spAutoFit/>
          </a:bodyPr>
          <a:lstStyle/>
          <a:p>
            <a:pPr algn="ctr"/>
            <a:r>
              <a:rPr sz="1000" b="1">
                <a:solidFill>
                  <a:srgbClr val="FFFFFF"/>
                </a:solidFill>
                <a:latin typeface="Aptos"/>
              </a:rPr>
              <a:t>4</a:t>
            </a:r>
          </a:p>
        </p:txBody>
      </p:sp>
      <p:sp>
        <p:nvSpPr>
          <p:cNvPr id="31" name="TextBox 30"/>
          <p:cNvSpPr txBox="1"/>
          <p:nvPr/>
        </p:nvSpPr>
        <p:spPr>
          <a:xfrm>
            <a:off x="6958584" y="3273552"/>
            <a:ext cx="3968496" cy="320040"/>
          </a:xfrm>
          <a:prstGeom prst="rect">
            <a:avLst/>
          </a:prstGeom>
          <a:noFill/>
        </p:spPr>
        <p:txBody>
          <a:bodyPr wrap="none">
            <a:spAutoFit/>
          </a:bodyPr>
          <a:lstStyle/>
          <a:p>
            <a:r>
              <a:rPr sz="1400" b="1">
                <a:solidFill>
                  <a:srgbClr val="145237"/>
                </a:solidFill>
                <a:latin typeface="Microsoft YaHei"/>
              </a:rPr>
              <a:t>行动入口</a:t>
            </a:r>
          </a:p>
        </p:txBody>
      </p:sp>
      <p:sp>
        <p:nvSpPr>
          <p:cNvPr id="32" name="TextBox 31"/>
          <p:cNvSpPr txBox="1"/>
          <p:nvPr/>
        </p:nvSpPr>
        <p:spPr>
          <a:xfrm>
            <a:off x="6556248" y="3675887"/>
            <a:ext cx="4389120" cy="365759"/>
          </a:xfrm>
          <a:prstGeom prst="rect">
            <a:avLst/>
          </a:prstGeom>
          <a:noFill/>
        </p:spPr>
        <p:txBody>
          <a:bodyPr wrap="square" lIns="0" rIns="0">
            <a:spAutoFit/>
          </a:bodyPr>
          <a:lstStyle/>
          <a:p>
            <a:pPr>
              <a:lnSpc>
                <a:spcPct val="105000"/>
              </a:lnSpc>
            </a:pPr>
            <a:r>
              <a:rPr sz="1050" b="0">
                <a:solidFill>
                  <a:srgbClr val="607080"/>
                </a:solidFill>
                <a:latin typeface="Microsoft YaHei"/>
              </a:rPr>
              <a:t>一键打开 Google Maps、查看天气面板、评论、收藏和官方详情。</a:t>
            </a:r>
          </a:p>
        </p:txBody>
      </p:sp>
      <p:sp>
        <p:nvSpPr>
          <p:cNvPr id="34" name="Rounded Rectangle 33"/>
          <p:cNvSpPr/>
          <p:nvPr/>
        </p:nvSpPr>
        <p:spPr>
          <a:xfrm>
            <a:off x="868680" y="4526280"/>
            <a:ext cx="4937759" cy="1371600"/>
          </a:xfrm>
          <a:prstGeom prst="roundRect">
            <a:avLst/>
          </a:prstGeom>
          <a:solidFill>
            <a:srgbClr val="FFFFFF"/>
          </a:solidFill>
          <a:ln>
            <a:solidFill>
              <a:srgbClr val="E1E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earch.png"/>
          <p:cNvPicPr>
            <a:picLocks noChangeAspect="1"/>
          </p:cNvPicPr>
          <p:nvPr/>
        </p:nvPicPr>
        <p:blipFill>
          <a:blip r:embed="rId2"/>
          <a:stretch>
            <a:fillRect/>
          </a:stretch>
        </p:blipFill>
        <p:spPr>
          <a:xfrm>
            <a:off x="2188135" y="4572000"/>
            <a:ext cx="2298849" cy="1280160"/>
          </a:xfrm>
          <a:prstGeom prst="rect">
            <a:avLst/>
          </a:prstGeom>
          <a:ln w="12700">
            <a:solidFill>
              <a:srgbClr val="E1E8E6"/>
            </a:solidFill>
          </a:ln>
        </p:spPr>
      </p:pic>
      <p:sp>
        <p:nvSpPr>
          <p:cNvPr id="36" name="Rounded Rectangle 35"/>
          <p:cNvSpPr/>
          <p:nvPr/>
        </p:nvSpPr>
        <p:spPr>
          <a:xfrm>
            <a:off x="6355080" y="4526280"/>
            <a:ext cx="4480559" cy="1371600"/>
          </a:xfrm>
          <a:prstGeom prst="roundRect">
            <a:avLst/>
          </a:prstGeom>
          <a:solidFill>
            <a:srgbClr val="FFFFFF"/>
          </a:solidFill>
          <a:ln>
            <a:solidFill>
              <a:srgbClr val="E1E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route-elevation.png"/>
          <p:cNvPicPr>
            <a:picLocks noChangeAspect="1"/>
          </p:cNvPicPr>
          <p:nvPr/>
        </p:nvPicPr>
        <p:blipFill>
          <a:blip r:embed="rId3"/>
          <a:stretch>
            <a:fillRect/>
          </a:stretch>
        </p:blipFill>
        <p:spPr>
          <a:xfrm>
            <a:off x="7277670" y="4572000"/>
            <a:ext cx="2635378" cy="1280160"/>
          </a:xfrm>
          <a:prstGeom prst="rect">
            <a:avLst/>
          </a:prstGeom>
          <a:ln w="12700">
            <a:solidFill>
              <a:srgbClr val="E1E8E6"/>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03 USER FLOW</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用户使用流程</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用户不需要理解后端数据结构，只需要围绕地图完成探索和决策。</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04</a:t>
            </a:r>
          </a:p>
        </p:txBody>
      </p:sp>
      <p:sp>
        <p:nvSpPr>
          <p:cNvPr id="9" name="Rounded Rectangle 8"/>
          <p:cNvSpPr/>
          <p:nvPr/>
        </p:nvSpPr>
        <p:spPr>
          <a:xfrm>
            <a:off x="685800" y="1691640"/>
            <a:ext cx="1984248" cy="914400"/>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856232"/>
            <a:ext cx="1837943" cy="685800"/>
          </a:xfrm>
          <a:prstGeom prst="rect">
            <a:avLst/>
          </a:prstGeom>
          <a:noFill/>
        </p:spPr>
        <p:txBody>
          <a:bodyPr wrap="none">
            <a:spAutoFit/>
          </a:bodyPr>
          <a:lstStyle/>
          <a:p>
            <a:pPr algn="ctr"/>
            <a:r>
              <a:rPr sz="1200" b="1">
                <a:solidFill>
                  <a:srgbClr val="FFFFFF"/>
                </a:solidFill>
                <a:latin typeface="Microsoft YaHei"/>
              </a:rPr>
              <a:t>选择区域</a:t>
            </a:r>
            <a:br/>
            <a:r>
              <a:t>或输入地名</a:t>
            </a:r>
          </a:p>
        </p:txBody>
      </p:sp>
      <p:cxnSp>
        <p:nvCxnSpPr>
          <p:cNvPr id="11" name="Connector 10"/>
          <p:cNvCxnSpPr/>
          <p:nvPr/>
        </p:nvCxnSpPr>
        <p:spPr>
          <a:xfrm>
            <a:off x="2697479" y="2148840"/>
            <a:ext cx="173737"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98648" y="1691640"/>
            <a:ext cx="1984248" cy="914400"/>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1856232"/>
            <a:ext cx="1837943" cy="685800"/>
          </a:xfrm>
          <a:prstGeom prst="rect">
            <a:avLst/>
          </a:prstGeom>
          <a:noFill/>
        </p:spPr>
        <p:txBody>
          <a:bodyPr wrap="none">
            <a:spAutoFit/>
          </a:bodyPr>
          <a:lstStyle/>
          <a:p>
            <a:pPr algn="ctr"/>
            <a:r>
              <a:rPr sz="1200" b="1">
                <a:solidFill>
                  <a:srgbClr val="FFFFFF"/>
                </a:solidFill>
                <a:latin typeface="Microsoft YaHei"/>
              </a:rPr>
              <a:t>选择类型</a:t>
            </a:r>
            <a:br/>
            <a:r>
              <a:t>与难度</a:t>
            </a:r>
          </a:p>
        </p:txBody>
      </p:sp>
      <p:cxnSp>
        <p:nvCxnSpPr>
          <p:cNvPr id="14" name="Connector 13"/>
          <p:cNvCxnSpPr/>
          <p:nvPr/>
        </p:nvCxnSpPr>
        <p:spPr>
          <a:xfrm>
            <a:off x="4910328" y="2148840"/>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11496" y="1691640"/>
            <a:ext cx="1984248" cy="914400"/>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1856232"/>
            <a:ext cx="1837943" cy="685800"/>
          </a:xfrm>
          <a:prstGeom prst="rect">
            <a:avLst/>
          </a:prstGeom>
          <a:noFill/>
        </p:spPr>
        <p:txBody>
          <a:bodyPr wrap="none">
            <a:spAutoFit/>
          </a:bodyPr>
          <a:lstStyle/>
          <a:p>
            <a:pPr algn="ctr"/>
            <a:r>
              <a:rPr sz="1200" b="1">
                <a:solidFill>
                  <a:srgbClr val="FFFFFF"/>
                </a:solidFill>
                <a:latin typeface="Microsoft YaHei"/>
              </a:rPr>
              <a:t>提交搜索</a:t>
            </a:r>
            <a:br/>
            <a:r>
              <a:t>地图展示结果</a:t>
            </a:r>
          </a:p>
        </p:txBody>
      </p:sp>
      <p:cxnSp>
        <p:nvCxnSpPr>
          <p:cNvPr id="17" name="Connector 16"/>
          <p:cNvCxnSpPr/>
          <p:nvPr/>
        </p:nvCxnSpPr>
        <p:spPr>
          <a:xfrm>
            <a:off x="7123176" y="2148840"/>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24344" y="1691640"/>
            <a:ext cx="1984248" cy="914400"/>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97496" y="1856232"/>
            <a:ext cx="1837943" cy="685800"/>
          </a:xfrm>
          <a:prstGeom prst="rect">
            <a:avLst/>
          </a:prstGeom>
          <a:noFill/>
        </p:spPr>
        <p:txBody>
          <a:bodyPr wrap="none">
            <a:spAutoFit/>
          </a:bodyPr>
          <a:lstStyle/>
          <a:p>
            <a:pPr algn="ctr"/>
            <a:r>
              <a:rPr sz="1200" b="1">
                <a:solidFill>
                  <a:srgbClr val="FFFFFF"/>
                </a:solidFill>
                <a:latin typeface="Microsoft YaHei"/>
              </a:rPr>
              <a:t>点击标记</a:t>
            </a:r>
            <a:br/>
            <a:r>
              <a:t>查看详情</a:t>
            </a:r>
          </a:p>
        </p:txBody>
      </p:sp>
      <p:cxnSp>
        <p:nvCxnSpPr>
          <p:cNvPr id="20" name="Connector 19"/>
          <p:cNvCxnSpPr/>
          <p:nvPr/>
        </p:nvCxnSpPr>
        <p:spPr>
          <a:xfrm>
            <a:off x="9336024" y="2148840"/>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37192" y="1691640"/>
            <a:ext cx="1984248" cy="914400"/>
          </a:xfrm>
          <a:prstGeom prst="roundRect">
            <a:avLst/>
          </a:prstGeom>
          <a:solidFill>
            <a:srgbClr val="7060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10344" y="1856232"/>
            <a:ext cx="1837943" cy="685800"/>
          </a:xfrm>
          <a:prstGeom prst="rect">
            <a:avLst/>
          </a:prstGeom>
          <a:noFill/>
        </p:spPr>
        <p:txBody>
          <a:bodyPr wrap="none">
            <a:spAutoFit/>
          </a:bodyPr>
          <a:lstStyle/>
          <a:p>
            <a:pPr algn="ctr"/>
            <a:r>
              <a:rPr sz="1200" b="1">
                <a:solidFill>
                  <a:srgbClr val="FFFFFF"/>
                </a:solidFill>
                <a:latin typeface="Microsoft YaHei"/>
              </a:rPr>
              <a:t>天气/评论</a:t>
            </a:r>
            <a:br/>
            <a:r>
              <a:t>收藏/导航</a:t>
            </a:r>
          </a:p>
        </p:txBody>
      </p:sp>
      <p:sp>
        <p:nvSpPr>
          <p:cNvPr id="24" name="Rounded Rectangle 23"/>
          <p:cNvSpPr/>
          <p:nvPr/>
        </p:nvSpPr>
        <p:spPr>
          <a:xfrm>
            <a:off x="731519" y="3017520"/>
            <a:ext cx="5029200" cy="2423160"/>
          </a:xfrm>
          <a:prstGeom prst="roundRect">
            <a:avLst/>
          </a:prstGeom>
          <a:solidFill>
            <a:srgbClr val="FFFFFF"/>
          </a:solidFill>
          <a:ln>
            <a:solidFill>
              <a:srgbClr val="E1E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earch-waikato.png"/>
          <p:cNvPicPr>
            <a:picLocks noChangeAspect="1"/>
          </p:cNvPicPr>
          <p:nvPr/>
        </p:nvPicPr>
        <p:blipFill>
          <a:blip r:embed="rId2"/>
          <a:stretch>
            <a:fillRect/>
          </a:stretch>
        </p:blipFill>
        <p:spPr>
          <a:xfrm>
            <a:off x="1253731" y="3063240"/>
            <a:ext cx="3984776" cy="2331719"/>
          </a:xfrm>
          <a:prstGeom prst="rect">
            <a:avLst/>
          </a:prstGeom>
          <a:ln w="12700">
            <a:solidFill>
              <a:srgbClr val="E1E8E6"/>
            </a:solidFill>
          </a:ln>
        </p:spPr>
      </p:pic>
      <p:sp>
        <p:nvSpPr>
          <p:cNvPr id="25" name="Rounded Rectangle 24"/>
          <p:cNvSpPr/>
          <p:nvPr/>
        </p:nvSpPr>
        <p:spPr>
          <a:xfrm>
            <a:off x="6080760" y="3054096"/>
            <a:ext cx="4983480" cy="82296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90488" y="3200400"/>
            <a:ext cx="109728" cy="530352"/>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8" y="3218688"/>
            <a:ext cx="4370832" cy="320040"/>
          </a:xfrm>
          <a:prstGeom prst="rect">
            <a:avLst/>
          </a:prstGeom>
          <a:noFill/>
        </p:spPr>
        <p:txBody>
          <a:bodyPr wrap="none">
            <a:spAutoFit/>
          </a:bodyPr>
          <a:lstStyle/>
          <a:p>
            <a:r>
              <a:rPr sz="1400" b="1">
                <a:solidFill>
                  <a:srgbClr val="145237"/>
                </a:solidFill>
                <a:latin typeface="Microsoft YaHei"/>
              </a:rPr>
              <a:t>区域搜索</a:t>
            </a:r>
          </a:p>
        </p:txBody>
      </p:sp>
      <p:sp>
        <p:nvSpPr>
          <p:cNvPr id="28" name="TextBox 27"/>
          <p:cNvSpPr txBox="1"/>
          <p:nvPr/>
        </p:nvSpPr>
        <p:spPr>
          <a:xfrm>
            <a:off x="6464808" y="3621024"/>
            <a:ext cx="4389120" cy="91439"/>
          </a:xfrm>
          <a:prstGeom prst="rect">
            <a:avLst/>
          </a:prstGeom>
          <a:noFill/>
        </p:spPr>
        <p:txBody>
          <a:bodyPr wrap="square" lIns="0" rIns="0">
            <a:spAutoFit/>
          </a:bodyPr>
          <a:lstStyle/>
          <a:p>
            <a:pPr>
              <a:lnSpc>
                <a:spcPct val="105000"/>
              </a:lnSpc>
            </a:pPr>
            <a:r>
              <a:rPr sz="1050" b="0">
                <a:solidFill>
                  <a:srgbClr val="607080"/>
                </a:solidFill>
                <a:latin typeface="Microsoft YaHei"/>
              </a:rPr>
              <a:t>前端请求 /regions/{region_code} 获取 GeoJSON，并用 Leaflet 自动 fitBounds 到区域范围。</a:t>
            </a:r>
          </a:p>
        </p:txBody>
      </p:sp>
      <p:sp>
        <p:nvSpPr>
          <p:cNvPr id="29" name="Rounded Rectangle 28"/>
          <p:cNvSpPr/>
          <p:nvPr/>
        </p:nvSpPr>
        <p:spPr>
          <a:xfrm>
            <a:off x="6080760" y="4050791"/>
            <a:ext cx="4983480" cy="82296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90488" y="4197096"/>
            <a:ext cx="109728" cy="530352"/>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4808" y="4215383"/>
            <a:ext cx="4370832" cy="320040"/>
          </a:xfrm>
          <a:prstGeom prst="rect">
            <a:avLst/>
          </a:prstGeom>
          <a:noFill/>
        </p:spPr>
        <p:txBody>
          <a:bodyPr wrap="none">
            <a:spAutoFit/>
          </a:bodyPr>
          <a:lstStyle/>
          <a:p>
            <a:r>
              <a:rPr sz="1400" b="1">
                <a:solidFill>
                  <a:srgbClr val="145237"/>
                </a:solidFill>
                <a:latin typeface="Microsoft YaHei"/>
              </a:rPr>
              <a:t>地点模糊搜索</a:t>
            </a:r>
          </a:p>
        </p:txBody>
      </p:sp>
      <p:sp>
        <p:nvSpPr>
          <p:cNvPr id="32" name="TextBox 31"/>
          <p:cNvSpPr txBox="1"/>
          <p:nvPr/>
        </p:nvSpPr>
        <p:spPr>
          <a:xfrm>
            <a:off x="6464808" y="4617720"/>
            <a:ext cx="4389120" cy="91439"/>
          </a:xfrm>
          <a:prstGeom prst="rect">
            <a:avLst/>
          </a:prstGeom>
          <a:noFill/>
        </p:spPr>
        <p:txBody>
          <a:bodyPr wrap="square" lIns="0" rIns="0">
            <a:spAutoFit/>
          </a:bodyPr>
          <a:lstStyle/>
          <a:p>
            <a:pPr>
              <a:lnSpc>
                <a:spcPct val="105000"/>
              </a:lnSpc>
            </a:pPr>
            <a:r>
              <a:rPr sz="1050" b="0">
                <a:solidFill>
                  <a:srgbClr val="607080"/>
                </a:solidFill>
                <a:latin typeface="Microsoft YaHei"/>
              </a:rPr>
              <a:t>RapidFuzz 匹配 Gazetteer 地名，PostGIS 生成 15km buffer，再统计圈内地点数量。</a:t>
            </a:r>
          </a:p>
        </p:txBody>
      </p:sp>
      <p:sp>
        <p:nvSpPr>
          <p:cNvPr id="33" name="Rounded Rectangle 32"/>
          <p:cNvSpPr/>
          <p:nvPr/>
        </p:nvSpPr>
        <p:spPr>
          <a:xfrm>
            <a:off x="6080760" y="5047488"/>
            <a:ext cx="4983480" cy="82296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190488" y="5193792"/>
            <a:ext cx="109728" cy="530352"/>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8" y="5212079"/>
            <a:ext cx="4370832" cy="320040"/>
          </a:xfrm>
          <a:prstGeom prst="rect">
            <a:avLst/>
          </a:prstGeom>
          <a:noFill/>
        </p:spPr>
        <p:txBody>
          <a:bodyPr wrap="none">
            <a:spAutoFit/>
          </a:bodyPr>
          <a:lstStyle/>
          <a:p>
            <a:r>
              <a:rPr sz="1400" b="1">
                <a:solidFill>
                  <a:srgbClr val="145237"/>
                </a:solidFill>
                <a:latin typeface="Microsoft YaHei"/>
              </a:rPr>
              <a:t>结果探索</a:t>
            </a:r>
          </a:p>
        </p:txBody>
      </p:sp>
      <p:sp>
        <p:nvSpPr>
          <p:cNvPr id="36" name="TextBox 35"/>
          <p:cNvSpPr txBox="1"/>
          <p:nvPr/>
        </p:nvSpPr>
        <p:spPr>
          <a:xfrm>
            <a:off x="6464808" y="5614416"/>
            <a:ext cx="4389120" cy="91439"/>
          </a:xfrm>
          <a:prstGeom prst="rect">
            <a:avLst/>
          </a:prstGeom>
          <a:noFill/>
        </p:spPr>
        <p:txBody>
          <a:bodyPr wrap="square" lIns="0" rIns="0">
            <a:spAutoFit/>
          </a:bodyPr>
          <a:lstStyle/>
          <a:p>
            <a:pPr>
              <a:lnSpc>
                <a:spcPct val="105000"/>
              </a:lnSpc>
            </a:pPr>
            <a:r>
              <a:rPr sz="1050" b="0">
                <a:solidFill>
                  <a:srgbClr val="607080"/>
                </a:solidFill>
                <a:latin typeface="Microsoft YaHei"/>
              </a:rPr>
              <a:t>用户点击地图标记后，详情面板与路线 GeoJSON 叠加层同步打开。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04 FRONTEND</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前端实现亮点</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React + TypeScript + Vite 构建地图主界面，组件按搜索、详情、天气、评论、账户拆分。</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05</a:t>
            </a:r>
          </a:p>
        </p:txBody>
      </p:sp>
      <p:sp>
        <p:nvSpPr>
          <p:cNvPr id="10" name="Rounded Rectangle 9"/>
          <p:cNvSpPr/>
          <p:nvPr/>
        </p:nvSpPr>
        <p:spPr>
          <a:xfrm>
            <a:off x="640080" y="1463039"/>
            <a:ext cx="5669279" cy="3977639"/>
          </a:xfrm>
          <a:prstGeom prst="roundRect">
            <a:avLst/>
          </a:prstGeom>
          <a:solidFill>
            <a:srgbClr val="FFFFFF"/>
          </a:solidFill>
          <a:ln>
            <a:solidFill>
              <a:srgbClr val="E1E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omepage.png"/>
          <p:cNvPicPr>
            <a:picLocks noChangeAspect="1"/>
          </p:cNvPicPr>
          <p:nvPr/>
        </p:nvPicPr>
        <p:blipFill>
          <a:blip r:embed="rId2"/>
          <a:stretch>
            <a:fillRect/>
          </a:stretch>
        </p:blipFill>
        <p:spPr>
          <a:xfrm>
            <a:off x="685800" y="2091357"/>
            <a:ext cx="5577840" cy="2721004"/>
          </a:xfrm>
          <a:prstGeom prst="rect">
            <a:avLst/>
          </a:prstGeom>
          <a:ln w="12700">
            <a:solidFill>
              <a:srgbClr val="E1E8E6"/>
            </a:solidFill>
          </a:ln>
        </p:spPr>
      </p:pic>
      <p:sp>
        <p:nvSpPr>
          <p:cNvPr id="11" name="Rounded Rectangle 10"/>
          <p:cNvSpPr/>
          <p:nvPr/>
        </p:nvSpPr>
        <p:spPr>
          <a:xfrm>
            <a:off x="6537960" y="1508760"/>
            <a:ext cx="4526280" cy="8686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47688" y="1655063"/>
            <a:ext cx="109728" cy="576071"/>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22008" y="1673351"/>
            <a:ext cx="3913632" cy="320040"/>
          </a:xfrm>
          <a:prstGeom prst="rect">
            <a:avLst/>
          </a:prstGeom>
          <a:noFill/>
        </p:spPr>
        <p:txBody>
          <a:bodyPr wrap="none">
            <a:spAutoFit/>
          </a:bodyPr>
          <a:lstStyle/>
          <a:p>
            <a:r>
              <a:rPr sz="1400" b="1">
                <a:solidFill>
                  <a:srgbClr val="145237"/>
                </a:solidFill>
                <a:latin typeface="Microsoft YaHei"/>
              </a:rPr>
              <a:t>地图体验</a:t>
            </a:r>
          </a:p>
        </p:txBody>
      </p:sp>
      <p:sp>
        <p:nvSpPr>
          <p:cNvPr id="14" name="TextBox 13"/>
          <p:cNvSpPr txBox="1"/>
          <p:nvPr/>
        </p:nvSpPr>
        <p:spPr>
          <a:xfrm>
            <a:off x="6922008" y="2075688"/>
            <a:ext cx="3931920" cy="137159"/>
          </a:xfrm>
          <a:prstGeom prst="rect">
            <a:avLst/>
          </a:prstGeom>
          <a:noFill/>
        </p:spPr>
        <p:txBody>
          <a:bodyPr wrap="square" lIns="0" rIns="0">
            <a:spAutoFit/>
          </a:bodyPr>
          <a:lstStyle/>
          <a:p>
            <a:pPr>
              <a:lnSpc>
                <a:spcPct val="105000"/>
              </a:lnSpc>
            </a:pPr>
            <a:r>
              <a:rPr sz="1050" b="0">
                <a:solidFill>
                  <a:srgbClr val="607080"/>
                </a:solidFill>
                <a:latin typeface="Microsoft YaHei"/>
              </a:rPr>
              <a:t>React Leaflet 管理 MapContainer、Marker、GeoJSON、LayersControl 与 Tooltip。</a:t>
            </a:r>
          </a:p>
        </p:txBody>
      </p:sp>
      <p:sp>
        <p:nvSpPr>
          <p:cNvPr id="15" name="Rounded Rectangle 14"/>
          <p:cNvSpPr/>
          <p:nvPr/>
        </p:nvSpPr>
        <p:spPr>
          <a:xfrm>
            <a:off x="6537960" y="2560320"/>
            <a:ext cx="4526280" cy="8686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47688" y="2706624"/>
            <a:ext cx="109728" cy="576071"/>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22008" y="2724912"/>
            <a:ext cx="3913632" cy="320040"/>
          </a:xfrm>
          <a:prstGeom prst="rect">
            <a:avLst/>
          </a:prstGeom>
          <a:noFill/>
        </p:spPr>
        <p:txBody>
          <a:bodyPr wrap="none">
            <a:spAutoFit/>
          </a:bodyPr>
          <a:lstStyle/>
          <a:p>
            <a:r>
              <a:rPr sz="1400" b="1">
                <a:solidFill>
                  <a:srgbClr val="145237"/>
                </a:solidFill>
                <a:latin typeface="Microsoft YaHei"/>
              </a:rPr>
              <a:t>侧边面板</a:t>
            </a:r>
          </a:p>
        </p:txBody>
      </p:sp>
      <p:sp>
        <p:nvSpPr>
          <p:cNvPr id="18" name="TextBox 17"/>
          <p:cNvSpPr txBox="1"/>
          <p:nvPr/>
        </p:nvSpPr>
        <p:spPr>
          <a:xfrm>
            <a:off x="6922008" y="3127248"/>
            <a:ext cx="3931920" cy="137159"/>
          </a:xfrm>
          <a:prstGeom prst="rect">
            <a:avLst/>
          </a:prstGeom>
          <a:noFill/>
        </p:spPr>
        <p:txBody>
          <a:bodyPr wrap="square" lIns="0" rIns="0">
            <a:spAutoFit/>
          </a:bodyPr>
          <a:lstStyle/>
          <a:p>
            <a:pPr>
              <a:lnSpc>
                <a:spcPct val="105000"/>
              </a:lnSpc>
            </a:pPr>
            <a:r>
              <a:rPr sz="1050" b="0">
                <a:solidFill>
                  <a:srgbClr val="607080"/>
                </a:solidFill>
                <a:latin typeface="Microsoft YaHei"/>
              </a:rPr>
              <a:t>搜索面板可折叠；详情、天气和评论面板互斥展示，减少地图遮挡。</a:t>
            </a:r>
          </a:p>
        </p:txBody>
      </p:sp>
      <p:sp>
        <p:nvSpPr>
          <p:cNvPr id="19" name="Rounded Rectangle 18"/>
          <p:cNvSpPr/>
          <p:nvPr/>
        </p:nvSpPr>
        <p:spPr>
          <a:xfrm>
            <a:off x="6537960" y="3611880"/>
            <a:ext cx="4526280" cy="8686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47688" y="3758184"/>
            <a:ext cx="109728" cy="576071"/>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22008" y="3776472"/>
            <a:ext cx="3913632" cy="320040"/>
          </a:xfrm>
          <a:prstGeom prst="rect">
            <a:avLst/>
          </a:prstGeom>
          <a:noFill/>
        </p:spPr>
        <p:txBody>
          <a:bodyPr wrap="none">
            <a:spAutoFit/>
          </a:bodyPr>
          <a:lstStyle/>
          <a:p>
            <a:r>
              <a:rPr sz="1400" b="1">
                <a:solidFill>
                  <a:srgbClr val="145237"/>
                </a:solidFill>
                <a:latin typeface="Microsoft YaHei"/>
              </a:rPr>
              <a:t>用户功能</a:t>
            </a:r>
          </a:p>
        </p:txBody>
      </p:sp>
      <p:sp>
        <p:nvSpPr>
          <p:cNvPr id="22" name="TextBox 21"/>
          <p:cNvSpPr txBox="1"/>
          <p:nvPr/>
        </p:nvSpPr>
        <p:spPr>
          <a:xfrm>
            <a:off x="6922008" y="4178808"/>
            <a:ext cx="3931920" cy="137159"/>
          </a:xfrm>
          <a:prstGeom prst="rect">
            <a:avLst/>
          </a:prstGeom>
          <a:noFill/>
        </p:spPr>
        <p:txBody>
          <a:bodyPr wrap="square" lIns="0" rIns="0">
            <a:spAutoFit/>
          </a:bodyPr>
          <a:lstStyle/>
          <a:p>
            <a:pPr>
              <a:lnSpc>
                <a:spcPct val="105000"/>
              </a:lnSpc>
            </a:pPr>
            <a:r>
              <a:rPr sz="1050" b="0">
                <a:solidFill>
                  <a:srgbClr val="607080"/>
                </a:solidFill>
                <a:latin typeface="Microsoft YaHei"/>
              </a:rPr>
              <a:t>Google 登录上下文支撑收藏；评论支持评分、文本和图片上传。</a:t>
            </a:r>
          </a:p>
        </p:txBody>
      </p:sp>
      <p:sp>
        <p:nvSpPr>
          <p:cNvPr id="23" name="Rounded Rectangle 22"/>
          <p:cNvSpPr/>
          <p:nvPr/>
        </p:nvSpPr>
        <p:spPr>
          <a:xfrm>
            <a:off x="6537960" y="4663440"/>
            <a:ext cx="4526280" cy="8686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647688" y="4809744"/>
            <a:ext cx="109728" cy="576071"/>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22008" y="4828031"/>
            <a:ext cx="3913632" cy="320040"/>
          </a:xfrm>
          <a:prstGeom prst="rect">
            <a:avLst/>
          </a:prstGeom>
          <a:noFill/>
        </p:spPr>
        <p:txBody>
          <a:bodyPr wrap="none">
            <a:spAutoFit/>
          </a:bodyPr>
          <a:lstStyle/>
          <a:p>
            <a:r>
              <a:rPr sz="1400" b="1">
                <a:solidFill>
                  <a:srgbClr val="145237"/>
                </a:solidFill>
                <a:latin typeface="Microsoft YaHei"/>
              </a:rPr>
              <a:t>可视化</a:t>
            </a:r>
          </a:p>
        </p:txBody>
      </p:sp>
      <p:sp>
        <p:nvSpPr>
          <p:cNvPr id="26" name="TextBox 25"/>
          <p:cNvSpPr txBox="1"/>
          <p:nvPr/>
        </p:nvSpPr>
        <p:spPr>
          <a:xfrm>
            <a:off x="6922008" y="5230368"/>
            <a:ext cx="3931920" cy="137159"/>
          </a:xfrm>
          <a:prstGeom prst="rect">
            <a:avLst/>
          </a:prstGeom>
          <a:noFill/>
        </p:spPr>
        <p:txBody>
          <a:bodyPr wrap="square" lIns="0" rIns="0">
            <a:spAutoFit/>
          </a:bodyPr>
          <a:lstStyle/>
          <a:p>
            <a:pPr>
              <a:lnSpc>
                <a:spcPct val="105000"/>
              </a:lnSpc>
            </a:pPr>
            <a:r>
              <a:rPr sz="1050" b="0">
                <a:solidFill>
                  <a:srgbClr val="607080"/>
                </a:solidFill>
                <a:latin typeface="Microsoft YaHei"/>
              </a:rPr>
              <a:t>路线详情页用 Recharts 展示海拔剖面，地图上突出显示路线几何。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05 BACKEND</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后端 API 与服务分层</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FastAPI 暴露 REST 接口，Repository 层负责 SQL/PostGIS 查询，Service 层组织搜索逻辑。</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06</a:t>
            </a:r>
          </a:p>
        </p:txBody>
      </p:sp>
      <p:sp>
        <p:nvSpPr>
          <p:cNvPr id="9" name="Rounded Rectangle 8"/>
          <p:cNvSpPr/>
          <p:nvPr/>
        </p:nvSpPr>
        <p:spPr>
          <a:xfrm>
            <a:off x="777240" y="1600200"/>
            <a:ext cx="3017520" cy="1508760"/>
          </a:xfrm>
          <a:prstGeom prst="roundRect">
            <a:avLst/>
          </a:prstGeom>
          <a:solidFill>
            <a:srgbClr val="FFFFFF"/>
          </a:solidFill>
          <a:ln w="19050">
            <a:solidFill>
              <a:srgbClr val="1F7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600200"/>
            <a:ext cx="3017520" cy="347472"/>
          </a:xfrm>
          <a:prstGeom prst="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73352"/>
            <a:ext cx="2834639" cy="201168"/>
          </a:xfrm>
          <a:prstGeom prst="rect">
            <a:avLst/>
          </a:prstGeom>
          <a:noFill/>
        </p:spPr>
        <p:txBody>
          <a:bodyPr wrap="none">
            <a:spAutoFit/>
          </a:bodyPr>
          <a:lstStyle/>
          <a:p>
            <a:pPr algn="ctr"/>
            <a:r>
              <a:rPr sz="1050" b="1">
                <a:solidFill>
                  <a:srgbClr val="FFFFFF"/>
                </a:solidFill>
                <a:latin typeface="Microsoft YaHei"/>
              </a:rPr>
              <a:t>FastAPI App</a:t>
            </a:r>
          </a:p>
        </p:txBody>
      </p:sp>
      <p:sp>
        <p:nvSpPr>
          <p:cNvPr id="12" name="TextBox 11"/>
          <p:cNvSpPr txBox="1"/>
          <p:nvPr/>
        </p:nvSpPr>
        <p:spPr>
          <a:xfrm>
            <a:off x="941832" y="2103120"/>
            <a:ext cx="2697479" cy="914399"/>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/search/items</a:t>
            </a:r>
          </a:p>
          <a:p>
            <a:pPr>
              <a:lnSpc>
                <a:spcPct val="108000"/>
              </a:lnSpc>
              <a:spcAft>
                <a:spcPts val="600"/>
              </a:spcAft>
              <a:defRPr sz="919">
                <a:solidFill>
                  <a:srgbClr val="232D38"/>
                </a:solidFill>
                <a:latin typeface="Microsoft YaHei"/>
              </a:defRPr>
            </a:pPr>
            <a:r>
              <a:t>/search/gazetteer</a:t>
            </a:r>
          </a:p>
          <a:p>
            <a:pPr>
              <a:lnSpc>
                <a:spcPct val="108000"/>
              </a:lnSpc>
              <a:spcAft>
                <a:spcPts val="600"/>
              </a:spcAft>
              <a:defRPr sz="919">
                <a:solidFill>
                  <a:srgbClr val="232D38"/>
                </a:solidFill>
                <a:latin typeface="Microsoft YaHei"/>
              </a:defRPr>
            </a:pPr>
            <a:r>
              <a:t>/track-routes/{id}</a:t>
            </a:r>
          </a:p>
          <a:p>
            <a:pPr>
              <a:lnSpc>
                <a:spcPct val="108000"/>
              </a:lnSpc>
              <a:spcAft>
                <a:spcPts val="600"/>
              </a:spcAft>
              <a:defRPr sz="919">
                <a:solidFill>
                  <a:srgbClr val="232D38"/>
                </a:solidFill>
                <a:latin typeface="Microsoft YaHei"/>
              </a:defRPr>
            </a:pPr>
            <a:r>
              <a:t>/comments</a:t>
            </a:r>
          </a:p>
          <a:p>
            <a:pPr>
              <a:lnSpc>
                <a:spcPct val="108000"/>
              </a:lnSpc>
              <a:spcAft>
                <a:spcPts val="600"/>
              </a:spcAft>
              <a:defRPr sz="919">
                <a:solidFill>
                  <a:srgbClr val="232D38"/>
                </a:solidFill>
                <a:latin typeface="Microsoft YaHei"/>
              </a:defRPr>
            </a:pPr>
            <a:r>
              <a:t>/favourites</a:t>
            </a:r>
          </a:p>
        </p:txBody>
      </p:sp>
      <p:sp>
        <p:nvSpPr>
          <p:cNvPr id="13" name="Rounded Rectangle 12"/>
          <p:cNvSpPr/>
          <p:nvPr/>
        </p:nvSpPr>
        <p:spPr>
          <a:xfrm>
            <a:off x="4572000" y="1600200"/>
            <a:ext cx="3017520" cy="1508760"/>
          </a:xfrm>
          <a:prstGeom prst="roundRect">
            <a:avLst/>
          </a:prstGeom>
          <a:solidFill>
            <a:srgbClr val="FFFFFF"/>
          </a:solidFill>
          <a:ln w="19050">
            <a:solidFill>
              <a:srgbClr val="1E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600200"/>
            <a:ext cx="3017520" cy="347472"/>
          </a:xfrm>
          <a:prstGeom prst="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673352"/>
            <a:ext cx="2834639" cy="201168"/>
          </a:xfrm>
          <a:prstGeom prst="rect">
            <a:avLst/>
          </a:prstGeom>
          <a:noFill/>
        </p:spPr>
        <p:txBody>
          <a:bodyPr wrap="none">
            <a:spAutoFit/>
          </a:bodyPr>
          <a:lstStyle/>
          <a:p>
            <a:pPr algn="ctr"/>
            <a:r>
              <a:rPr sz="1050" b="1">
                <a:solidFill>
                  <a:srgbClr val="FFFFFF"/>
                </a:solidFill>
                <a:latin typeface="Microsoft YaHei"/>
              </a:rPr>
              <a:t>Services</a:t>
            </a:r>
          </a:p>
        </p:txBody>
      </p:sp>
      <p:sp>
        <p:nvSpPr>
          <p:cNvPr id="16" name="TextBox 15"/>
          <p:cNvSpPr txBox="1"/>
          <p:nvPr/>
        </p:nvSpPr>
        <p:spPr>
          <a:xfrm>
            <a:off x="4736592" y="2103120"/>
            <a:ext cx="2697479" cy="914399"/>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search_items_service</a:t>
            </a:r>
          </a:p>
          <a:p>
            <a:pPr>
              <a:lnSpc>
                <a:spcPct val="108000"/>
              </a:lnSpc>
              <a:spcAft>
                <a:spcPts val="600"/>
              </a:spcAft>
              <a:defRPr sz="919">
                <a:solidFill>
                  <a:srgbClr val="232D38"/>
                </a:solidFill>
                <a:latin typeface="Microsoft YaHei"/>
              </a:defRPr>
            </a:pPr>
            <a:r>
              <a:t>search_gazetteer_service</a:t>
            </a:r>
          </a:p>
          <a:p>
            <a:pPr>
              <a:lnSpc>
                <a:spcPct val="108000"/>
              </a:lnSpc>
              <a:spcAft>
                <a:spcPts val="600"/>
              </a:spcAft>
              <a:defRPr sz="919">
                <a:solidFill>
                  <a:srgbClr val="232D38"/>
                </a:solidFill>
                <a:latin typeface="Microsoft YaHei"/>
              </a:defRPr>
            </a:pPr>
            <a:r>
              <a:t>RapidFuzz + PostGIS buffer</a:t>
            </a:r>
          </a:p>
          <a:p>
            <a:pPr>
              <a:lnSpc>
                <a:spcPct val="108000"/>
              </a:lnSpc>
              <a:spcAft>
                <a:spcPts val="600"/>
              </a:spcAft>
              <a:defRPr sz="919">
                <a:solidFill>
                  <a:srgbClr val="232D38"/>
                </a:solidFill>
                <a:latin typeface="Microsoft YaHei"/>
              </a:defRPr>
            </a:pPr>
            <a:r>
              <a:t>startup preload</a:t>
            </a:r>
          </a:p>
        </p:txBody>
      </p:sp>
      <p:sp>
        <p:nvSpPr>
          <p:cNvPr id="17" name="Rounded Rectangle 16"/>
          <p:cNvSpPr/>
          <p:nvPr/>
        </p:nvSpPr>
        <p:spPr>
          <a:xfrm>
            <a:off x="8366760" y="1600200"/>
            <a:ext cx="3017520" cy="1508760"/>
          </a:xfrm>
          <a:prstGeom prst="roundRect">
            <a:avLst/>
          </a:prstGeom>
          <a:solidFill>
            <a:srgbClr val="FFFFFF"/>
          </a:solidFill>
          <a:ln w="19050">
            <a:solidFill>
              <a:srgbClr val="F2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1600200"/>
            <a:ext cx="3017520" cy="347472"/>
          </a:xfrm>
          <a:prstGeom prst="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1673352"/>
            <a:ext cx="2834639" cy="201168"/>
          </a:xfrm>
          <a:prstGeom prst="rect">
            <a:avLst/>
          </a:prstGeom>
          <a:noFill/>
        </p:spPr>
        <p:txBody>
          <a:bodyPr wrap="none">
            <a:spAutoFit/>
          </a:bodyPr>
          <a:lstStyle/>
          <a:p>
            <a:pPr algn="ctr"/>
            <a:r>
              <a:rPr sz="1050" b="1">
                <a:solidFill>
                  <a:srgbClr val="FFFFFF"/>
                </a:solidFill>
                <a:latin typeface="Microsoft YaHei"/>
              </a:rPr>
              <a:t>Repositories</a:t>
            </a:r>
          </a:p>
        </p:txBody>
      </p:sp>
      <p:sp>
        <p:nvSpPr>
          <p:cNvPr id="20" name="TextBox 19"/>
          <p:cNvSpPr txBox="1"/>
          <p:nvPr/>
        </p:nvSpPr>
        <p:spPr>
          <a:xfrm>
            <a:off x="8531352" y="2103120"/>
            <a:ext cx="2697479" cy="914399"/>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track / hut / campsite</a:t>
            </a:r>
          </a:p>
          <a:p>
            <a:pPr>
              <a:lnSpc>
                <a:spcPct val="108000"/>
              </a:lnSpc>
              <a:spcAft>
                <a:spcPts val="600"/>
              </a:spcAft>
              <a:defRPr sz="919">
                <a:solidFill>
                  <a:srgbClr val="232D38"/>
                </a:solidFill>
                <a:latin typeface="Microsoft YaHei"/>
              </a:defRPr>
            </a:pPr>
            <a:r>
              <a:t>weather station</a:t>
            </a:r>
          </a:p>
          <a:p>
            <a:pPr>
              <a:lnSpc>
                <a:spcPct val="108000"/>
              </a:lnSpc>
              <a:spcAft>
                <a:spcPts val="600"/>
              </a:spcAft>
              <a:defRPr sz="919">
                <a:solidFill>
                  <a:srgbClr val="232D38"/>
                </a:solidFill>
                <a:latin typeface="Microsoft YaHei"/>
              </a:defRPr>
            </a:pPr>
            <a:r>
              <a:t>comment / favourite</a:t>
            </a:r>
          </a:p>
          <a:p>
            <a:pPr>
              <a:lnSpc>
                <a:spcPct val="108000"/>
              </a:lnSpc>
              <a:spcAft>
                <a:spcPts val="600"/>
              </a:spcAft>
              <a:defRPr sz="919">
                <a:solidFill>
                  <a:srgbClr val="232D38"/>
                </a:solidFill>
                <a:latin typeface="Microsoft YaHei"/>
              </a:defRPr>
            </a:pPr>
            <a:r>
              <a:t>region</a:t>
            </a:r>
          </a:p>
        </p:txBody>
      </p:sp>
      <p:sp>
        <p:nvSpPr>
          <p:cNvPr id="21" name="Rounded Rectangle 20"/>
          <p:cNvSpPr/>
          <p:nvPr/>
        </p:nvSpPr>
        <p:spPr>
          <a:xfrm>
            <a:off x="914400" y="3886200"/>
            <a:ext cx="1865376" cy="749808"/>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4050791"/>
            <a:ext cx="1719072" cy="521207"/>
          </a:xfrm>
          <a:prstGeom prst="rect">
            <a:avLst/>
          </a:prstGeom>
          <a:noFill/>
        </p:spPr>
        <p:txBody>
          <a:bodyPr wrap="none">
            <a:spAutoFit/>
          </a:bodyPr>
          <a:lstStyle/>
          <a:p>
            <a:pPr algn="ctr"/>
            <a:r>
              <a:rPr sz="1200" b="1">
                <a:solidFill>
                  <a:srgbClr val="FFFFFF"/>
                </a:solidFill>
                <a:latin typeface="Microsoft YaHei"/>
              </a:rPr>
              <a:t>HTTP Request</a:t>
            </a:r>
          </a:p>
        </p:txBody>
      </p:sp>
      <p:cxnSp>
        <p:nvCxnSpPr>
          <p:cNvPr id="23" name="Connector 22"/>
          <p:cNvCxnSpPr/>
          <p:nvPr/>
        </p:nvCxnSpPr>
        <p:spPr>
          <a:xfrm>
            <a:off x="2807208" y="4261104"/>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008376" y="3886200"/>
            <a:ext cx="1865376" cy="749808"/>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81528" y="4050791"/>
            <a:ext cx="1719072" cy="521207"/>
          </a:xfrm>
          <a:prstGeom prst="rect">
            <a:avLst/>
          </a:prstGeom>
          <a:noFill/>
        </p:spPr>
        <p:txBody>
          <a:bodyPr wrap="none">
            <a:spAutoFit/>
          </a:bodyPr>
          <a:lstStyle/>
          <a:p>
            <a:pPr algn="ctr"/>
            <a:r>
              <a:rPr sz="1200" b="1">
                <a:solidFill>
                  <a:srgbClr val="FFFFFF"/>
                </a:solidFill>
                <a:latin typeface="Microsoft YaHei"/>
              </a:rPr>
              <a:t>Pydantic Schema</a:t>
            </a:r>
          </a:p>
        </p:txBody>
      </p:sp>
      <p:cxnSp>
        <p:nvCxnSpPr>
          <p:cNvPr id="26" name="Connector 25"/>
          <p:cNvCxnSpPr/>
          <p:nvPr/>
        </p:nvCxnSpPr>
        <p:spPr>
          <a:xfrm>
            <a:off x="4901184" y="4261104"/>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02352" y="3886200"/>
            <a:ext cx="1865376" cy="749808"/>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75504" y="4050791"/>
            <a:ext cx="1719072" cy="521207"/>
          </a:xfrm>
          <a:prstGeom prst="rect">
            <a:avLst/>
          </a:prstGeom>
          <a:noFill/>
        </p:spPr>
        <p:txBody>
          <a:bodyPr wrap="none">
            <a:spAutoFit/>
          </a:bodyPr>
          <a:lstStyle/>
          <a:p>
            <a:pPr algn="ctr"/>
            <a:r>
              <a:rPr sz="1200" b="1">
                <a:solidFill>
                  <a:srgbClr val="FFFFFF"/>
                </a:solidFill>
                <a:latin typeface="Microsoft YaHei"/>
              </a:rPr>
              <a:t>Service</a:t>
            </a:r>
          </a:p>
        </p:txBody>
      </p:sp>
      <p:cxnSp>
        <p:nvCxnSpPr>
          <p:cNvPr id="29" name="Connector 28"/>
          <p:cNvCxnSpPr/>
          <p:nvPr/>
        </p:nvCxnSpPr>
        <p:spPr>
          <a:xfrm>
            <a:off x="6995160" y="4261104"/>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196328" y="3886200"/>
            <a:ext cx="1865376" cy="749808"/>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69480" y="4050791"/>
            <a:ext cx="1719072" cy="521207"/>
          </a:xfrm>
          <a:prstGeom prst="rect">
            <a:avLst/>
          </a:prstGeom>
          <a:noFill/>
        </p:spPr>
        <p:txBody>
          <a:bodyPr wrap="none">
            <a:spAutoFit/>
          </a:bodyPr>
          <a:lstStyle/>
          <a:p>
            <a:pPr algn="ctr"/>
            <a:r>
              <a:rPr sz="1200" b="1">
                <a:solidFill>
                  <a:srgbClr val="FFFFFF"/>
                </a:solidFill>
                <a:latin typeface="Microsoft YaHei"/>
              </a:rPr>
              <a:t>Repository</a:t>
            </a:r>
          </a:p>
        </p:txBody>
      </p:sp>
      <p:cxnSp>
        <p:nvCxnSpPr>
          <p:cNvPr id="32" name="Connector 31"/>
          <p:cNvCxnSpPr/>
          <p:nvPr/>
        </p:nvCxnSpPr>
        <p:spPr>
          <a:xfrm>
            <a:off x="9089136" y="4261104"/>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290304" y="3886200"/>
            <a:ext cx="1865376" cy="749808"/>
          </a:xfrm>
          <a:prstGeom prst="roundRect">
            <a:avLst/>
          </a:prstGeom>
          <a:solidFill>
            <a:srgbClr val="637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63456" y="4050791"/>
            <a:ext cx="1719072" cy="521207"/>
          </a:xfrm>
          <a:prstGeom prst="rect">
            <a:avLst/>
          </a:prstGeom>
          <a:noFill/>
        </p:spPr>
        <p:txBody>
          <a:bodyPr wrap="none">
            <a:spAutoFit/>
          </a:bodyPr>
          <a:lstStyle/>
          <a:p>
            <a:pPr algn="ctr"/>
            <a:r>
              <a:rPr sz="1200" b="1">
                <a:solidFill>
                  <a:srgbClr val="FFFFFF"/>
                </a:solidFill>
                <a:latin typeface="Microsoft YaHei"/>
              </a:rPr>
              <a:t>PostGIS SQL</a:t>
            </a:r>
          </a:p>
        </p:txBody>
      </p:sp>
      <p:sp>
        <p:nvSpPr>
          <p:cNvPr id="35" name="TextBox 34"/>
          <p:cNvSpPr txBox="1"/>
          <p:nvPr/>
        </p:nvSpPr>
        <p:spPr>
          <a:xfrm>
            <a:off x="914400" y="5074920"/>
            <a:ext cx="9966960" cy="777240"/>
          </a:xfrm>
          <a:prstGeom prst="rect">
            <a:avLst/>
          </a:prstGeom>
          <a:noFill/>
        </p:spPr>
        <p:txBody>
          <a:bodyPr wrap="square">
            <a:spAutoFit/>
          </a:bodyPr>
          <a:lstStyle/>
          <a:p>
            <a:pPr>
              <a:lnSpc>
                <a:spcPct val="108000"/>
              </a:lnSpc>
              <a:spcAft>
                <a:spcPts val="600"/>
              </a:spcAft>
              <a:defRPr sz="1200">
                <a:solidFill>
                  <a:srgbClr val="232D38"/>
                </a:solidFill>
                <a:latin typeface="Microsoft YaHei"/>
              </a:defRPr>
            </a:pPr>
            <a:r>
              <a:t>CORS 通过 ALLOWED_ORIGINS 配置；评论图片挂载到 /static，文件名使用 uuid 防冲突。</a:t>
            </a:r>
          </a:p>
          <a:p>
            <a:pPr>
              <a:lnSpc>
                <a:spcPct val="108000"/>
              </a:lnSpc>
              <a:spcAft>
                <a:spcPts val="600"/>
              </a:spcAft>
              <a:defRPr sz="1200">
                <a:solidFill>
                  <a:srgbClr val="232D38"/>
                </a:solidFill>
                <a:latin typeface="Microsoft YaHei"/>
              </a:defRPr>
            </a:pPr>
            <a:r>
              <a:t>接口返回统一的地图 item 结构：id、name、type、lat/lng、thumbnail、source_page_url、weather_url 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06 DATA</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数据管线与空间数据模型</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把公开数据清洗成可查询的 PostGIS 表，再由 API 面向地图端输出轻量 JSON。</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07</a:t>
            </a:r>
          </a:p>
        </p:txBody>
      </p:sp>
      <p:sp>
        <p:nvSpPr>
          <p:cNvPr id="9" name="Rounded Rectangle 8"/>
          <p:cNvSpPr/>
          <p:nvPr/>
        </p:nvSpPr>
        <p:spPr>
          <a:xfrm>
            <a:off x="640080" y="1508760"/>
            <a:ext cx="1920240" cy="9144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9808" y="1655063"/>
            <a:ext cx="109728" cy="621792"/>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1673351"/>
            <a:ext cx="1307592" cy="320040"/>
          </a:xfrm>
          <a:prstGeom prst="rect">
            <a:avLst/>
          </a:prstGeom>
          <a:noFill/>
        </p:spPr>
        <p:txBody>
          <a:bodyPr wrap="none">
            <a:spAutoFit/>
          </a:bodyPr>
          <a:lstStyle/>
          <a:p>
            <a:r>
              <a:rPr sz="1400" b="1">
                <a:solidFill>
                  <a:srgbClr val="145237"/>
                </a:solidFill>
                <a:latin typeface="Microsoft YaHei"/>
              </a:rPr>
              <a:t>NZ DOC</a:t>
            </a:r>
            <a:br/>
            <a:r>
              <a:t>Tracks</a:t>
            </a:r>
          </a:p>
        </p:txBody>
      </p:sp>
      <p:sp>
        <p:nvSpPr>
          <p:cNvPr id="12" name="TextBox 11"/>
          <p:cNvSpPr txBox="1"/>
          <p:nvPr/>
        </p:nvSpPr>
        <p:spPr>
          <a:xfrm>
            <a:off x="1024127" y="2075688"/>
            <a:ext cx="1325880" cy="182879"/>
          </a:xfrm>
          <a:prstGeom prst="rect">
            <a:avLst/>
          </a:prstGeom>
          <a:noFill/>
        </p:spPr>
        <p:txBody>
          <a:bodyPr wrap="square" lIns="0" rIns="0">
            <a:spAutoFit/>
          </a:bodyPr>
          <a:lstStyle/>
          <a:p>
            <a:pPr>
              <a:lnSpc>
                <a:spcPct val="105000"/>
              </a:lnSpc>
            </a:pPr>
            <a:r>
              <a:rPr sz="1050" b="0">
                <a:solidFill>
                  <a:srgbClr val="607080"/>
                </a:solidFill>
                <a:latin typeface="Microsoft YaHei"/>
              </a:rPr>
              <a:t>公开数据源</a:t>
            </a:r>
          </a:p>
        </p:txBody>
      </p:sp>
      <p:sp>
        <p:nvSpPr>
          <p:cNvPr id="13" name="Rounded Rectangle 12"/>
          <p:cNvSpPr/>
          <p:nvPr/>
        </p:nvSpPr>
        <p:spPr>
          <a:xfrm>
            <a:off x="2880360" y="1508760"/>
            <a:ext cx="1920240" cy="9144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90088" y="1655063"/>
            <a:ext cx="109728" cy="621792"/>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64408" y="1673351"/>
            <a:ext cx="1307592" cy="320040"/>
          </a:xfrm>
          <a:prstGeom prst="rect">
            <a:avLst/>
          </a:prstGeom>
          <a:noFill/>
        </p:spPr>
        <p:txBody>
          <a:bodyPr wrap="none">
            <a:spAutoFit/>
          </a:bodyPr>
          <a:lstStyle/>
          <a:p>
            <a:r>
              <a:rPr sz="1400" b="1">
                <a:solidFill>
                  <a:srgbClr val="145237"/>
                </a:solidFill>
                <a:latin typeface="Microsoft YaHei"/>
              </a:rPr>
              <a:t>DOC Huts</a:t>
            </a:r>
            <a:br/>
            <a:r>
              <a:t>&amp; Campsites</a:t>
            </a:r>
          </a:p>
        </p:txBody>
      </p:sp>
      <p:sp>
        <p:nvSpPr>
          <p:cNvPr id="16" name="TextBox 15"/>
          <p:cNvSpPr txBox="1"/>
          <p:nvPr/>
        </p:nvSpPr>
        <p:spPr>
          <a:xfrm>
            <a:off x="3264408" y="2075688"/>
            <a:ext cx="1325880" cy="182879"/>
          </a:xfrm>
          <a:prstGeom prst="rect">
            <a:avLst/>
          </a:prstGeom>
          <a:noFill/>
        </p:spPr>
        <p:txBody>
          <a:bodyPr wrap="square" lIns="0" rIns="0">
            <a:spAutoFit/>
          </a:bodyPr>
          <a:lstStyle/>
          <a:p>
            <a:pPr>
              <a:lnSpc>
                <a:spcPct val="105000"/>
              </a:lnSpc>
            </a:pPr>
            <a:r>
              <a:rPr sz="1050" b="0">
                <a:solidFill>
                  <a:srgbClr val="607080"/>
                </a:solidFill>
                <a:latin typeface="Microsoft YaHei"/>
              </a:rPr>
              <a:t>公开数据源</a:t>
            </a:r>
          </a:p>
        </p:txBody>
      </p:sp>
      <p:sp>
        <p:nvSpPr>
          <p:cNvPr id="17" name="Rounded Rectangle 16"/>
          <p:cNvSpPr/>
          <p:nvPr/>
        </p:nvSpPr>
        <p:spPr>
          <a:xfrm>
            <a:off x="5120640" y="1508760"/>
            <a:ext cx="1920240" cy="9144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30368" y="1655063"/>
            <a:ext cx="109728" cy="621792"/>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04688" y="1673351"/>
            <a:ext cx="1307592" cy="320040"/>
          </a:xfrm>
          <a:prstGeom prst="rect">
            <a:avLst/>
          </a:prstGeom>
          <a:noFill/>
        </p:spPr>
        <p:txBody>
          <a:bodyPr wrap="none">
            <a:spAutoFit/>
          </a:bodyPr>
          <a:lstStyle/>
          <a:p>
            <a:r>
              <a:rPr sz="1400" b="1">
                <a:solidFill>
                  <a:srgbClr val="145237"/>
                </a:solidFill>
                <a:latin typeface="Microsoft YaHei"/>
              </a:rPr>
              <a:t>NZ Gazetteer</a:t>
            </a:r>
          </a:p>
        </p:txBody>
      </p:sp>
      <p:sp>
        <p:nvSpPr>
          <p:cNvPr id="20" name="TextBox 19"/>
          <p:cNvSpPr txBox="1"/>
          <p:nvPr/>
        </p:nvSpPr>
        <p:spPr>
          <a:xfrm>
            <a:off x="5504688" y="2075688"/>
            <a:ext cx="1325880" cy="182879"/>
          </a:xfrm>
          <a:prstGeom prst="rect">
            <a:avLst/>
          </a:prstGeom>
          <a:noFill/>
        </p:spPr>
        <p:txBody>
          <a:bodyPr wrap="square" lIns="0" rIns="0">
            <a:spAutoFit/>
          </a:bodyPr>
          <a:lstStyle/>
          <a:p>
            <a:pPr>
              <a:lnSpc>
                <a:spcPct val="105000"/>
              </a:lnSpc>
            </a:pPr>
            <a:r>
              <a:rPr sz="1050" b="0">
                <a:solidFill>
                  <a:srgbClr val="607080"/>
                </a:solidFill>
                <a:latin typeface="Microsoft YaHei"/>
              </a:rPr>
              <a:t>公开数据源</a:t>
            </a:r>
          </a:p>
        </p:txBody>
      </p:sp>
      <p:sp>
        <p:nvSpPr>
          <p:cNvPr id="21" name="Rounded Rectangle 20"/>
          <p:cNvSpPr/>
          <p:nvPr/>
        </p:nvSpPr>
        <p:spPr>
          <a:xfrm>
            <a:off x="7360920" y="1508760"/>
            <a:ext cx="1920240" cy="9144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70648" y="1655063"/>
            <a:ext cx="109728" cy="621792"/>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44968" y="1673351"/>
            <a:ext cx="1307592" cy="320040"/>
          </a:xfrm>
          <a:prstGeom prst="rect">
            <a:avLst/>
          </a:prstGeom>
          <a:noFill/>
        </p:spPr>
        <p:txBody>
          <a:bodyPr wrap="none">
            <a:spAutoFit/>
          </a:bodyPr>
          <a:lstStyle/>
          <a:p>
            <a:r>
              <a:rPr sz="1400" b="1">
                <a:solidFill>
                  <a:srgbClr val="145237"/>
                </a:solidFill>
                <a:latin typeface="Microsoft YaHei"/>
              </a:rPr>
              <a:t>NZ 8m DEM</a:t>
            </a:r>
          </a:p>
        </p:txBody>
      </p:sp>
      <p:sp>
        <p:nvSpPr>
          <p:cNvPr id="24" name="TextBox 23"/>
          <p:cNvSpPr txBox="1"/>
          <p:nvPr/>
        </p:nvSpPr>
        <p:spPr>
          <a:xfrm>
            <a:off x="7744968" y="2075688"/>
            <a:ext cx="1325880" cy="182879"/>
          </a:xfrm>
          <a:prstGeom prst="rect">
            <a:avLst/>
          </a:prstGeom>
          <a:noFill/>
        </p:spPr>
        <p:txBody>
          <a:bodyPr wrap="square" lIns="0" rIns="0">
            <a:spAutoFit/>
          </a:bodyPr>
          <a:lstStyle/>
          <a:p>
            <a:pPr>
              <a:lnSpc>
                <a:spcPct val="105000"/>
              </a:lnSpc>
            </a:pPr>
            <a:r>
              <a:rPr sz="1050" b="0">
                <a:solidFill>
                  <a:srgbClr val="607080"/>
                </a:solidFill>
                <a:latin typeface="Microsoft YaHei"/>
              </a:rPr>
              <a:t>公开数据源</a:t>
            </a:r>
          </a:p>
        </p:txBody>
      </p:sp>
      <p:sp>
        <p:nvSpPr>
          <p:cNvPr id="25" name="Rounded Rectangle 24"/>
          <p:cNvSpPr/>
          <p:nvPr/>
        </p:nvSpPr>
        <p:spPr>
          <a:xfrm>
            <a:off x="9601200" y="1508760"/>
            <a:ext cx="1920240" cy="9144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10928" y="1655063"/>
            <a:ext cx="109728" cy="621792"/>
          </a:xfrm>
          <a:prstGeom prst="roundRect">
            <a:avLst/>
          </a:prstGeom>
          <a:solidFill>
            <a:srgbClr val="6C5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85248" y="1673351"/>
            <a:ext cx="1307592" cy="320040"/>
          </a:xfrm>
          <a:prstGeom prst="rect">
            <a:avLst/>
          </a:prstGeom>
          <a:noFill/>
        </p:spPr>
        <p:txBody>
          <a:bodyPr wrap="none">
            <a:spAutoFit/>
          </a:bodyPr>
          <a:lstStyle/>
          <a:p>
            <a:r>
              <a:rPr sz="1400" b="1">
                <a:solidFill>
                  <a:srgbClr val="145237"/>
                </a:solidFill>
                <a:latin typeface="Microsoft YaHei"/>
              </a:rPr>
              <a:t>NIWA / MetService</a:t>
            </a:r>
          </a:p>
        </p:txBody>
      </p:sp>
      <p:sp>
        <p:nvSpPr>
          <p:cNvPr id="28" name="TextBox 27"/>
          <p:cNvSpPr txBox="1"/>
          <p:nvPr/>
        </p:nvSpPr>
        <p:spPr>
          <a:xfrm>
            <a:off x="9985248" y="2075688"/>
            <a:ext cx="1325880" cy="182879"/>
          </a:xfrm>
          <a:prstGeom prst="rect">
            <a:avLst/>
          </a:prstGeom>
          <a:noFill/>
        </p:spPr>
        <p:txBody>
          <a:bodyPr wrap="square" lIns="0" rIns="0">
            <a:spAutoFit/>
          </a:bodyPr>
          <a:lstStyle/>
          <a:p>
            <a:pPr>
              <a:lnSpc>
                <a:spcPct val="105000"/>
              </a:lnSpc>
            </a:pPr>
            <a:r>
              <a:rPr sz="1050" b="0">
                <a:solidFill>
                  <a:srgbClr val="607080"/>
                </a:solidFill>
                <a:latin typeface="Microsoft YaHei"/>
              </a:rPr>
              <a:t>公开数据源</a:t>
            </a:r>
          </a:p>
        </p:txBody>
      </p:sp>
      <p:sp>
        <p:nvSpPr>
          <p:cNvPr id="29" name="Rounded Rectangle 28"/>
          <p:cNvSpPr/>
          <p:nvPr/>
        </p:nvSpPr>
        <p:spPr>
          <a:xfrm>
            <a:off x="914400" y="3063240"/>
            <a:ext cx="1874519" cy="731520"/>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3227832"/>
            <a:ext cx="1728216" cy="502920"/>
          </a:xfrm>
          <a:prstGeom prst="rect">
            <a:avLst/>
          </a:prstGeom>
          <a:noFill/>
        </p:spPr>
        <p:txBody>
          <a:bodyPr wrap="none">
            <a:spAutoFit/>
          </a:bodyPr>
          <a:lstStyle/>
          <a:p>
            <a:pPr algn="ctr"/>
            <a:r>
              <a:rPr sz="1200" b="1">
                <a:solidFill>
                  <a:srgbClr val="FFFFFF"/>
                </a:solidFill>
                <a:latin typeface="Microsoft YaHei"/>
              </a:rPr>
              <a:t>下载/清洗</a:t>
            </a:r>
          </a:p>
        </p:txBody>
      </p:sp>
      <p:cxnSp>
        <p:nvCxnSpPr>
          <p:cNvPr id="31" name="Connector 30"/>
          <p:cNvCxnSpPr/>
          <p:nvPr/>
        </p:nvCxnSpPr>
        <p:spPr>
          <a:xfrm>
            <a:off x="2816351" y="3429000"/>
            <a:ext cx="173737"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017520" y="3063240"/>
            <a:ext cx="1874519" cy="731520"/>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0672" y="3227832"/>
            <a:ext cx="1728216" cy="502920"/>
          </a:xfrm>
          <a:prstGeom prst="rect">
            <a:avLst/>
          </a:prstGeom>
          <a:noFill/>
        </p:spPr>
        <p:txBody>
          <a:bodyPr wrap="none">
            <a:spAutoFit/>
          </a:bodyPr>
          <a:lstStyle/>
          <a:p>
            <a:pPr algn="ctr"/>
            <a:r>
              <a:rPr sz="1200" b="1">
                <a:solidFill>
                  <a:srgbClr val="FFFFFF"/>
                </a:solidFill>
                <a:latin typeface="Microsoft YaHei"/>
              </a:rPr>
              <a:t>格式转换</a:t>
            </a:r>
          </a:p>
        </p:txBody>
      </p:sp>
      <p:cxnSp>
        <p:nvCxnSpPr>
          <p:cNvPr id="34" name="Connector 33"/>
          <p:cNvCxnSpPr/>
          <p:nvPr/>
        </p:nvCxnSpPr>
        <p:spPr>
          <a:xfrm>
            <a:off x="4919472" y="3429000"/>
            <a:ext cx="173735"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120640" y="3063240"/>
            <a:ext cx="1874519" cy="731520"/>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3792" y="3227832"/>
            <a:ext cx="1728216" cy="502920"/>
          </a:xfrm>
          <a:prstGeom prst="rect">
            <a:avLst/>
          </a:prstGeom>
          <a:noFill/>
        </p:spPr>
        <p:txBody>
          <a:bodyPr wrap="none">
            <a:spAutoFit/>
          </a:bodyPr>
          <a:lstStyle/>
          <a:p>
            <a:pPr algn="ctr"/>
            <a:r>
              <a:rPr sz="1200" b="1">
                <a:solidFill>
                  <a:srgbClr val="FFFFFF"/>
                </a:solidFill>
                <a:latin typeface="Microsoft YaHei"/>
              </a:rPr>
              <a:t>PostgreSQL + PostGIS</a:t>
            </a:r>
          </a:p>
        </p:txBody>
      </p:sp>
      <p:cxnSp>
        <p:nvCxnSpPr>
          <p:cNvPr id="37" name="Connector 36"/>
          <p:cNvCxnSpPr/>
          <p:nvPr/>
        </p:nvCxnSpPr>
        <p:spPr>
          <a:xfrm>
            <a:off x="7022592" y="3429000"/>
            <a:ext cx="173735"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223759" y="3063240"/>
            <a:ext cx="1874519" cy="731520"/>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96912" y="3227832"/>
            <a:ext cx="1728216" cy="502920"/>
          </a:xfrm>
          <a:prstGeom prst="rect">
            <a:avLst/>
          </a:prstGeom>
          <a:noFill/>
        </p:spPr>
        <p:txBody>
          <a:bodyPr wrap="none">
            <a:spAutoFit/>
          </a:bodyPr>
          <a:lstStyle/>
          <a:p>
            <a:pPr algn="ctr"/>
            <a:r>
              <a:rPr sz="1200" b="1">
                <a:solidFill>
                  <a:srgbClr val="FFFFFF"/>
                </a:solidFill>
                <a:latin typeface="Microsoft YaHei"/>
              </a:rPr>
              <a:t>FastAPI 查询</a:t>
            </a:r>
          </a:p>
        </p:txBody>
      </p:sp>
      <p:cxnSp>
        <p:nvCxnSpPr>
          <p:cNvPr id="40" name="Connector 39"/>
          <p:cNvCxnSpPr/>
          <p:nvPr/>
        </p:nvCxnSpPr>
        <p:spPr>
          <a:xfrm>
            <a:off x="9125711" y="3429000"/>
            <a:ext cx="173737"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326880" y="3063240"/>
            <a:ext cx="1874519" cy="731520"/>
          </a:xfrm>
          <a:prstGeom prst="roundRect">
            <a:avLst/>
          </a:prstGeom>
          <a:solidFill>
            <a:srgbClr val="5877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00032" y="3227832"/>
            <a:ext cx="1728216" cy="502920"/>
          </a:xfrm>
          <a:prstGeom prst="rect">
            <a:avLst/>
          </a:prstGeom>
          <a:noFill/>
        </p:spPr>
        <p:txBody>
          <a:bodyPr wrap="none">
            <a:spAutoFit/>
          </a:bodyPr>
          <a:lstStyle/>
          <a:p>
            <a:pPr algn="ctr"/>
            <a:r>
              <a:rPr sz="1200" b="1">
                <a:solidFill>
                  <a:srgbClr val="FFFFFF"/>
                </a:solidFill>
                <a:latin typeface="Microsoft YaHei"/>
              </a:rPr>
              <a:t>React 地图</a:t>
            </a:r>
          </a:p>
        </p:txBody>
      </p:sp>
      <p:sp>
        <p:nvSpPr>
          <p:cNvPr id="43" name="Rounded Rectangle 42"/>
          <p:cNvSpPr/>
          <p:nvPr/>
        </p:nvSpPr>
        <p:spPr>
          <a:xfrm>
            <a:off x="914400" y="4434840"/>
            <a:ext cx="3154680" cy="987552"/>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24128" y="4581144"/>
            <a:ext cx="109728" cy="694944"/>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98448" y="4599431"/>
            <a:ext cx="2542032" cy="320040"/>
          </a:xfrm>
          <a:prstGeom prst="rect">
            <a:avLst/>
          </a:prstGeom>
          <a:noFill/>
        </p:spPr>
        <p:txBody>
          <a:bodyPr wrap="none">
            <a:spAutoFit/>
          </a:bodyPr>
          <a:lstStyle/>
          <a:p>
            <a:r>
              <a:rPr sz="1400" b="1">
                <a:solidFill>
                  <a:srgbClr val="145237"/>
                </a:solidFill>
                <a:latin typeface="Microsoft YaHei"/>
              </a:rPr>
              <a:t>空间字段</a:t>
            </a:r>
          </a:p>
        </p:txBody>
      </p:sp>
      <p:sp>
        <p:nvSpPr>
          <p:cNvPr id="46" name="TextBox 45"/>
          <p:cNvSpPr txBox="1"/>
          <p:nvPr/>
        </p:nvSpPr>
        <p:spPr>
          <a:xfrm>
            <a:off x="1298448" y="5001768"/>
            <a:ext cx="2560320" cy="256032"/>
          </a:xfrm>
          <a:prstGeom prst="rect">
            <a:avLst/>
          </a:prstGeom>
          <a:noFill/>
        </p:spPr>
        <p:txBody>
          <a:bodyPr wrap="square" lIns="0" rIns="0">
            <a:spAutoFit/>
          </a:bodyPr>
          <a:lstStyle/>
          <a:p>
            <a:pPr>
              <a:lnSpc>
                <a:spcPct val="105000"/>
              </a:lnSpc>
            </a:pPr>
            <a:r>
              <a:rPr sz="1050" b="0">
                <a:solidFill>
                  <a:srgbClr val="607080"/>
                </a:solidFill>
                <a:latin typeface="Microsoft YaHei"/>
              </a:rPr>
              <a:t>Tracks 使用 LINESTRING / route geometry；Huts、Weather Stations 使用 POINT；Campsites 支持区域或点位。</a:t>
            </a:r>
          </a:p>
        </p:txBody>
      </p:sp>
      <p:sp>
        <p:nvSpPr>
          <p:cNvPr id="47" name="Rounded Rectangle 46"/>
          <p:cNvSpPr/>
          <p:nvPr/>
        </p:nvSpPr>
        <p:spPr>
          <a:xfrm>
            <a:off x="4526280" y="4434840"/>
            <a:ext cx="3154680" cy="987552"/>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636008" y="4581144"/>
            <a:ext cx="109728" cy="694944"/>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10328" y="4599431"/>
            <a:ext cx="2542032" cy="320040"/>
          </a:xfrm>
          <a:prstGeom prst="rect">
            <a:avLst/>
          </a:prstGeom>
          <a:noFill/>
        </p:spPr>
        <p:txBody>
          <a:bodyPr wrap="none">
            <a:spAutoFit/>
          </a:bodyPr>
          <a:lstStyle/>
          <a:p>
            <a:r>
              <a:rPr sz="1400" b="1">
                <a:solidFill>
                  <a:srgbClr val="145237"/>
                </a:solidFill>
                <a:latin typeface="Microsoft YaHei"/>
              </a:rPr>
              <a:t>核心查询</a:t>
            </a:r>
          </a:p>
        </p:txBody>
      </p:sp>
      <p:sp>
        <p:nvSpPr>
          <p:cNvPr id="50" name="TextBox 49"/>
          <p:cNvSpPr txBox="1"/>
          <p:nvPr/>
        </p:nvSpPr>
        <p:spPr>
          <a:xfrm>
            <a:off x="4910328" y="5001768"/>
            <a:ext cx="2560320" cy="256032"/>
          </a:xfrm>
          <a:prstGeom prst="rect">
            <a:avLst/>
          </a:prstGeom>
          <a:noFill/>
        </p:spPr>
        <p:txBody>
          <a:bodyPr wrap="square" lIns="0" rIns="0">
            <a:spAutoFit/>
          </a:bodyPr>
          <a:lstStyle/>
          <a:p>
            <a:pPr>
              <a:lnSpc>
                <a:spcPct val="105000"/>
              </a:lnSpc>
            </a:pPr>
            <a:r>
              <a:rPr sz="1050" b="0">
                <a:solidFill>
                  <a:srgbClr val="607080"/>
                </a:solidFill>
                <a:latin typeface="Microsoft YaHei"/>
              </a:rPr>
              <a:t>ST_Intersects、ST_PointOnSurface、ST_AsGeoJSON、ST_Buffer、ST_SetSRID。</a:t>
            </a:r>
          </a:p>
        </p:txBody>
      </p:sp>
      <p:sp>
        <p:nvSpPr>
          <p:cNvPr id="51" name="Rounded Rectangle 50"/>
          <p:cNvSpPr/>
          <p:nvPr/>
        </p:nvSpPr>
        <p:spPr>
          <a:xfrm>
            <a:off x="8138160" y="4434840"/>
            <a:ext cx="2834640" cy="987552"/>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247888" y="4581144"/>
            <a:ext cx="109728" cy="694944"/>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22208" y="4599431"/>
            <a:ext cx="2221992" cy="320040"/>
          </a:xfrm>
          <a:prstGeom prst="rect">
            <a:avLst/>
          </a:prstGeom>
          <a:noFill/>
        </p:spPr>
        <p:txBody>
          <a:bodyPr wrap="none">
            <a:spAutoFit/>
          </a:bodyPr>
          <a:lstStyle/>
          <a:p>
            <a:r>
              <a:rPr sz="1400" b="1">
                <a:solidFill>
                  <a:srgbClr val="145237"/>
                </a:solidFill>
                <a:latin typeface="Microsoft YaHei"/>
              </a:rPr>
              <a:t>ETL 脚本</a:t>
            </a:r>
          </a:p>
        </p:txBody>
      </p:sp>
      <p:sp>
        <p:nvSpPr>
          <p:cNvPr id="54" name="TextBox 53"/>
          <p:cNvSpPr txBox="1"/>
          <p:nvPr/>
        </p:nvSpPr>
        <p:spPr>
          <a:xfrm>
            <a:off x="8522208" y="5001768"/>
            <a:ext cx="2240280" cy="256032"/>
          </a:xfrm>
          <a:prstGeom prst="rect">
            <a:avLst/>
          </a:prstGeom>
          <a:noFill/>
        </p:spPr>
        <p:txBody>
          <a:bodyPr wrap="square" lIns="0" rIns="0">
            <a:spAutoFit/>
          </a:bodyPr>
          <a:lstStyle/>
          <a:p>
            <a:pPr>
              <a:lnSpc>
                <a:spcPct val="105000"/>
              </a:lnSpc>
            </a:pPr>
            <a:r>
              <a:rPr sz="1050" b="0">
                <a:solidFill>
                  <a:srgbClr val="607080"/>
                </a:solidFill>
                <a:latin typeface="Microsoft YaHei"/>
              </a:rPr>
              <a:t>import_tracks / import_huts / import_campsites / import_8m_dem 等脚本支撑数据入库。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07 GEO ANALYTICS</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路线海拔剖面</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用 NZ 8m DEM 数据对路线按距离采样，形成可视化 elevation profile。</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08</a:t>
            </a:r>
          </a:p>
        </p:txBody>
      </p:sp>
      <p:sp>
        <p:nvSpPr>
          <p:cNvPr id="10" name="Rounded Rectangle 9"/>
          <p:cNvSpPr/>
          <p:nvPr/>
        </p:nvSpPr>
        <p:spPr>
          <a:xfrm>
            <a:off x="640080" y="1371600"/>
            <a:ext cx="5760720" cy="3977639"/>
          </a:xfrm>
          <a:prstGeom prst="roundRect">
            <a:avLst/>
          </a:prstGeom>
          <a:solidFill>
            <a:srgbClr val="FFFFFF"/>
          </a:solidFill>
          <a:ln>
            <a:solidFill>
              <a:srgbClr val="E1E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ute-elevation.png"/>
          <p:cNvPicPr>
            <a:picLocks noChangeAspect="1"/>
          </p:cNvPicPr>
          <p:nvPr/>
        </p:nvPicPr>
        <p:blipFill>
          <a:blip r:embed="rId2"/>
          <a:stretch>
            <a:fillRect/>
          </a:stretch>
        </p:blipFill>
        <p:spPr>
          <a:xfrm>
            <a:off x="685800" y="1983466"/>
            <a:ext cx="5669280" cy="2753906"/>
          </a:xfrm>
          <a:prstGeom prst="rect">
            <a:avLst/>
          </a:prstGeom>
          <a:ln w="12700">
            <a:solidFill>
              <a:srgbClr val="E1E8E6"/>
            </a:solidFill>
          </a:ln>
        </p:spPr>
      </p:pic>
      <p:sp>
        <p:nvSpPr>
          <p:cNvPr id="11" name="Rounded Rectangle 10"/>
          <p:cNvSpPr/>
          <p:nvPr/>
        </p:nvSpPr>
        <p:spPr>
          <a:xfrm>
            <a:off x="6629400" y="1554480"/>
            <a:ext cx="4434840" cy="841248"/>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39128" y="1700784"/>
            <a:ext cx="109728" cy="548640"/>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13448" y="1719072"/>
            <a:ext cx="3822191" cy="320040"/>
          </a:xfrm>
          <a:prstGeom prst="rect">
            <a:avLst/>
          </a:prstGeom>
          <a:noFill/>
        </p:spPr>
        <p:txBody>
          <a:bodyPr wrap="none">
            <a:spAutoFit/>
          </a:bodyPr>
          <a:lstStyle/>
          <a:p>
            <a:r>
              <a:rPr sz="1400" b="1">
                <a:solidFill>
                  <a:srgbClr val="145237"/>
                </a:solidFill>
                <a:latin typeface="Microsoft YaHei"/>
              </a:rPr>
              <a:t>路线长度</a:t>
            </a:r>
          </a:p>
        </p:txBody>
      </p:sp>
      <p:sp>
        <p:nvSpPr>
          <p:cNvPr id="14" name="TextBox 13"/>
          <p:cNvSpPr txBox="1"/>
          <p:nvPr/>
        </p:nvSpPr>
        <p:spPr>
          <a:xfrm>
            <a:off x="7013448" y="2121408"/>
            <a:ext cx="3840479" cy="109728"/>
          </a:xfrm>
          <a:prstGeom prst="rect">
            <a:avLst/>
          </a:prstGeom>
          <a:noFill/>
        </p:spPr>
        <p:txBody>
          <a:bodyPr wrap="square" lIns="0" rIns="0">
            <a:spAutoFit/>
          </a:bodyPr>
          <a:lstStyle/>
          <a:p>
            <a:pPr>
              <a:lnSpc>
                <a:spcPct val="105000"/>
              </a:lnSpc>
            </a:pPr>
            <a:r>
              <a:rPr sz="1050" b="0">
                <a:solidFill>
                  <a:srgbClr val="607080"/>
                </a:solidFill>
                <a:latin typeface="Microsoft YaHei"/>
              </a:rPr>
              <a:t>将 WGS84 路线转换到 NZTM2000 计算米级长度。</a:t>
            </a:r>
          </a:p>
        </p:txBody>
      </p:sp>
      <p:sp>
        <p:nvSpPr>
          <p:cNvPr id="15" name="Rounded Rectangle 14"/>
          <p:cNvSpPr/>
          <p:nvPr/>
        </p:nvSpPr>
        <p:spPr>
          <a:xfrm>
            <a:off x="6629400" y="2587752"/>
            <a:ext cx="4434840" cy="841248"/>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39128" y="2734056"/>
            <a:ext cx="109728" cy="548640"/>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13448" y="2752344"/>
            <a:ext cx="3822191" cy="320040"/>
          </a:xfrm>
          <a:prstGeom prst="rect">
            <a:avLst/>
          </a:prstGeom>
          <a:noFill/>
        </p:spPr>
        <p:txBody>
          <a:bodyPr wrap="none">
            <a:spAutoFit/>
          </a:bodyPr>
          <a:lstStyle/>
          <a:p>
            <a:r>
              <a:rPr sz="1400" b="1">
                <a:solidFill>
                  <a:srgbClr val="145237"/>
                </a:solidFill>
                <a:latin typeface="Microsoft YaHei"/>
              </a:rPr>
              <a:t>DEM 采样</a:t>
            </a:r>
          </a:p>
        </p:txBody>
      </p:sp>
      <p:sp>
        <p:nvSpPr>
          <p:cNvPr id="18" name="TextBox 17"/>
          <p:cNvSpPr txBox="1"/>
          <p:nvPr/>
        </p:nvSpPr>
        <p:spPr>
          <a:xfrm>
            <a:off x="7013448" y="3154680"/>
            <a:ext cx="3840479" cy="109728"/>
          </a:xfrm>
          <a:prstGeom prst="rect">
            <a:avLst/>
          </a:prstGeom>
          <a:noFill/>
        </p:spPr>
        <p:txBody>
          <a:bodyPr wrap="square" lIns="0" rIns="0">
            <a:spAutoFit/>
          </a:bodyPr>
          <a:lstStyle/>
          <a:p>
            <a:pPr>
              <a:lnSpc>
                <a:spcPct val="105000"/>
              </a:lnSpc>
            </a:pPr>
            <a:r>
              <a:rPr sz="1050" b="0">
                <a:solidFill>
                  <a:srgbClr val="607080"/>
                </a:solidFill>
                <a:latin typeface="Microsoft YaHei"/>
              </a:rPr>
              <a:t>沿路线每 10m 插值采样，并从相交 DEM tiles 读取高程值。</a:t>
            </a:r>
          </a:p>
        </p:txBody>
      </p:sp>
      <p:sp>
        <p:nvSpPr>
          <p:cNvPr id="19" name="Rounded Rectangle 18"/>
          <p:cNvSpPr/>
          <p:nvPr/>
        </p:nvSpPr>
        <p:spPr>
          <a:xfrm>
            <a:off x="6629400" y="3621024"/>
            <a:ext cx="4434840" cy="841248"/>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739128" y="3767328"/>
            <a:ext cx="109728" cy="548640"/>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3448" y="3785615"/>
            <a:ext cx="3822191" cy="320040"/>
          </a:xfrm>
          <a:prstGeom prst="rect">
            <a:avLst/>
          </a:prstGeom>
          <a:noFill/>
        </p:spPr>
        <p:txBody>
          <a:bodyPr wrap="none">
            <a:spAutoFit/>
          </a:bodyPr>
          <a:lstStyle/>
          <a:p>
            <a:r>
              <a:rPr sz="1400" b="1">
                <a:solidFill>
                  <a:srgbClr val="145237"/>
                </a:solidFill>
                <a:latin typeface="Microsoft YaHei"/>
              </a:rPr>
              <a:t>数据写回</a:t>
            </a:r>
          </a:p>
        </p:txBody>
      </p:sp>
      <p:sp>
        <p:nvSpPr>
          <p:cNvPr id="22" name="TextBox 21"/>
          <p:cNvSpPr txBox="1"/>
          <p:nvPr/>
        </p:nvSpPr>
        <p:spPr>
          <a:xfrm>
            <a:off x="7013448" y="4187952"/>
            <a:ext cx="3840479" cy="109728"/>
          </a:xfrm>
          <a:prstGeom prst="rect">
            <a:avLst/>
          </a:prstGeom>
          <a:noFill/>
        </p:spPr>
        <p:txBody>
          <a:bodyPr wrap="square" lIns="0" rIns="0">
            <a:spAutoFit/>
          </a:bodyPr>
          <a:lstStyle/>
          <a:p>
            <a:pPr>
              <a:lnSpc>
                <a:spcPct val="105000"/>
              </a:lnSpc>
            </a:pPr>
            <a:r>
              <a:rPr sz="1050" b="0">
                <a:solidFill>
                  <a:srgbClr val="607080"/>
                </a:solidFill>
                <a:latin typeface="Microsoft YaHei"/>
              </a:rPr>
              <a:t>保存 length_m、elev_min、elev_max、elevation_profile 等字段。</a:t>
            </a:r>
          </a:p>
        </p:txBody>
      </p:sp>
      <p:sp>
        <p:nvSpPr>
          <p:cNvPr id="23" name="Rounded Rectangle 22"/>
          <p:cNvSpPr/>
          <p:nvPr/>
        </p:nvSpPr>
        <p:spPr>
          <a:xfrm>
            <a:off x="6629400" y="4654296"/>
            <a:ext cx="4434840" cy="841248"/>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39128" y="4800600"/>
            <a:ext cx="109728" cy="548640"/>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3448" y="4818888"/>
            <a:ext cx="3822191" cy="320040"/>
          </a:xfrm>
          <a:prstGeom prst="rect">
            <a:avLst/>
          </a:prstGeom>
          <a:noFill/>
        </p:spPr>
        <p:txBody>
          <a:bodyPr wrap="none">
            <a:spAutoFit/>
          </a:bodyPr>
          <a:lstStyle/>
          <a:p>
            <a:r>
              <a:rPr sz="1400" b="1">
                <a:solidFill>
                  <a:srgbClr val="145237"/>
                </a:solidFill>
                <a:latin typeface="Microsoft YaHei"/>
              </a:rPr>
              <a:t>前端呈现</a:t>
            </a:r>
          </a:p>
        </p:txBody>
      </p:sp>
      <p:sp>
        <p:nvSpPr>
          <p:cNvPr id="26" name="TextBox 25"/>
          <p:cNvSpPr txBox="1"/>
          <p:nvPr/>
        </p:nvSpPr>
        <p:spPr>
          <a:xfrm>
            <a:off x="7013448" y="5221224"/>
            <a:ext cx="3840479" cy="109728"/>
          </a:xfrm>
          <a:prstGeom prst="rect">
            <a:avLst/>
          </a:prstGeom>
          <a:noFill/>
        </p:spPr>
        <p:txBody>
          <a:bodyPr wrap="square" lIns="0" rIns="0">
            <a:spAutoFit/>
          </a:bodyPr>
          <a:lstStyle/>
          <a:p>
            <a:pPr>
              <a:lnSpc>
                <a:spcPct val="105000"/>
              </a:lnSpc>
            </a:pPr>
            <a:r>
              <a:rPr sz="1050" b="0">
                <a:solidFill>
                  <a:srgbClr val="607080"/>
                </a:solidFill>
                <a:latin typeface="Microsoft YaHei"/>
              </a:rPr>
              <a:t>详情页将路线几何与海拔曲线结合，帮助用户评估坡度和体力要求。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08 SEARCH</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搜索能力设计</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常规区域过滤与地名模糊搜索并存，覆盖“我知道区域”和“我只记得地名”两类场景。</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09</a:t>
            </a:r>
          </a:p>
        </p:txBody>
      </p:sp>
      <p:sp>
        <p:nvSpPr>
          <p:cNvPr id="9" name="Rounded Rectangle 8"/>
          <p:cNvSpPr/>
          <p:nvPr/>
        </p:nvSpPr>
        <p:spPr>
          <a:xfrm>
            <a:off x="777240" y="1508760"/>
            <a:ext cx="2971800" cy="1417320"/>
          </a:xfrm>
          <a:prstGeom prst="roundRect">
            <a:avLst/>
          </a:prstGeom>
          <a:solidFill>
            <a:srgbClr val="FFFFFF"/>
          </a:solidFill>
          <a:ln w="19050">
            <a:solidFill>
              <a:srgbClr val="1F7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508760"/>
            <a:ext cx="2971800" cy="347472"/>
          </a:xfrm>
          <a:prstGeom prst="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581912"/>
            <a:ext cx="2788920" cy="201168"/>
          </a:xfrm>
          <a:prstGeom prst="rect">
            <a:avLst/>
          </a:prstGeom>
          <a:noFill/>
        </p:spPr>
        <p:txBody>
          <a:bodyPr wrap="none">
            <a:spAutoFit/>
          </a:bodyPr>
          <a:lstStyle/>
          <a:p>
            <a:pPr algn="ctr"/>
            <a:r>
              <a:rPr sz="1050" b="1">
                <a:solidFill>
                  <a:srgbClr val="FFFFFF"/>
                </a:solidFill>
                <a:latin typeface="Microsoft YaHei"/>
              </a:rPr>
              <a:t>区域/类型搜索</a:t>
            </a:r>
          </a:p>
        </p:txBody>
      </p:sp>
      <p:sp>
        <p:nvSpPr>
          <p:cNvPr id="12" name="TextBox 11"/>
          <p:cNvSpPr txBox="1"/>
          <p:nvPr/>
        </p:nvSpPr>
        <p:spPr>
          <a:xfrm>
            <a:off x="941832" y="2011680"/>
            <a:ext cx="2651760" cy="822960"/>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Region GeoJSON</a:t>
            </a:r>
          </a:p>
          <a:p>
            <a:pPr>
              <a:lnSpc>
                <a:spcPct val="108000"/>
              </a:lnSpc>
              <a:spcAft>
                <a:spcPts val="600"/>
              </a:spcAft>
              <a:defRPr sz="919">
                <a:solidFill>
                  <a:srgbClr val="232D38"/>
                </a:solidFill>
                <a:latin typeface="Microsoft YaHei"/>
              </a:defRPr>
            </a:pPr>
            <a:r>
              <a:t>Track difficulty</a:t>
            </a:r>
          </a:p>
          <a:p>
            <a:pPr>
              <a:lnSpc>
                <a:spcPct val="108000"/>
              </a:lnSpc>
              <a:spcAft>
                <a:spcPts val="600"/>
              </a:spcAft>
              <a:defRPr sz="919">
                <a:solidFill>
                  <a:srgbClr val="232D38"/>
                </a:solidFill>
                <a:latin typeface="Microsoft YaHei"/>
              </a:defRPr>
            </a:pPr>
            <a:r>
              <a:t>Tracks/Huts/Campsites</a:t>
            </a:r>
          </a:p>
          <a:p>
            <a:pPr>
              <a:lnSpc>
                <a:spcPct val="108000"/>
              </a:lnSpc>
              <a:spcAft>
                <a:spcPts val="600"/>
              </a:spcAft>
              <a:defRPr sz="919">
                <a:solidFill>
                  <a:srgbClr val="232D38"/>
                </a:solidFill>
                <a:latin typeface="Microsoft YaHei"/>
              </a:defRPr>
            </a:pPr>
            <a:r>
              <a:t>Weather Station</a:t>
            </a:r>
          </a:p>
        </p:txBody>
      </p:sp>
      <p:sp>
        <p:nvSpPr>
          <p:cNvPr id="13" name="Rounded Rectangle 12"/>
          <p:cNvSpPr/>
          <p:nvPr/>
        </p:nvSpPr>
        <p:spPr>
          <a:xfrm>
            <a:off x="4572000" y="1508760"/>
            <a:ext cx="2971800" cy="1417320"/>
          </a:xfrm>
          <a:prstGeom prst="roundRect">
            <a:avLst/>
          </a:prstGeom>
          <a:solidFill>
            <a:srgbClr val="FFFFFF"/>
          </a:solidFill>
          <a:ln w="19050">
            <a:solidFill>
              <a:srgbClr val="1E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508760"/>
            <a:ext cx="2971800" cy="347472"/>
          </a:xfrm>
          <a:prstGeom prst="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581912"/>
            <a:ext cx="2788920" cy="201168"/>
          </a:xfrm>
          <a:prstGeom prst="rect">
            <a:avLst/>
          </a:prstGeom>
          <a:noFill/>
        </p:spPr>
        <p:txBody>
          <a:bodyPr wrap="none">
            <a:spAutoFit/>
          </a:bodyPr>
          <a:lstStyle/>
          <a:p>
            <a:pPr algn="ctr"/>
            <a:r>
              <a:rPr sz="1050" b="1">
                <a:solidFill>
                  <a:srgbClr val="FFFFFF"/>
                </a:solidFill>
                <a:latin typeface="Microsoft YaHei"/>
              </a:rPr>
              <a:t>Fuzzy Search</a:t>
            </a:r>
          </a:p>
        </p:txBody>
      </p:sp>
      <p:sp>
        <p:nvSpPr>
          <p:cNvPr id="16" name="TextBox 15"/>
          <p:cNvSpPr txBox="1"/>
          <p:nvPr/>
        </p:nvSpPr>
        <p:spPr>
          <a:xfrm>
            <a:off x="4736592" y="2011680"/>
            <a:ext cx="2651760" cy="822960"/>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RapidFuzz WRatio</a:t>
            </a:r>
          </a:p>
          <a:p>
            <a:pPr>
              <a:lnSpc>
                <a:spcPct val="108000"/>
              </a:lnSpc>
              <a:spcAft>
                <a:spcPts val="600"/>
              </a:spcAft>
              <a:defRPr sz="919">
                <a:solidFill>
                  <a:srgbClr val="232D38"/>
                </a:solidFill>
                <a:latin typeface="Microsoft YaHei"/>
              </a:defRPr>
            </a:pPr>
            <a:r>
              <a:t>Gazetteer preload</a:t>
            </a:r>
          </a:p>
          <a:p>
            <a:pPr>
              <a:lnSpc>
                <a:spcPct val="108000"/>
              </a:lnSpc>
              <a:spcAft>
                <a:spcPts val="600"/>
              </a:spcAft>
              <a:defRPr sz="919">
                <a:solidFill>
                  <a:srgbClr val="232D38"/>
                </a:solidFill>
                <a:latin typeface="Microsoft YaHei"/>
              </a:defRPr>
            </a:pPr>
            <a:r>
              <a:t>score cutoff 65</a:t>
            </a:r>
          </a:p>
          <a:p>
            <a:pPr>
              <a:lnSpc>
                <a:spcPct val="108000"/>
              </a:lnSpc>
              <a:spcAft>
                <a:spcPts val="600"/>
              </a:spcAft>
              <a:defRPr sz="919">
                <a:solidFill>
                  <a:srgbClr val="232D38"/>
                </a:solidFill>
                <a:latin typeface="Microsoft YaHei"/>
              </a:defRPr>
            </a:pPr>
            <a:r>
              <a:t>Top N candidates</a:t>
            </a:r>
          </a:p>
        </p:txBody>
      </p:sp>
      <p:sp>
        <p:nvSpPr>
          <p:cNvPr id="17" name="Rounded Rectangle 16"/>
          <p:cNvSpPr/>
          <p:nvPr/>
        </p:nvSpPr>
        <p:spPr>
          <a:xfrm>
            <a:off x="8366760" y="1508760"/>
            <a:ext cx="2971800" cy="1417320"/>
          </a:xfrm>
          <a:prstGeom prst="roundRect">
            <a:avLst/>
          </a:prstGeom>
          <a:solidFill>
            <a:srgbClr val="FFFFFF"/>
          </a:solidFill>
          <a:ln w="19050">
            <a:solidFill>
              <a:srgbClr val="F2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1508760"/>
            <a:ext cx="2971800" cy="347472"/>
          </a:xfrm>
          <a:prstGeom prst="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1581912"/>
            <a:ext cx="2788920" cy="201168"/>
          </a:xfrm>
          <a:prstGeom prst="rect">
            <a:avLst/>
          </a:prstGeom>
          <a:noFill/>
        </p:spPr>
        <p:txBody>
          <a:bodyPr wrap="none">
            <a:spAutoFit/>
          </a:bodyPr>
          <a:lstStyle/>
          <a:p>
            <a:pPr algn="ctr"/>
            <a:r>
              <a:rPr sz="1050" b="1">
                <a:solidFill>
                  <a:srgbClr val="FFFFFF"/>
                </a:solidFill>
                <a:latin typeface="Microsoft YaHei"/>
              </a:rPr>
              <a:t>PostGIS Circle</a:t>
            </a:r>
          </a:p>
        </p:txBody>
      </p:sp>
      <p:sp>
        <p:nvSpPr>
          <p:cNvPr id="20" name="TextBox 19"/>
          <p:cNvSpPr txBox="1"/>
          <p:nvPr/>
        </p:nvSpPr>
        <p:spPr>
          <a:xfrm>
            <a:off x="8531352" y="2011680"/>
            <a:ext cx="2651760" cy="822960"/>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ST_MakePoint</a:t>
            </a:r>
          </a:p>
          <a:p>
            <a:pPr>
              <a:lnSpc>
                <a:spcPct val="108000"/>
              </a:lnSpc>
              <a:spcAft>
                <a:spcPts val="600"/>
              </a:spcAft>
              <a:defRPr sz="919">
                <a:solidFill>
                  <a:srgbClr val="232D38"/>
                </a:solidFill>
                <a:latin typeface="Microsoft YaHei"/>
              </a:defRPr>
            </a:pPr>
            <a:r>
              <a:t>ST_Buffer geography</a:t>
            </a:r>
          </a:p>
          <a:p>
            <a:pPr>
              <a:lnSpc>
                <a:spcPct val="108000"/>
              </a:lnSpc>
              <a:spcAft>
                <a:spcPts val="600"/>
              </a:spcAft>
              <a:defRPr sz="919">
                <a:solidFill>
                  <a:srgbClr val="232D38"/>
                </a:solidFill>
                <a:latin typeface="Microsoft YaHei"/>
              </a:defRPr>
            </a:pPr>
            <a:r>
              <a:t>15km radius</a:t>
            </a:r>
          </a:p>
          <a:p>
            <a:pPr>
              <a:lnSpc>
                <a:spcPct val="108000"/>
              </a:lnSpc>
              <a:spcAft>
                <a:spcPts val="600"/>
              </a:spcAft>
              <a:defRPr sz="919">
                <a:solidFill>
                  <a:srgbClr val="232D38"/>
                </a:solidFill>
                <a:latin typeface="Microsoft YaHei"/>
              </a:defRPr>
            </a:pPr>
            <a:r>
              <a:t>items_len count</a:t>
            </a:r>
          </a:p>
        </p:txBody>
      </p:sp>
      <p:sp>
        <p:nvSpPr>
          <p:cNvPr id="22" name="Rounded Rectangle 21"/>
          <p:cNvSpPr/>
          <p:nvPr/>
        </p:nvSpPr>
        <p:spPr>
          <a:xfrm>
            <a:off x="822959" y="3383280"/>
            <a:ext cx="4846320" cy="2148840"/>
          </a:xfrm>
          <a:prstGeom prst="roundRect">
            <a:avLst/>
          </a:prstGeom>
          <a:solidFill>
            <a:srgbClr val="FFFFFF"/>
          </a:solidFill>
          <a:ln>
            <a:solidFill>
              <a:srgbClr val="E1E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earch.png"/>
          <p:cNvPicPr>
            <a:picLocks noChangeAspect="1"/>
          </p:cNvPicPr>
          <p:nvPr/>
        </p:nvPicPr>
        <p:blipFill>
          <a:blip r:embed="rId2"/>
          <a:stretch>
            <a:fillRect/>
          </a:stretch>
        </p:blipFill>
        <p:spPr>
          <a:xfrm>
            <a:off x="1398830" y="3429000"/>
            <a:ext cx="3694579" cy="2057400"/>
          </a:xfrm>
          <a:prstGeom prst="rect">
            <a:avLst/>
          </a:prstGeom>
          <a:ln w="12700">
            <a:solidFill>
              <a:srgbClr val="E1E8E6"/>
            </a:solidFill>
          </a:ln>
        </p:spPr>
      </p:pic>
      <p:sp>
        <p:nvSpPr>
          <p:cNvPr id="23" name="TextBox 22"/>
          <p:cNvSpPr txBox="1"/>
          <p:nvPr/>
        </p:nvSpPr>
        <p:spPr>
          <a:xfrm>
            <a:off x="6172200" y="3657600"/>
            <a:ext cx="4389120" cy="1325880"/>
          </a:xfrm>
          <a:prstGeom prst="rect">
            <a:avLst/>
          </a:prstGeom>
          <a:noFill/>
        </p:spPr>
        <p:txBody>
          <a:bodyPr wrap="square">
            <a:spAutoFit/>
          </a:bodyPr>
          <a:lstStyle/>
          <a:p>
            <a:pPr>
              <a:lnSpc>
                <a:spcPct val="108000"/>
              </a:lnSpc>
              <a:spcAft>
                <a:spcPts val="600"/>
              </a:spcAft>
              <a:defRPr sz="1200">
                <a:solidFill>
                  <a:srgbClr val="232D38"/>
                </a:solidFill>
                <a:latin typeface="Microsoft YaHei"/>
              </a:defRPr>
            </a:pPr>
            <a:r>
              <a:t>常规搜索直接调用 /search/items，根据 selected_area 与类型开关聚合多个 repository 查询结果。</a:t>
            </a:r>
          </a:p>
          <a:p>
            <a:pPr>
              <a:lnSpc>
                <a:spcPct val="108000"/>
              </a:lnSpc>
              <a:spcAft>
                <a:spcPts val="600"/>
              </a:spcAft>
              <a:defRPr sz="1200">
                <a:solidFill>
                  <a:srgbClr val="232D38"/>
                </a:solidFill>
                <a:latin typeface="Microsoft YaHei"/>
              </a:defRPr>
            </a:pPr>
            <a:r>
              <a:t>模糊搜索调用 /search/gazetteer，返回候选地点、匹配分、GeoJSON 圆形范围和圈内结果数量。</a:t>
            </a:r>
          </a:p>
          <a:p>
            <a:pPr>
              <a:lnSpc>
                <a:spcPct val="108000"/>
              </a:lnSpc>
              <a:spcAft>
                <a:spcPts val="600"/>
              </a:spcAft>
              <a:defRPr sz="1200">
                <a:solidFill>
                  <a:srgbClr val="232D38"/>
                </a:solidFill>
                <a:latin typeface="Microsoft YaHei"/>
              </a:defRPr>
            </a:pPr>
            <a:r>
              <a:t>用户选择候选后，前端再用该 GeoJSON 圆形范围加载地图 item。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09 ARCHITECTURE</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系统架构与部署</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前端静态部署，后端容器化运行，数据库承担空间计算与持久化。</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10</a:t>
            </a:r>
          </a:p>
        </p:txBody>
      </p:sp>
      <p:sp>
        <p:nvSpPr>
          <p:cNvPr id="9" name="Rounded Rectangle 8"/>
          <p:cNvSpPr/>
          <p:nvPr/>
        </p:nvSpPr>
        <p:spPr>
          <a:xfrm>
            <a:off x="731520" y="1554480"/>
            <a:ext cx="2148840" cy="1280160"/>
          </a:xfrm>
          <a:prstGeom prst="roundRect">
            <a:avLst/>
          </a:prstGeom>
          <a:solidFill>
            <a:srgbClr val="FFFFFF"/>
          </a:solidFill>
          <a:ln w="19050">
            <a:solidFill>
              <a:srgbClr val="1F7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54480"/>
            <a:ext cx="2148840" cy="347472"/>
          </a:xfrm>
          <a:prstGeom prst="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27632"/>
            <a:ext cx="1965960" cy="201168"/>
          </a:xfrm>
          <a:prstGeom prst="rect">
            <a:avLst/>
          </a:prstGeom>
          <a:noFill/>
        </p:spPr>
        <p:txBody>
          <a:bodyPr wrap="none">
            <a:spAutoFit/>
          </a:bodyPr>
          <a:lstStyle/>
          <a:p>
            <a:pPr algn="ctr"/>
            <a:r>
              <a:rPr sz="1050" b="1">
                <a:solidFill>
                  <a:srgbClr val="FFFFFF"/>
                </a:solidFill>
                <a:latin typeface="Microsoft YaHei"/>
              </a:rPr>
              <a:t>Browser</a:t>
            </a:r>
          </a:p>
        </p:txBody>
      </p:sp>
      <p:sp>
        <p:nvSpPr>
          <p:cNvPr id="12" name="TextBox 11"/>
          <p:cNvSpPr txBox="1"/>
          <p:nvPr/>
        </p:nvSpPr>
        <p:spPr>
          <a:xfrm>
            <a:off x="896112" y="2057400"/>
            <a:ext cx="1828800" cy="685799"/>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React UI</a:t>
            </a:r>
          </a:p>
          <a:p>
            <a:pPr>
              <a:lnSpc>
                <a:spcPct val="108000"/>
              </a:lnSpc>
              <a:spcAft>
                <a:spcPts val="600"/>
              </a:spcAft>
              <a:defRPr sz="919">
                <a:solidFill>
                  <a:srgbClr val="232D38"/>
                </a:solidFill>
                <a:latin typeface="Microsoft YaHei"/>
              </a:defRPr>
            </a:pPr>
            <a:r>
              <a:t>Leaflet map</a:t>
            </a:r>
          </a:p>
          <a:p>
            <a:pPr>
              <a:lnSpc>
                <a:spcPct val="108000"/>
              </a:lnSpc>
              <a:spcAft>
                <a:spcPts val="600"/>
              </a:spcAft>
              <a:defRPr sz="919">
                <a:solidFill>
                  <a:srgbClr val="232D38"/>
                </a:solidFill>
                <a:latin typeface="Microsoft YaHei"/>
              </a:defRPr>
            </a:pPr>
            <a:r>
              <a:t>User actions</a:t>
            </a:r>
          </a:p>
        </p:txBody>
      </p:sp>
      <p:sp>
        <p:nvSpPr>
          <p:cNvPr id="13" name="Rounded Rectangle 12"/>
          <p:cNvSpPr/>
          <p:nvPr/>
        </p:nvSpPr>
        <p:spPr>
          <a:xfrm>
            <a:off x="3337560" y="1554480"/>
            <a:ext cx="2148840" cy="1280160"/>
          </a:xfrm>
          <a:prstGeom prst="roundRect">
            <a:avLst/>
          </a:prstGeom>
          <a:solidFill>
            <a:srgbClr val="FFFFFF"/>
          </a:solidFill>
          <a:ln w="19050">
            <a:solidFill>
              <a:srgbClr val="1E5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554480"/>
            <a:ext cx="2148840" cy="347472"/>
          </a:xfrm>
          <a:prstGeom prst="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1627632"/>
            <a:ext cx="1965960" cy="201168"/>
          </a:xfrm>
          <a:prstGeom prst="rect">
            <a:avLst/>
          </a:prstGeom>
          <a:noFill/>
        </p:spPr>
        <p:txBody>
          <a:bodyPr wrap="none">
            <a:spAutoFit/>
          </a:bodyPr>
          <a:lstStyle/>
          <a:p>
            <a:pPr algn="ctr"/>
            <a:r>
              <a:rPr sz="1050" b="1">
                <a:solidFill>
                  <a:srgbClr val="FFFFFF"/>
                </a:solidFill>
                <a:latin typeface="Microsoft YaHei"/>
              </a:rPr>
              <a:t>Vercel</a:t>
            </a:r>
          </a:p>
        </p:txBody>
      </p:sp>
      <p:sp>
        <p:nvSpPr>
          <p:cNvPr id="16" name="TextBox 15"/>
          <p:cNvSpPr txBox="1"/>
          <p:nvPr/>
        </p:nvSpPr>
        <p:spPr>
          <a:xfrm>
            <a:off x="3502152" y="2057400"/>
            <a:ext cx="1828800" cy="685799"/>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Static assets</a:t>
            </a:r>
          </a:p>
          <a:p>
            <a:pPr>
              <a:lnSpc>
                <a:spcPct val="108000"/>
              </a:lnSpc>
              <a:spcAft>
                <a:spcPts val="600"/>
              </a:spcAft>
              <a:defRPr sz="919">
                <a:solidFill>
                  <a:srgbClr val="232D38"/>
                </a:solidFill>
                <a:latin typeface="Microsoft YaHei"/>
              </a:defRPr>
            </a:pPr>
            <a:r>
              <a:t>VITE_BACKEND_URL</a:t>
            </a:r>
          </a:p>
          <a:p>
            <a:pPr>
              <a:lnSpc>
                <a:spcPct val="108000"/>
              </a:lnSpc>
              <a:spcAft>
                <a:spcPts val="600"/>
              </a:spcAft>
              <a:defRPr sz="919">
                <a:solidFill>
                  <a:srgbClr val="232D38"/>
                </a:solidFill>
                <a:latin typeface="Microsoft YaHei"/>
              </a:defRPr>
            </a:pPr>
            <a:r>
              <a:t>CDN delivery</a:t>
            </a:r>
          </a:p>
        </p:txBody>
      </p:sp>
      <p:sp>
        <p:nvSpPr>
          <p:cNvPr id="17" name="Rounded Rectangle 16"/>
          <p:cNvSpPr/>
          <p:nvPr/>
        </p:nvSpPr>
        <p:spPr>
          <a:xfrm>
            <a:off x="5943600" y="1554480"/>
            <a:ext cx="2148840" cy="1280160"/>
          </a:xfrm>
          <a:prstGeom prst="roundRect">
            <a:avLst/>
          </a:prstGeom>
          <a:solidFill>
            <a:srgbClr val="FFFFFF"/>
          </a:solidFill>
          <a:ln w="19050">
            <a:solidFill>
              <a:srgbClr val="F293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0" y="1554480"/>
            <a:ext cx="2148840" cy="347472"/>
          </a:xfrm>
          <a:prstGeom prst="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1627632"/>
            <a:ext cx="1965960" cy="201168"/>
          </a:xfrm>
          <a:prstGeom prst="rect">
            <a:avLst/>
          </a:prstGeom>
          <a:noFill/>
        </p:spPr>
        <p:txBody>
          <a:bodyPr wrap="none">
            <a:spAutoFit/>
          </a:bodyPr>
          <a:lstStyle/>
          <a:p>
            <a:pPr algn="ctr"/>
            <a:r>
              <a:rPr sz="1050" b="1">
                <a:solidFill>
                  <a:srgbClr val="FFFFFF"/>
                </a:solidFill>
                <a:latin typeface="Microsoft YaHei"/>
              </a:rPr>
              <a:t>DigitalOcean</a:t>
            </a:r>
          </a:p>
        </p:txBody>
      </p:sp>
      <p:sp>
        <p:nvSpPr>
          <p:cNvPr id="20" name="TextBox 19"/>
          <p:cNvSpPr txBox="1"/>
          <p:nvPr/>
        </p:nvSpPr>
        <p:spPr>
          <a:xfrm>
            <a:off x="6108192" y="2057400"/>
            <a:ext cx="1828800" cy="685799"/>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Docker</a:t>
            </a:r>
          </a:p>
          <a:p>
            <a:pPr>
              <a:lnSpc>
                <a:spcPct val="108000"/>
              </a:lnSpc>
              <a:spcAft>
                <a:spcPts val="600"/>
              </a:spcAft>
              <a:defRPr sz="919">
                <a:solidFill>
                  <a:srgbClr val="232D38"/>
                </a:solidFill>
                <a:latin typeface="Microsoft YaHei"/>
              </a:defRPr>
            </a:pPr>
            <a:r>
              <a:t>FastAPI</a:t>
            </a:r>
          </a:p>
          <a:p>
            <a:pPr>
              <a:lnSpc>
                <a:spcPct val="108000"/>
              </a:lnSpc>
              <a:spcAft>
                <a:spcPts val="600"/>
              </a:spcAft>
              <a:defRPr sz="919">
                <a:solidFill>
                  <a:srgbClr val="232D38"/>
                </a:solidFill>
                <a:latin typeface="Microsoft YaHei"/>
              </a:defRPr>
            </a:pPr>
            <a:r>
              <a:t>Uvicorn</a:t>
            </a:r>
          </a:p>
        </p:txBody>
      </p:sp>
      <p:sp>
        <p:nvSpPr>
          <p:cNvPr id="21" name="Rounded Rectangle 20"/>
          <p:cNvSpPr/>
          <p:nvPr/>
        </p:nvSpPr>
        <p:spPr>
          <a:xfrm>
            <a:off x="8549640" y="1554480"/>
            <a:ext cx="2148840" cy="1280160"/>
          </a:xfrm>
          <a:prstGeom prst="roundRect">
            <a:avLst/>
          </a:prstGeom>
          <a:solidFill>
            <a:srgbClr val="FFFFFF"/>
          </a:solidFill>
          <a:ln w="19050">
            <a:solidFill>
              <a:srgbClr val="1452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49640" y="1554480"/>
            <a:ext cx="2148840" cy="347472"/>
          </a:xfrm>
          <a:prstGeom prst="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1627632"/>
            <a:ext cx="1965960" cy="201168"/>
          </a:xfrm>
          <a:prstGeom prst="rect">
            <a:avLst/>
          </a:prstGeom>
          <a:noFill/>
        </p:spPr>
        <p:txBody>
          <a:bodyPr wrap="none">
            <a:spAutoFit/>
          </a:bodyPr>
          <a:lstStyle/>
          <a:p>
            <a:pPr algn="ctr"/>
            <a:r>
              <a:rPr sz="1050" b="1">
                <a:solidFill>
                  <a:srgbClr val="FFFFFF"/>
                </a:solidFill>
                <a:latin typeface="Microsoft YaHei"/>
              </a:rPr>
              <a:t>PostgreSQL</a:t>
            </a:r>
          </a:p>
        </p:txBody>
      </p:sp>
      <p:sp>
        <p:nvSpPr>
          <p:cNvPr id="24" name="TextBox 23"/>
          <p:cNvSpPr txBox="1"/>
          <p:nvPr/>
        </p:nvSpPr>
        <p:spPr>
          <a:xfrm>
            <a:off x="8714232" y="2057400"/>
            <a:ext cx="1828800" cy="685799"/>
          </a:xfrm>
          <a:prstGeom prst="rect">
            <a:avLst/>
          </a:prstGeom>
          <a:noFill/>
        </p:spPr>
        <p:txBody>
          <a:bodyPr wrap="square">
            <a:spAutoFit/>
          </a:bodyPr>
          <a:lstStyle/>
          <a:p>
            <a:pPr>
              <a:lnSpc>
                <a:spcPct val="108000"/>
              </a:lnSpc>
              <a:spcAft>
                <a:spcPts val="600"/>
              </a:spcAft>
              <a:defRPr sz="919">
                <a:solidFill>
                  <a:srgbClr val="232D38"/>
                </a:solidFill>
                <a:latin typeface="Microsoft YaHei"/>
              </a:defRPr>
            </a:pPr>
            <a:r>
              <a:t>PostGIS</a:t>
            </a:r>
          </a:p>
          <a:p>
            <a:pPr>
              <a:lnSpc>
                <a:spcPct val="108000"/>
              </a:lnSpc>
              <a:spcAft>
                <a:spcPts val="600"/>
              </a:spcAft>
              <a:defRPr sz="919">
                <a:solidFill>
                  <a:srgbClr val="232D38"/>
                </a:solidFill>
                <a:latin typeface="Microsoft YaHei"/>
              </a:defRPr>
            </a:pPr>
            <a:r>
              <a:t>GeoJSON</a:t>
            </a:r>
          </a:p>
          <a:p>
            <a:pPr>
              <a:lnSpc>
                <a:spcPct val="108000"/>
              </a:lnSpc>
              <a:spcAft>
                <a:spcPts val="600"/>
              </a:spcAft>
              <a:defRPr sz="919">
                <a:solidFill>
                  <a:srgbClr val="232D38"/>
                </a:solidFill>
                <a:latin typeface="Microsoft YaHei"/>
              </a:defRPr>
            </a:pPr>
            <a:r>
              <a:t>Spatial index</a:t>
            </a:r>
          </a:p>
        </p:txBody>
      </p:sp>
      <p:sp>
        <p:nvSpPr>
          <p:cNvPr id="25" name="Rounded Rectangle 24"/>
          <p:cNvSpPr/>
          <p:nvPr/>
        </p:nvSpPr>
        <p:spPr>
          <a:xfrm>
            <a:off x="914400" y="3337560"/>
            <a:ext cx="1810512" cy="685800"/>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3502152"/>
            <a:ext cx="1664208" cy="457200"/>
          </a:xfrm>
          <a:prstGeom prst="rect">
            <a:avLst/>
          </a:prstGeom>
          <a:noFill/>
        </p:spPr>
        <p:txBody>
          <a:bodyPr wrap="none">
            <a:spAutoFit/>
          </a:bodyPr>
          <a:lstStyle/>
          <a:p>
            <a:pPr algn="ctr"/>
            <a:r>
              <a:rPr sz="1200" b="1">
                <a:solidFill>
                  <a:srgbClr val="FFFFFF"/>
                </a:solidFill>
                <a:latin typeface="Microsoft YaHei"/>
              </a:rPr>
              <a:t>Client</a:t>
            </a:r>
          </a:p>
        </p:txBody>
      </p:sp>
      <p:cxnSp>
        <p:nvCxnSpPr>
          <p:cNvPr id="27" name="Connector 26"/>
          <p:cNvCxnSpPr/>
          <p:nvPr/>
        </p:nvCxnSpPr>
        <p:spPr>
          <a:xfrm>
            <a:off x="2752344" y="3680460"/>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953512" y="3337560"/>
            <a:ext cx="1810512" cy="685800"/>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26664" y="3502152"/>
            <a:ext cx="1664208" cy="457200"/>
          </a:xfrm>
          <a:prstGeom prst="rect">
            <a:avLst/>
          </a:prstGeom>
          <a:noFill/>
        </p:spPr>
        <p:txBody>
          <a:bodyPr wrap="none">
            <a:spAutoFit/>
          </a:bodyPr>
          <a:lstStyle/>
          <a:p>
            <a:pPr algn="ctr"/>
            <a:r>
              <a:rPr sz="1200" b="1">
                <a:solidFill>
                  <a:srgbClr val="FFFFFF"/>
                </a:solidFill>
                <a:latin typeface="Microsoft YaHei"/>
              </a:rPr>
              <a:t>Frontend</a:t>
            </a:r>
          </a:p>
        </p:txBody>
      </p:sp>
      <p:cxnSp>
        <p:nvCxnSpPr>
          <p:cNvPr id="30" name="Connector 29"/>
          <p:cNvCxnSpPr/>
          <p:nvPr/>
        </p:nvCxnSpPr>
        <p:spPr>
          <a:xfrm>
            <a:off x="4791456" y="3680460"/>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992624" y="3337560"/>
            <a:ext cx="1810512" cy="685800"/>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65776" y="3502152"/>
            <a:ext cx="1664208" cy="457200"/>
          </a:xfrm>
          <a:prstGeom prst="rect">
            <a:avLst/>
          </a:prstGeom>
          <a:noFill/>
        </p:spPr>
        <p:txBody>
          <a:bodyPr wrap="none">
            <a:spAutoFit/>
          </a:bodyPr>
          <a:lstStyle/>
          <a:p>
            <a:pPr algn="ctr"/>
            <a:r>
              <a:rPr sz="1200" b="1">
                <a:solidFill>
                  <a:srgbClr val="FFFFFF"/>
                </a:solidFill>
                <a:latin typeface="Microsoft YaHei"/>
              </a:rPr>
              <a:t>REST API</a:t>
            </a:r>
          </a:p>
        </p:txBody>
      </p:sp>
      <p:cxnSp>
        <p:nvCxnSpPr>
          <p:cNvPr id="33" name="Connector 32"/>
          <p:cNvCxnSpPr/>
          <p:nvPr/>
        </p:nvCxnSpPr>
        <p:spPr>
          <a:xfrm>
            <a:off x="6830568" y="3680460"/>
            <a:ext cx="173735"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031736" y="3337560"/>
            <a:ext cx="1810512" cy="685800"/>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04888" y="3502152"/>
            <a:ext cx="1664208" cy="457200"/>
          </a:xfrm>
          <a:prstGeom prst="rect">
            <a:avLst/>
          </a:prstGeom>
          <a:noFill/>
        </p:spPr>
        <p:txBody>
          <a:bodyPr wrap="none">
            <a:spAutoFit/>
          </a:bodyPr>
          <a:lstStyle/>
          <a:p>
            <a:pPr algn="ctr"/>
            <a:r>
              <a:rPr sz="1200" b="1">
                <a:solidFill>
                  <a:srgbClr val="FFFFFF"/>
                </a:solidFill>
                <a:latin typeface="Microsoft YaHei"/>
              </a:rPr>
              <a:t>Repository SQL</a:t>
            </a:r>
          </a:p>
        </p:txBody>
      </p:sp>
      <p:cxnSp>
        <p:nvCxnSpPr>
          <p:cNvPr id="36" name="Connector 35"/>
          <p:cNvCxnSpPr/>
          <p:nvPr/>
        </p:nvCxnSpPr>
        <p:spPr>
          <a:xfrm>
            <a:off x="8869680" y="3680460"/>
            <a:ext cx="173736"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0848" y="3337560"/>
            <a:ext cx="1810512" cy="685800"/>
          </a:xfrm>
          <a:prstGeom prst="roundRect">
            <a:avLst/>
          </a:prstGeom>
          <a:solidFill>
            <a:srgbClr val="637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0" y="3502152"/>
            <a:ext cx="1664208" cy="457200"/>
          </a:xfrm>
          <a:prstGeom prst="rect">
            <a:avLst/>
          </a:prstGeom>
          <a:noFill/>
        </p:spPr>
        <p:txBody>
          <a:bodyPr wrap="none">
            <a:spAutoFit/>
          </a:bodyPr>
          <a:lstStyle/>
          <a:p>
            <a:pPr algn="ctr"/>
            <a:r>
              <a:rPr sz="1200" b="1">
                <a:solidFill>
                  <a:srgbClr val="FFFFFF"/>
                </a:solidFill>
                <a:latin typeface="Microsoft YaHei"/>
              </a:rPr>
              <a:t>PostGIS</a:t>
            </a:r>
          </a:p>
        </p:txBody>
      </p:sp>
      <p:sp>
        <p:nvSpPr>
          <p:cNvPr id="39" name="Rounded Rectangle 38"/>
          <p:cNvSpPr/>
          <p:nvPr/>
        </p:nvSpPr>
        <p:spPr>
          <a:xfrm>
            <a:off x="1005840" y="4617720"/>
            <a:ext cx="2926080" cy="8686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115568" y="4764024"/>
            <a:ext cx="109728" cy="576071"/>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89888" y="4782312"/>
            <a:ext cx="2313432" cy="320040"/>
          </a:xfrm>
          <a:prstGeom prst="rect">
            <a:avLst/>
          </a:prstGeom>
          <a:noFill/>
        </p:spPr>
        <p:txBody>
          <a:bodyPr wrap="none">
            <a:spAutoFit/>
          </a:bodyPr>
          <a:lstStyle/>
          <a:p>
            <a:r>
              <a:rPr sz="1400" b="1">
                <a:solidFill>
                  <a:srgbClr val="145237"/>
                </a:solidFill>
                <a:latin typeface="Microsoft YaHei"/>
              </a:rPr>
              <a:t>外部地图/导航</a:t>
            </a:r>
          </a:p>
        </p:txBody>
      </p:sp>
      <p:sp>
        <p:nvSpPr>
          <p:cNvPr id="42" name="TextBox 41"/>
          <p:cNvSpPr txBox="1"/>
          <p:nvPr/>
        </p:nvSpPr>
        <p:spPr>
          <a:xfrm>
            <a:off x="1389888" y="5184648"/>
            <a:ext cx="2331720" cy="137159"/>
          </a:xfrm>
          <a:prstGeom prst="rect">
            <a:avLst/>
          </a:prstGeom>
          <a:noFill/>
        </p:spPr>
        <p:txBody>
          <a:bodyPr wrap="square" lIns="0" rIns="0">
            <a:spAutoFit/>
          </a:bodyPr>
          <a:lstStyle/>
          <a:p>
            <a:pPr>
              <a:lnSpc>
                <a:spcPct val="105000"/>
              </a:lnSpc>
            </a:pPr>
            <a:r>
              <a:rPr sz="1050" b="0">
                <a:solidFill>
                  <a:srgbClr val="607080"/>
                </a:solidFill>
                <a:latin typeface="Microsoft YaHei"/>
              </a:rPr>
              <a:t>LINZ basemaps、OSM、CARTO、Esri 作为底图；Google Maps 用于导航。</a:t>
            </a:r>
          </a:p>
        </p:txBody>
      </p:sp>
      <p:sp>
        <p:nvSpPr>
          <p:cNvPr id="43" name="Rounded Rectangle 42"/>
          <p:cNvSpPr/>
          <p:nvPr/>
        </p:nvSpPr>
        <p:spPr>
          <a:xfrm>
            <a:off x="4434840" y="4617720"/>
            <a:ext cx="2926080" cy="8686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544568" y="4764024"/>
            <a:ext cx="109728" cy="576071"/>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18888" y="4782312"/>
            <a:ext cx="2313432" cy="320040"/>
          </a:xfrm>
          <a:prstGeom prst="rect">
            <a:avLst/>
          </a:prstGeom>
          <a:noFill/>
        </p:spPr>
        <p:txBody>
          <a:bodyPr wrap="none">
            <a:spAutoFit/>
          </a:bodyPr>
          <a:lstStyle/>
          <a:p>
            <a:r>
              <a:rPr sz="1400" b="1">
                <a:solidFill>
                  <a:srgbClr val="145237"/>
                </a:solidFill>
                <a:latin typeface="Microsoft YaHei"/>
              </a:rPr>
              <a:t>天气信息</a:t>
            </a:r>
          </a:p>
        </p:txBody>
      </p:sp>
      <p:sp>
        <p:nvSpPr>
          <p:cNvPr id="46" name="TextBox 45"/>
          <p:cNvSpPr txBox="1"/>
          <p:nvPr/>
        </p:nvSpPr>
        <p:spPr>
          <a:xfrm>
            <a:off x="4818888" y="5184648"/>
            <a:ext cx="2331720" cy="137159"/>
          </a:xfrm>
          <a:prstGeom prst="rect">
            <a:avLst/>
          </a:prstGeom>
          <a:noFill/>
        </p:spPr>
        <p:txBody>
          <a:bodyPr wrap="square" lIns="0" rIns="0">
            <a:spAutoFit/>
          </a:bodyPr>
          <a:lstStyle/>
          <a:p>
            <a:pPr>
              <a:lnSpc>
                <a:spcPct val="105000"/>
              </a:lnSpc>
            </a:pPr>
            <a:r>
              <a:rPr sz="1050" b="0">
                <a:solidFill>
                  <a:srgbClr val="607080"/>
                </a:solidFill>
                <a:latin typeface="Microsoft YaHei"/>
              </a:rPr>
              <a:t>地点关联 NIWA / MetService weather URL，前端以面板嵌入展示。</a:t>
            </a:r>
          </a:p>
        </p:txBody>
      </p:sp>
      <p:sp>
        <p:nvSpPr>
          <p:cNvPr id="47" name="Rounded Rectangle 46"/>
          <p:cNvSpPr/>
          <p:nvPr/>
        </p:nvSpPr>
        <p:spPr>
          <a:xfrm>
            <a:off x="7863840" y="4617720"/>
            <a:ext cx="2926080" cy="86868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973567" y="4764024"/>
            <a:ext cx="109728" cy="576071"/>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47888" y="4782312"/>
            <a:ext cx="2313432" cy="320040"/>
          </a:xfrm>
          <a:prstGeom prst="rect">
            <a:avLst/>
          </a:prstGeom>
          <a:noFill/>
        </p:spPr>
        <p:txBody>
          <a:bodyPr wrap="none">
            <a:spAutoFit/>
          </a:bodyPr>
          <a:lstStyle/>
          <a:p>
            <a:r>
              <a:rPr sz="1400" b="1">
                <a:solidFill>
                  <a:srgbClr val="145237"/>
                </a:solidFill>
                <a:latin typeface="Microsoft YaHei"/>
              </a:rPr>
              <a:t>运行配置</a:t>
            </a:r>
          </a:p>
        </p:txBody>
      </p:sp>
      <p:sp>
        <p:nvSpPr>
          <p:cNvPr id="50" name="TextBox 49"/>
          <p:cNvSpPr txBox="1"/>
          <p:nvPr/>
        </p:nvSpPr>
        <p:spPr>
          <a:xfrm>
            <a:off x="8247888" y="5184648"/>
            <a:ext cx="2331720" cy="137159"/>
          </a:xfrm>
          <a:prstGeom prst="rect">
            <a:avLst/>
          </a:prstGeom>
          <a:noFill/>
        </p:spPr>
        <p:txBody>
          <a:bodyPr wrap="square" lIns="0" rIns="0">
            <a:spAutoFit/>
          </a:bodyPr>
          <a:lstStyle/>
          <a:p>
            <a:pPr>
              <a:lnSpc>
                <a:spcPct val="105000"/>
              </a:lnSpc>
            </a:pPr>
            <a:r>
              <a:rPr sz="1050" b="0">
                <a:solidFill>
                  <a:srgbClr val="607080"/>
                </a:solidFill>
                <a:latin typeface="Microsoft YaHei"/>
              </a:rPr>
              <a:t>ALLOWED_ORIGINS、COMMENT_UPLOAD_DIR、数据库连接等通过环境变量控制。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10 QUALITY</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工程质量与可维护性</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项目已经按前后端职责拆分，并对关键 API 行为补充后端测试。</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11</a:t>
            </a:r>
          </a:p>
        </p:txBody>
      </p:sp>
      <p:sp>
        <p:nvSpPr>
          <p:cNvPr id="9" name="Rounded Rectangle 8"/>
          <p:cNvSpPr/>
          <p:nvPr/>
        </p:nvSpPr>
        <p:spPr>
          <a:xfrm>
            <a:off x="777240" y="1554480"/>
            <a:ext cx="3154680" cy="96012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 y="1700784"/>
            <a:ext cx="109728" cy="667512"/>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1288" y="1719072"/>
            <a:ext cx="2542032" cy="320040"/>
          </a:xfrm>
          <a:prstGeom prst="rect">
            <a:avLst/>
          </a:prstGeom>
          <a:noFill/>
        </p:spPr>
        <p:txBody>
          <a:bodyPr wrap="none">
            <a:spAutoFit/>
          </a:bodyPr>
          <a:lstStyle/>
          <a:p>
            <a:r>
              <a:rPr sz="1400" b="1">
                <a:solidFill>
                  <a:srgbClr val="145237"/>
                </a:solidFill>
                <a:latin typeface="Microsoft YaHei"/>
              </a:rPr>
              <a:t>测试覆盖</a:t>
            </a:r>
          </a:p>
        </p:txBody>
      </p:sp>
      <p:sp>
        <p:nvSpPr>
          <p:cNvPr id="12" name="TextBox 11"/>
          <p:cNvSpPr txBox="1"/>
          <p:nvPr/>
        </p:nvSpPr>
        <p:spPr>
          <a:xfrm>
            <a:off x="1161288" y="2121408"/>
            <a:ext cx="2560320" cy="228600"/>
          </a:xfrm>
          <a:prstGeom prst="rect">
            <a:avLst/>
          </a:prstGeom>
          <a:noFill/>
        </p:spPr>
        <p:txBody>
          <a:bodyPr wrap="square" lIns="0" rIns="0">
            <a:spAutoFit/>
          </a:bodyPr>
          <a:lstStyle/>
          <a:p>
            <a:pPr>
              <a:lnSpc>
                <a:spcPct val="105000"/>
              </a:lnSpc>
            </a:pPr>
            <a:r>
              <a:rPr sz="1050" b="0">
                <a:solidFill>
                  <a:srgbClr val="607080"/>
                </a:solidFill>
                <a:latin typeface="Microsoft YaHei"/>
              </a:rPr>
              <a:t>backend/tests 覆盖 tracks、search、weather、comments、favourites 等接口行为。</a:t>
            </a:r>
          </a:p>
        </p:txBody>
      </p:sp>
      <p:sp>
        <p:nvSpPr>
          <p:cNvPr id="13" name="Rounded Rectangle 12"/>
          <p:cNvSpPr/>
          <p:nvPr/>
        </p:nvSpPr>
        <p:spPr>
          <a:xfrm>
            <a:off x="4480560" y="1554480"/>
            <a:ext cx="3154680" cy="96012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90288" y="1700784"/>
            <a:ext cx="109728" cy="667512"/>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4608" y="1719072"/>
            <a:ext cx="2542032" cy="320040"/>
          </a:xfrm>
          <a:prstGeom prst="rect">
            <a:avLst/>
          </a:prstGeom>
          <a:noFill/>
        </p:spPr>
        <p:txBody>
          <a:bodyPr wrap="none">
            <a:spAutoFit/>
          </a:bodyPr>
          <a:lstStyle/>
          <a:p>
            <a:r>
              <a:rPr sz="1400" b="1">
                <a:solidFill>
                  <a:srgbClr val="145237"/>
                </a:solidFill>
                <a:latin typeface="Microsoft YaHei"/>
              </a:rPr>
              <a:t>模块边界</a:t>
            </a:r>
          </a:p>
        </p:txBody>
      </p:sp>
      <p:sp>
        <p:nvSpPr>
          <p:cNvPr id="16" name="TextBox 15"/>
          <p:cNvSpPr txBox="1"/>
          <p:nvPr/>
        </p:nvSpPr>
        <p:spPr>
          <a:xfrm>
            <a:off x="4864608" y="2121408"/>
            <a:ext cx="2560320" cy="228600"/>
          </a:xfrm>
          <a:prstGeom prst="rect">
            <a:avLst/>
          </a:prstGeom>
          <a:noFill/>
        </p:spPr>
        <p:txBody>
          <a:bodyPr wrap="square" lIns="0" rIns="0">
            <a:spAutoFit/>
          </a:bodyPr>
          <a:lstStyle/>
          <a:p>
            <a:pPr>
              <a:lnSpc>
                <a:spcPct val="105000"/>
              </a:lnSpc>
            </a:pPr>
            <a:r>
              <a:rPr sz="1050" b="0">
                <a:solidFill>
                  <a:srgbClr val="607080"/>
                </a:solidFill>
                <a:latin typeface="Microsoft YaHei"/>
              </a:rPr>
              <a:t>Repository 只关心 SQL，Service 组合业务搜索，前端组件围绕 UI 场景拆分。</a:t>
            </a:r>
          </a:p>
        </p:txBody>
      </p:sp>
      <p:sp>
        <p:nvSpPr>
          <p:cNvPr id="17" name="Rounded Rectangle 16"/>
          <p:cNvSpPr/>
          <p:nvPr/>
        </p:nvSpPr>
        <p:spPr>
          <a:xfrm>
            <a:off x="8183879" y="1554480"/>
            <a:ext cx="2788920" cy="96012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93607" y="1700784"/>
            <a:ext cx="109728" cy="667512"/>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67928" y="1719072"/>
            <a:ext cx="2176272" cy="320040"/>
          </a:xfrm>
          <a:prstGeom prst="rect">
            <a:avLst/>
          </a:prstGeom>
          <a:noFill/>
        </p:spPr>
        <p:txBody>
          <a:bodyPr wrap="none">
            <a:spAutoFit/>
          </a:bodyPr>
          <a:lstStyle/>
          <a:p>
            <a:r>
              <a:rPr sz="1400" b="1">
                <a:solidFill>
                  <a:srgbClr val="145237"/>
                </a:solidFill>
                <a:latin typeface="Microsoft YaHei"/>
              </a:rPr>
              <a:t>数据校验</a:t>
            </a:r>
          </a:p>
        </p:txBody>
      </p:sp>
      <p:sp>
        <p:nvSpPr>
          <p:cNvPr id="20" name="TextBox 19"/>
          <p:cNvSpPr txBox="1"/>
          <p:nvPr/>
        </p:nvSpPr>
        <p:spPr>
          <a:xfrm>
            <a:off x="8567928" y="2121408"/>
            <a:ext cx="2194560" cy="228600"/>
          </a:xfrm>
          <a:prstGeom prst="rect">
            <a:avLst/>
          </a:prstGeom>
          <a:noFill/>
        </p:spPr>
        <p:txBody>
          <a:bodyPr wrap="square" lIns="0" rIns="0">
            <a:spAutoFit/>
          </a:bodyPr>
          <a:lstStyle/>
          <a:p>
            <a:pPr>
              <a:lnSpc>
                <a:spcPct val="105000"/>
              </a:lnSpc>
            </a:pPr>
            <a:r>
              <a:rPr sz="1050" b="0">
                <a:solidFill>
                  <a:srgbClr val="607080"/>
                </a:solidFill>
                <a:latin typeface="Microsoft YaHei"/>
              </a:rPr>
              <a:t>Pydantic 限制分页、评分、邮箱长度，并确保评论有文本或图片。</a:t>
            </a:r>
          </a:p>
        </p:txBody>
      </p:sp>
      <p:sp>
        <p:nvSpPr>
          <p:cNvPr id="21" name="TextBox 20"/>
          <p:cNvSpPr txBox="1"/>
          <p:nvPr/>
        </p:nvSpPr>
        <p:spPr>
          <a:xfrm>
            <a:off x="1005840" y="3154680"/>
            <a:ext cx="9875520" cy="1508760"/>
          </a:xfrm>
          <a:prstGeom prst="rect">
            <a:avLst/>
          </a:prstGeom>
          <a:noFill/>
        </p:spPr>
        <p:txBody>
          <a:bodyPr wrap="square">
            <a:spAutoFit/>
          </a:bodyPr>
          <a:lstStyle/>
          <a:p>
            <a:pPr>
              <a:lnSpc>
                <a:spcPct val="108000"/>
              </a:lnSpc>
              <a:spcAft>
                <a:spcPts val="600"/>
              </a:spcAft>
              <a:defRPr sz="1200">
                <a:solidFill>
                  <a:srgbClr val="232D38"/>
                </a:solidFill>
                <a:latin typeface="Microsoft YaHei"/>
              </a:defRPr>
            </a:pPr>
            <a:r>
              <a:t>前端：React 19、TypeScript、Vite、Bootstrap、Leaflet、Recharts；脚本支持 build / lint / preview。</a:t>
            </a:r>
          </a:p>
          <a:p>
            <a:pPr>
              <a:lnSpc>
                <a:spcPct val="108000"/>
              </a:lnSpc>
              <a:spcAft>
                <a:spcPts val="600"/>
              </a:spcAft>
              <a:defRPr sz="1200">
                <a:solidFill>
                  <a:srgbClr val="232D38"/>
                </a:solidFill>
                <a:latin typeface="Microsoft YaHei"/>
              </a:defRPr>
            </a:pPr>
            <a:r>
              <a:t>后端：FastAPI、SQLAlchemy、GeoAlchemy2、GeoPandas、Rasterio、Shapely、RapidFuzz、Psycopg。</a:t>
            </a:r>
          </a:p>
          <a:p>
            <a:pPr>
              <a:lnSpc>
                <a:spcPct val="108000"/>
              </a:lnSpc>
              <a:spcAft>
                <a:spcPts val="600"/>
              </a:spcAft>
              <a:defRPr sz="1200">
                <a:solidFill>
                  <a:srgbClr val="232D38"/>
                </a:solidFill>
                <a:latin typeface="Microsoft YaHei"/>
              </a:defRPr>
            </a:pPr>
            <a:r>
              <a:t>地理处理：用 CRS 转换、栅格采样和 PostGIS 几何函数保证空间计算可复用。</a:t>
            </a:r>
          </a:p>
          <a:p>
            <a:pPr>
              <a:lnSpc>
                <a:spcPct val="108000"/>
              </a:lnSpc>
              <a:spcAft>
                <a:spcPts val="600"/>
              </a:spcAft>
              <a:defRPr sz="1200">
                <a:solidFill>
                  <a:srgbClr val="232D38"/>
                </a:solidFill>
                <a:latin typeface="Microsoft YaHei"/>
              </a:defRPr>
            </a:pPr>
            <a:r>
              <a:t>用户数据：收藏和评论单独 repository 管理，便于后续扩展登录、审核和通知功能。</a:t>
            </a:r>
          </a:p>
        </p:txBody>
      </p:sp>
      <p:sp>
        <p:nvSpPr>
          <p:cNvPr id="22" name="Rounded Rectangle 21"/>
          <p:cNvSpPr/>
          <p:nvPr/>
        </p:nvSpPr>
        <p:spPr>
          <a:xfrm>
            <a:off x="1645920" y="5230368"/>
            <a:ext cx="2045969" cy="658368"/>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19072" y="5394959"/>
            <a:ext cx="1899665" cy="429768"/>
          </a:xfrm>
          <a:prstGeom prst="rect">
            <a:avLst/>
          </a:prstGeom>
          <a:noFill/>
        </p:spPr>
        <p:txBody>
          <a:bodyPr wrap="none">
            <a:spAutoFit/>
          </a:bodyPr>
          <a:lstStyle/>
          <a:p>
            <a:pPr algn="ctr"/>
            <a:r>
              <a:rPr sz="1200" b="1">
                <a:solidFill>
                  <a:srgbClr val="FFFFFF"/>
                </a:solidFill>
                <a:latin typeface="Microsoft YaHei"/>
              </a:rPr>
              <a:t>数据可信</a:t>
            </a:r>
          </a:p>
        </p:txBody>
      </p:sp>
      <p:cxnSp>
        <p:nvCxnSpPr>
          <p:cNvPr id="24" name="Connector 23"/>
          <p:cNvCxnSpPr/>
          <p:nvPr/>
        </p:nvCxnSpPr>
        <p:spPr>
          <a:xfrm>
            <a:off x="3719322" y="5559552"/>
            <a:ext cx="173735"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920489" y="5230368"/>
            <a:ext cx="2045969" cy="658368"/>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93641" y="5394959"/>
            <a:ext cx="1899665" cy="429768"/>
          </a:xfrm>
          <a:prstGeom prst="rect">
            <a:avLst/>
          </a:prstGeom>
          <a:noFill/>
        </p:spPr>
        <p:txBody>
          <a:bodyPr wrap="none">
            <a:spAutoFit/>
          </a:bodyPr>
          <a:lstStyle/>
          <a:p>
            <a:pPr algn="ctr"/>
            <a:r>
              <a:rPr sz="1200" b="1">
                <a:solidFill>
                  <a:srgbClr val="FFFFFF"/>
                </a:solidFill>
                <a:latin typeface="Microsoft YaHei"/>
              </a:rPr>
              <a:t>接口清晰</a:t>
            </a:r>
          </a:p>
        </p:txBody>
      </p:sp>
      <p:cxnSp>
        <p:nvCxnSpPr>
          <p:cNvPr id="27" name="Connector 26"/>
          <p:cNvCxnSpPr/>
          <p:nvPr/>
        </p:nvCxnSpPr>
        <p:spPr>
          <a:xfrm>
            <a:off x="5993892" y="5559552"/>
            <a:ext cx="173735"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95059" y="5230368"/>
            <a:ext cx="2045969" cy="658368"/>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8212" y="5394959"/>
            <a:ext cx="1899665" cy="429768"/>
          </a:xfrm>
          <a:prstGeom prst="rect">
            <a:avLst/>
          </a:prstGeom>
          <a:noFill/>
        </p:spPr>
        <p:txBody>
          <a:bodyPr wrap="none">
            <a:spAutoFit/>
          </a:bodyPr>
          <a:lstStyle/>
          <a:p>
            <a:pPr algn="ctr"/>
            <a:r>
              <a:rPr sz="1200" b="1">
                <a:solidFill>
                  <a:srgbClr val="FFFFFF"/>
                </a:solidFill>
                <a:latin typeface="Microsoft YaHei"/>
              </a:rPr>
              <a:t>交互直观</a:t>
            </a:r>
          </a:p>
        </p:txBody>
      </p:sp>
      <p:cxnSp>
        <p:nvCxnSpPr>
          <p:cNvPr id="30" name="Connector 29"/>
          <p:cNvCxnSpPr/>
          <p:nvPr/>
        </p:nvCxnSpPr>
        <p:spPr>
          <a:xfrm>
            <a:off x="8268461" y="5559552"/>
            <a:ext cx="173737" cy="0"/>
          </a:xfrm>
          <a:prstGeom prst="line">
            <a:avLst/>
          </a:prstGeom>
          <a:ln w="25400">
            <a:solidFill>
              <a:srgbClr val="D2DCD8"/>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469630" y="5230368"/>
            <a:ext cx="2045969" cy="658368"/>
          </a:xfrm>
          <a:prstGeom prst="roundRect">
            <a:avLst/>
          </a:prstGeom>
          <a:solidFill>
            <a:srgbClr val="145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42782" y="5394959"/>
            <a:ext cx="1899665" cy="429768"/>
          </a:xfrm>
          <a:prstGeom prst="rect">
            <a:avLst/>
          </a:prstGeom>
          <a:noFill/>
        </p:spPr>
        <p:txBody>
          <a:bodyPr wrap="none">
            <a:spAutoFit/>
          </a:bodyPr>
          <a:lstStyle/>
          <a:p>
            <a:pPr algn="ctr"/>
            <a:r>
              <a:rPr sz="1200" b="1">
                <a:solidFill>
                  <a:srgbClr val="FFFFFF"/>
                </a:solidFill>
                <a:latin typeface="Microsoft YaHei"/>
              </a:rPr>
              <a:t>部署可用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2926080" cy="292608"/>
          </a:xfrm>
          <a:prstGeom prst="rect">
            <a:avLst/>
          </a:prstGeom>
          <a:noFill/>
        </p:spPr>
        <p:txBody>
          <a:bodyPr wrap="none">
            <a:spAutoFit/>
          </a:bodyPr>
          <a:lstStyle/>
          <a:p>
            <a:pPr algn="l"/>
            <a:r>
              <a:rPr sz="1000" b="1">
                <a:solidFill>
                  <a:srgbClr val="1F7A4D"/>
                </a:solidFill>
                <a:latin typeface="Aptos"/>
              </a:rPr>
              <a:t>11 WRAP-UP</a:t>
            </a:r>
          </a:p>
        </p:txBody>
      </p:sp>
      <p:sp>
        <p:nvSpPr>
          <p:cNvPr id="4" name="TextBox 3"/>
          <p:cNvSpPr txBox="1"/>
          <p:nvPr/>
        </p:nvSpPr>
        <p:spPr>
          <a:xfrm>
            <a:off x="548640" y="566928"/>
            <a:ext cx="6675120" cy="566928"/>
          </a:xfrm>
          <a:prstGeom prst="rect">
            <a:avLst/>
          </a:prstGeom>
          <a:noFill/>
        </p:spPr>
        <p:txBody>
          <a:bodyPr wrap="none">
            <a:spAutoFit/>
          </a:bodyPr>
          <a:lstStyle/>
          <a:p>
            <a:r>
              <a:rPr sz="2600" b="1">
                <a:solidFill>
                  <a:srgbClr val="145237"/>
                </a:solidFill>
                <a:latin typeface="Microsoft YaHei"/>
              </a:rPr>
              <a:t>总结与后续优化</a:t>
            </a:r>
          </a:p>
        </p:txBody>
      </p:sp>
      <p:sp>
        <p:nvSpPr>
          <p:cNvPr id="5" name="TextBox 4"/>
          <p:cNvSpPr txBox="1"/>
          <p:nvPr/>
        </p:nvSpPr>
        <p:spPr>
          <a:xfrm>
            <a:off x="566928" y="1115568"/>
            <a:ext cx="7498079" cy="384048"/>
          </a:xfrm>
          <a:prstGeom prst="rect">
            <a:avLst/>
          </a:prstGeom>
          <a:noFill/>
        </p:spPr>
        <p:txBody>
          <a:bodyPr wrap="none">
            <a:spAutoFit/>
          </a:bodyPr>
          <a:lstStyle/>
          <a:p>
            <a:r>
              <a:rPr sz="1300" b="0">
                <a:solidFill>
                  <a:srgbClr val="607080"/>
                </a:solidFill>
                <a:latin typeface="Microsoft YaHei"/>
              </a:rPr>
              <a:t>KiwiTrail 的价值在于把空间数据工程能力转化成用户可直接使用的户外规划体验。</a:t>
            </a:r>
          </a:p>
        </p:txBody>
      </p:sp>
      <p:sp>
        <p:nvSpPr>
          <p:cNvPr id="6" name="Rectangle 5"/>
          <p:cNvSpPr/>
          <p:nvPr/>
        </p:nvSpPr>
        <p:spPr>
          <a:xfrm>
            <a:off x="548640" y="6446520"/>
            <a:ext cx="11064240" cy="9144"/>
          </a:xfrm>
          <a:prstGeom prst="rect">
            <a:avLst/>
          </a:prstGeom>
          <a:solidFill>
            <a:srgbClr val="D2DC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4114800" cy="228600"/>
          </a:xfrm>
          <a:prstGeom prst="rect">
            <a:avLst/>
          </a:prstGeom>
          <a:noFill/>
        </p:spPr>
        <p:txBody>
          <a:bodyPr wrap="none">
            <a:spAutoFit/>
          </a:bodyPr>
          <a:lstStyle/>
          <a:p>
            <a:r>
              <a:rPr sz="800" b="0">
                <a:solidFill>
                  <a:srgbClr val="607080"/>
                </a:solidFill>
                <a:latin typeface="Aptos"/>
              </a:rPr>
              <a:t>KiwiTrail | Full-stack Geospatial Web Application</a:t>
            </a:r>
          </a:p>
        </p:txBody>
      </p:sp>
      <p:sp>
        <p:nvSpPr>
          <p:cNvPr id="8" name="TextBox 7"/>
          <p:cNvSpPr txBox="1"/>
          <p:nvPr/>
        </p:nvSpPr>
        <p:spPr>
          <a:xfrm>
            <a:off x="11201400" y="6473952"/>
            <a:ext cx="457200" cy="228600"/>
          </a:xfrm>
          <a:prstGeom prst="rect">
            <a:avLst/>
          </a:prstGeom>
          <a:noFill/>
        </p:spPr>
        <p:txBody>
          <a:bodyPr wrap="none">
            <a:spAutoFit/>
          </a:bodyPr>
          <a:lstStyle/>
          <a:p>
            <a:pPr algn="r"/>
            <a:r>
              <a:rPr sz="800" b="0">
                <a:solidFill>
                  <a:srgbClr val="607080"/>
                </a:solidFill>
                <a:latin typeface="Aptos"/>
              </a:rPr>
              <a:t>12</a:t>
            </a:r>
          </a:p>
        </p:txBody>
      </p:sp>
      <p:sp>
        <p:nvSpPr>
          <p:cNvPr id="9" name="Rounded Rectangle 8"/>
          <p:cNvSpPr/>
          <p:nvPr/>
        </p:nvSpPr>
        <p:spPr>
          <a:xfrm>
            <a:off x="822960" y="1600200"/>
            <a:ext cx="3154680" cy="11430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746504"/>
            <a:ext cx="109728" cy="850392"/>
          </a:xfrm>
          <a:prstGeom prst="roundRect">
            <a:avLst/>
          </a:prstGeom>
          <a:solidFill>
            <a:srgbClr val="1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1764792"/>
            <a:ext cx="2542032" cy="320040"/>
          </a:xfrm>
          <a:prstGeom prst="rect">
            <a:avLst/>
          </a:prstGeom>
          <a:noFill/>
        </p:spPr>
        <p:txBody>
          <a:bodyPr wrap="none">
            <a:spAutoFit/>
          </a:bodyPr>
          <a:lstStyle/>
          <a:p>
            <a:r>
              <a:rPr sz="1400" b="1">
                <a:solidFill>
                  <a:srgbClr val="145237"/>
                </a:solidFill>
                <a:latin typeface="Microsoft YaHei"/>
              </a:rPr>
              <a:t>项目价值</a:t>
            </a:r>
          </a:p>
        </p:txBody>
      </p:sp>
      <p:sp>
        <p:nvSpPr>
          <p:cNvPr id="12" name="TextBox 11"/>
          <p:cNvSpPr txBox="1"/>
          <p:nvPr/>
        </p:nvSpPr>
        <p:spPr>
          <a:xfrm>
            <a:off x="1207008" y="2167128"/>
            <a:ext cx="2560320" cy="411479"/>
          </a:xfrm>
          <a:prstGeom prst="rect">
            <a:avLst/>
          </a:prstGeom>
          <a:noFill/>
        </p:spPr>
        <p:txBody>
          <a:bodyPr wrap="square" lIns="0" rIns="0">
            <a:spAutoFit/>
          </a:bodyPr>
          <a:lstStyle/>
          <a:p>
            <a:pPr>
              <a:lnSpc>
                <a:spcPct val="105000"/>
              </a:lnSpc>
            </a:pPr>
            <a:r>
              <a:rPr sz="1050" b="0">
                <a:solidFill>
                  <a:srgbClr val="607080"/>
                </a:solidFill>
                <a:latin typeface="Microsoft YaHei"/>
              </a:rPr>
              <a:t>集中展示 tracks、huts、campsites、weather stations，降低户外信息检索和行程判断成本。</a:t>
            </a:r>
          </a:p>
        </p:txBody>
      </p:sp>
      <p:sp>
        <p:nvSpPr>
          <p:cNvPr id="13" name="Rounded Rectangle 12"/>
          <p:cNvSpPr/>
          <p:nvPr/>
        </p:nvSpPr>
        <p:spPr>
          <a:xfrm>
            <a:off x="4526280" y="1600200"/>
            <a:ext cx="3154680" cy="11430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36008" y="1746504"/>
            <a:ext cx="109728" cy="850392"/>
          </a:xfrm>
          <a:prstGeom prst="roundRect">
            <a:avLst/>
          </a:prstGeom>
          <a:solidFill>
            <a:srgbClr val="1E5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0328" y="1764792"/>
            <a:ext cx="2542032" cy="320040"/>
          </a:xfrm>
          <a:prstGeom prst="rect">
            <a:avLst/>
          </a:prstGeom>
          <a:noFill/>
        </p:spPr>
        <p:txBody>
          <a:bodyPr wrap="none">
            <a:spAutoFit/>
          </a:bodyPr>
          <a:lstStyle/>
          <a:p>
            <a:r>
              <a:rPr sz="1400" b="1">
                <a:solidFill>
                  <a:srgbClr val="145237"/>
                </a:solidFill>
                <a:latin typeface="Microsoft YaHei"/>
              </a:rPr>
              <a:t>技术亮点</a:t>
            </a:r>
          </a:p>
        </p:txBody>
      </p:sp>
      <p:sp>
        <p:nvSpPr>
          <p:cNvPr id="16" name="TextBox 15"/>
          <p:cNvSpPr txBox="1"/>
          <p:nvPr/>
        </p:nvSpPr>
        <p:spPr>
          <a:xfrm>
            <a:off x="4910328" y="2167128"/>
            <a:ext cx="2560320" cy="411479"/>
          </a:xfrm>
          <a:prstGeom prst="rect">
            <a:avLst/>
          </a:prstGeom>
          <a:noFill/>
        </p:spPr>
        <p:txBody>
          <a:bodyPr wrap="square" lIns="0" rIns="0">
            <a:spAutoFit/>
          </a:bodyPr>
          <a:lstStyle/>
          <a:p>
            <a:pPr>
              <a:lnSpc>
                <a:spcPct val="105000"/>
              </a:lnSpc>
            </a:pPr>
            <a:r>
              <a:rPr sz="1050" b="0">
                <a:solidFill>
                  <a:srgbClr val="607080"/>
                </a:solidFill>
                <a:latin typeface="Microsoft YaHei"/>
              </a:rPr>
              <a:t>PostGIS 空间查询、Gazetteer 模糊搜索、DEM 海拔采样、React 地图交互形成完整闭环。</a:t>
            </a:r>
          </a:p>
        </p:txBody>
      </p:sp>
      <p:sp>
        <p:nvSpPr>
          <p:cNvPr id="17" name="Rounded Rectangle 16"/>
          <p:cNvSpPr/>
          <p:nvPr/>
        </p:nvSpPr>
        <p:spPr>
          <a:xfrm>
            <a:off x="8229600" y="1600200"/>
            <a:ext cx="2788920" cy="1143000"/>
          </a:xfrm>
          <a:prstGeom prst="roundRect">
            <a:avLst/>
          </a:prstGeom>
          <a:solidFill>
            <a:srgbClr val="FFFFFF"/>
          </a:solidFill>
          <a:ln w="12700">
            <a:solidFill>
              <a:srgbClr val="E1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39327" y="1746504"/>
            <a:ext cx="109728" cy="850392"/>
          </a:xfrm>
          <a:prstGeom prst="roundRect">
            <a:avLst/>
          </a:prstGeom>
          <a:solidFill>
            <a:srgbClr val="F293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13648" y="1764792"/>
            <a:ext cx="2176272" cy="320040"/>
          </a:xfrm>
          <a:prstGeom prst="rect">
            <a:avLst/>
          </a:prstGeom>
          <a:noFill/>
        </p:spPr>
        <p:txBody>
          <a:bodyPr wrap="none">
            <a:spAutoFit/>
          </a:bodyPr>
          <a:lstStyle/>
          <a:p>
            <a:r>
              <a:rPr sz="1400" b="1">
                <a:solidFill>
                  <a:srgbClr val="145237"/>
                </a:solidFill>
                <a:latin typeface="Microsoft YaHei"/>
              </a:rPr>
              <a:t>可展示成果</a:t>
            </a:r>
          </a:p>
        </p:txBody>
      </p:sp>
      <p:sp>
        <p:nvSpPr>
          <p:cNvPr id="20" name="TextBox 19"/>
          <p:cNvSpPr txBox="1"/>
          <p:nvPr/>
        </p:nvSpPr>
        <p:spPr>
          <a:xfrm>
            <a:off x="8613648" y="2167128"/>
            <a:ext cx="2194560" cy="411479"/>
          </a:xfrm>
          <a:prstGeom prst="rect">
            <a:avLst/>
          </a:prstGeom>
          <a:noFill/>
        </p:spPr>
        <p:txBody>
          <a:bodyPr wrap="square" lIns="0" rIns="0">
            <a:spAutoFit/>
          </a:bodyPr>
          <a:lstStyle/>
          <a:p>
            <a:pPr>
              <a:lnSpc>
                <a:spcPct val="105000"/>
              </a:lnSpc>
            </a:pPr>
            <a:r>
              <a:rPr sz="1050" b="0">
                <a:solidFill>
                  <a:srgbClr val="607080"/>
                </a:solidFill>
                <a:latin typeface="Microsoft YaHei"/>
              </a:rPr>
              <a:t>在线 Demo、项目截图、可运行前后端、测试用例和数据处理脚本。</a:t>
            </a:r>
          </a:p>
        </p:txBody>
      </p:sp>
      <p:sp>
        <p:nvSpPr>
          <p:cNvPr id="21" name="TextBox 20"/>
          <p:cNvSpPr txBox="1"/>
          <p:nvPr/>
        </p:nvSpPr>
        <p:spPr>
          <a:xfrm>
            <a:off x="1051560" y="3429000"/>
            <a:ext cx="9418320" cy="1325880"/>
          </a:xfrm>
          <a:prstGeom prst="rect">
            <a:avLst/>
          </a:prstGeom>
          <a:noFill/>
        </p:spPr>
        <p:txBody>
          <a:bodyPr wrap="square">
            <a:spAutoFit/>
          </a:bodyPr>
          <a:lstStyle/>
          <a:p>
            <a:pPr>
              <a:lnSpc>
                <a:spcPct val="108000"/>
              </a:lnSpc>
              <a:spcAft>
                <a:spcPts val="600"/>
              </a:spcAft>
              <a:defRPr sz="1300">
                <a:solidFill>
                  <a:srgbClr val="232D38"/>
                </a:solidFill>
                <a:latin typeface="Microsoft YaHei"/>
              </a:defRPr>
            </a:pPr>
            <a:r>
              <a:t>下一步 1：完善移动端细节与离线/弱网体验，提升户外现场可用性。</a:t>
            </a:r>
          </a:p>
          <a:p>
            <a:pPr>
              <a:lnSpc>
                <a:spcPct val="108000"/>
              </a:lnSpc>
              <a:spcAft>
                <a:spcPts val="600"/>
              </a:spcAft>
              <a:defRPr sz="1300">
                <a:solidFill>
                  <a:srgbClr val="232D38"/>
                </a:solidFill>
                <a:latin typeface="Microsoft YaHei"/>
              </a:defRPr>
            </a:pPr>
            <a:r>
              <a:t>下一步 2：扩展路线推荐逻辑，引入距离、累计爬升、天气风险和用户偏好。</a:t>
            </a:r>
          </a:p>
          <a:p>
            <a:pPr>
              <a:lnSpc>
                <a:spcPct val="108000"/>
              </a:lnSpc>
              <a:spcAft>
                <a:spcPts val="600"/>
              </a:spcAft>
              <a:defRPr sz="1300">
                <a:solidFill>
                  <a:srgbClr val="232D38"/>
                </a:solidFill>
                <a:latin typeface="Microsoft YaHei"/>
              </a:defRPr>
            </a:pPr>
            <a:r>
              <a:t>下一步 3：增强数据更新自动化，形成定期 ETL、监控和可回滚的数据发布流程。</a:t>
            </a:r>
          </a:p>
        </p:txBody>
      </p:sp>
      <p:sp>
        <p:nvSpPr>
          <p:cNvPr id="22" name="TextBox 21"/>
          <p:cNvSpPr txBox="1"/>
          <p:nvPr/>
        </p:nvSpPr>
        <p:spPr>
          <a:xfrm>
            <a:off x="868680" y="5559552"/>
            <a:ext cx="10241280" cy="411480"/>
          </a:xfrm>
          <a:prstGeom prst="rect">
            <a:avLst/>
          </a:prstGeom>
          <a:noFill/>
        </p:spPr>
        <p:txBody>
          <a:bodyPr wrap="none">
            <a:spAutoFit/>
          </a:bodyPr>
          <a:lstStyle/>
          <a:p>
            <a:pPr algn="ctr"/>
            <a:r>
              <a:rPr sz="2000" b="1">
                <a:solidFill>
                  <a:srgbClr val="145237"/>
                </a:solidFill>
                <a:latin typeface="Aptos"/>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